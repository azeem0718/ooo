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85c3ecd-64e2-3310-4bbb-ce9c30ab3d54}">
          <p14:sldIdLst>
            <p14:sldId id="256"/>
            <p14:sldId id="257"/>
          </p14:sldIdLst>
        </p14:section>
        <p14:section name="Problem &amp; objectives" id="{7f059abf-50cb-cb1c-b917-2e5d01204de5}">
          <p14:sldIdLst>
            <p14:sldId id="258"/>
            <p14:sldId id="259"/>
            <p14:sldId id="260"/>
          </p14:sldIdLst>
        </p14:section>
        <p14:section name="Design" id="{efde32d4-2726-f035-8414-bf4f328a8f0e}">
          <p14:sldIdLst>
            <p14:sldId id="261"/>
            <p14:sldId id="262"/>
            <p14:sldId id="263"/>
          </p14:sldIdLst>
        </p14:section>
        <p14:section name="Data &amp; model" id="{80e95cef-dfde-4853-9c6a-e4b936658111}">
          <p14:sldIdLst>
            <p14:sldId id="264"/>
            <p14:sldId id="265"/>
            <p14:sldId id="266"/>
          </p14:sldIdLst>
        </p14:section>
        <p14:section name="Results" id="{201dc969-24d6-22bb-276b-fd1cb66cb697}">
          <p14:sldIdLst>
            <p14:sldId id="267"/>
            <p14:sldId id="268"/>
          </p14:sldIdLst>
        </p14:section>
        <p14:section name="Web application" id="{c8775c9a-242a-f959-79d3-7a33352bb755}">
          <p14:sldIdLst>
            <p14:sldId id="269"/>
            <p14:sldId id="270"/>
            <p14:sldId id="271"/>
            <p14:sldId id="272"/>
            <p14:sldId id="273"/>
          </p14:sldIdLst>
        </p14:section>
        <p14:section name="Wrap-up" id="{dd1eca6c-ac68-b104-deb6-be91e40aaa71}">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F2A4A"/>
                </a:solidFill>
                <a:latin typeface="+mn-lt"/>
              </a:defRPr>
            </a:pPr>
            <a:r>
              <a:rPr sz="1400" b="1" i="0" u="none" strike="noStrike">
                <a:solidFill>
                  <a:srgbClr val="0F2A4A"/>
                </a:solidFill>
                <a:latin typeface="+mn-lt"/>
              </a:rPr>
              <a:t>Average salary by job role (₹ lakh / year)</a:t>
            </a:r>
          </a:p>
        </c:rich>
      </c:tx>
      <c:layout/>
      <c:overlay val="0"/>
    </c:title>
    <c:autoTitleDeleted val="0"/>
    <c:plotArea>
      <c:layout/>
      <c:barChart>
        <c:barDir val="bar"/>
        <c:grouping val="clustered"/>
        <c:varyColors val="0"/>
        <c:ser>
          <c:idx val="0"/>
          <c:order val="0"/>
          <c:tx>
            <c:strRef>
              <c:f>Sheet1!$B$1</c:f>
              <c:strCache>
                <c:ptCount val="1"/>
                <c:pt idx="0">
                  <c:v>Average salary (LPA)</c:v>
                </c:pt>
              </c:strCache>
            </c:strRef>
          </c:tx>
          <c:spPr>
            <a:solidFill>
              <a:srgbClr val="2A78D6"/>
            </a:solidFill>
            <a:effectLst/>
          </c:spPr>
          <c:invertIfNegative val="0"/>
          <c:dLbls>
            <c:numFmt formatCode="0.0" sourceLinked="0"/>
            <c:txPr>
              <a:bodyPr/>
              <a:lstStyle/>
              <a:p>
                <a:pPr>
                  <a:defRPr b="0" i="0" strike="noStrike" sz="1100" u="none">
                    <a:solidFill>
                      <a:srgbClr val="1B2230"/>
                    </a:solidFill>
                    <a:latin typeface="+mn-lt"/>
                  </a:defRPr>
                </a:pPr>
              </a:p>
            </c:txPr>
            <c:showLegendKey val="0"/>
            <c:showVal val="1"/>
            <c:showCatName val="0"/>
            <c:showSerName val="0"/>
            <c:showPercent val="0"/>
            <c:showBubbleSize val="0"/>
            <c:showLeaderLines val="0"/>
          </c:dLbls>
          <c:cat>
            <c:multiLvlStrRef>
              <c:f>Sheet1!$A$2:$A$9</c:f>
              <c:multiLvlStrCache>
                <c:ptCount val="8"/>
                <c:lvl>
                  <c:pt idx="0">
                    <c:v>Sales Executive</c:v>
                  </c:pt>
                  <c:pt idx="1">
                    <c:v>HR Executive</c:v>
                  </c:pt>
                  <c:pt idx="2">
                    <c:v>QA Engineer</c:v>
                  </c:pt>
                  <c:pt idx="3">
                    <c:v>Data Analyst</c:v>
                  </c:pt>
                  <c:pt idx="4">
                    <c:v>Software Developer</c:v>
                  </c:pt>
                  <c:pt idx="5">
                    <c:v>DevOps Engineer</c:v>
                  </c:pt>
                  <c:pt idx="6">
                    <c:v>Data Scientist</c:v>
                  </c:pt>
                  <c:pt idx="7">
                    <c:v>Project Manager</c:v>
                  </c:pt>
                </c:lvl>
              </c:multiLvlStrCache>
            </c:multiLvlStrRef>
          </c:cat>
          <c:val>
            <c:numRef>
              <c:f>Sheet1!$B$2:$B$9</c:f>
              <c:numCache>
                <c:formatCode>General</c:formatCode>
                <c:ptCount val="8"/>
                <c:pt idx="0">
                  <c:v>6.21</c:v>
                </c:pt>
                <c:pt idx="1">
                  <c:v>6.61</c:v>
                </c:pt>
                <c:pt idx="2">
                  <c:v>8.34</c:v>
                </c:pt>
                <c:pt idx="3">
                  <c:v>10.04</c:v>
                </c:pt>
                <c:pt idx="4">
                  <c:v>12.29</c:v>
                </c:pt>
                <c:pt idx="5">
                  <c:v>12.83</c:v>
                </c:pt>
                <c:pt idx="6">
                  <c:v>21.04</c:v>
                </c:pt>
                <c:pt idx="7">
                  <c:v>22.78</c:v>
                </c:pt>
              </c:numCache>
            </c:numRef>
          </c:val>
        </c:ser>
        <c:dLbls>
          <c:numFmt formatCode="0.0" sourceLinked="0"/>
          <c:txPr>
            <a:bodyPr/>
            <a:lstStyle/>
            <a:p>
              <a:pPr>
                <a:defRPr b="0" i="0" strike="noStrike" sz="1100" u="none">
                  <a:solidFill>
                    <a:srgbClr val="1B22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DCE3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F2A4A"/>
                </a:solidFill>
                <a:latin typeface="+mn-lt"/>
              </a:defRPr>
            </a:pPr>
            <a:r>
              <a:rPr sz="1400" b="1" i="0" u="none" strike="noStrike">
                <a:solidFill>
                  <a:srgbClr val="0F2A4A"/>
                </a:solidFill>
                <a:latin typeface="+mn-lt"/>
              </a:rPr>
              <a:t>Average salary by experience (years)</a:t>
            </a:r>
          </a:p>
        </c:rich>
      </c:tx>
      <c:layout/>
      <c:overlay val="0"/>
    </c:title>
    <c:autoTitleDeleted val="0"/>
    <c:plotArea>
      <c:layout/>
      <c:lineChart>
        <c:varyColors val="0"/>
        <c:ser>
          <c:idx val="0"/>
          <c:order val="0"/>
          <c:tx>
            <c:strRef>
              <c:f>Sheet1!$B$1</c:f>
              <c:strCache>
                <c:ptCount val="1"/>
                <c:pt idx="0">
                  <c:v>Average salary (LPA)</c:v>
                </c:pt>
              </c:strCache>
            </c:strRef>
          </c:tx>
          <c:spPr>
            <a:solidFill>
              <a:srgbClr val="1A9E6B"/>
            </a:solidFill>
            <a:ln w="38100" cap="flat">
              <a:solidFill>
                <a:srgbClr val="1A9E6B"/>
              </a:solidFill>
              <a:prstDash val="solid"/>
              <a:round/>
            </a:ln>
            <a:effectLst/>
          </c:spPr>
          <c:invertIfNegative val="0"/>
          <c:dLbls>
            <c:numFmt formatCode="0.0" sourceLinked="0"/>
            <c:txPr>
              <a:bodyPr/>
              <a:lstStyle/>
              <a:p>
                <a:pPr>
                  <a:defRPr b="0" i="0" strike="noStrike" sz="1100" u="none">
                    <a:solidFill>
                      <a:srgbClr val="1B2230"/>
                    </a:solidFill>
                    <a:latin typeface="+mn-lt"/>
                  </a:defRPr>
                </a:pPr>
              </a:p>
            </c:txPr>
            <c:dLblPos val="t"/>
            <c:showLegendKey val="0"/>
            <c:showVal val="1"/>
            <c:showCatName val="0"/>
            <c:showSerName val="0"/>
            <c:showPercent val="0"/>
            <c:showBubbleSize val="0"/>
            <c:showLeaderLines val="0"/>
          </c:dLbls>
          <c:marker>
            <c:symbol val="circle"/>
            <c:size val="9"/>
            <c:spPr>
              <a:solidFill>
                <a:srgbClr val="1A9E6B"/>
              </a:solidFill>
              <a:ln w="9525" cap="flat">
                <a:solidFill>
                  <a:srgbClr val="1A9E6B"/>
                </a:solidFill>
                <a:prstDash val="solid"/>
                <a:round/>
              </a:ln>
              <a:effectLst/>
            </c:spPr>
          </c:marker>
          <c:cat>
            <c:multiLvlStrRef>
              <c:f>Sheet1!$A$2:$A$7</c:f>
              <c:multiLvlStrCache>
                <c:ptCount val="6"/>
                <c:lvl>
                  <c:pt idx="0">
                    <c:v>0-2</c:v>
                  </c:pt>
                  <c:pt idx="1">
                    <c:v>2-5</c:v>
                  </c:pt>
                  <c:pt idx="2">
                    <c:v>5-8</c:v>
                  </c:pt>
                  <c:pt idx="3">
                    <c:v>8-12</c:v>
                  </c:pt>
                  <c:pt idx="4">
                    <c:v>12-16</c:v>
                  </c:pt>
                  <c:pt idx="5">
                    <c:v>16+</c:v>
                  </c:pt>
                </c:lvl>
              </c:multiLvlStrCache>
            </c:multiLvlStrRef>
          </c:cat>
          <c:val>
            <c:numRef>
              <c:f>Sheet1!$B$2:$B$7</c:f>
              <c:numCache>
                <c:formatCode>General</c:formatCode>
                <c:ptCount val="6"/>
                <c:pt idx="0">
                  <c:v>6.77</c:v>
                </c:pt>
                <c:pt idx="1">
                  <c:v>8.91</c:v>
                </c:pt>
                <c:pt idx="2">
                  <c:v>11.25</c:v>
                </c:pt>
                <c:pt idx="3">
                  <c:v>15.31</c:v>
                </c:pt>
                <c:pt idx="4">
                  <c:v>20.53</c:v>
                </c:pt>
                <c:pt idx="5">
                  <c:v>23.18</c:v>
                </c:pt>
              </c:numCache>
            </c:numRef>
          </c:val>
          <c:smooth val="0"/>
        </c:ser>
        <c:dLbls>
          <c:numFmt formatCode="0.0" sourceLinked="0"/>
          <c:txPr>
            <a:bodyPr/>
            <a:lstStyle/>
            <a:p>
              <a:pPr>
                <a:defRPr b="0" i="0" strike="noStrike" sz="1100" u="none">
                  <a:solidFill>
                    <a:srgbClr val="1B223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CE3E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F2A4A"/>
                </a:solidFill>
                <a:latin typeface="+mn-lt"/>
              </a:defRPr>
            </a:pPr>
            <a:r>
              <a:rPr sz="1400" b="1" i="0" u="none" strike="noStrike">
                <a:solidFill>
                  <a:srgbClr val="0F2A4A"/>
                </a:solidFill>
                <a:latin typeface="+mn-lt"/>
              </a:rPr>
              <a:t>R² score by model (higher is better)</a:t>
            </a:r>
          </a:p>
        </c:rich>
      </c:tx>
      <c:layout/>
      <c:overlay val="0"/>
    </c:title>
    <c:autoTitleDeleted val="0"/>
    <c:plotArea>
      <c:layout/>
      <c:barChart>
        <c:barDir val="col"/>
        <c:grouping val="clustered"/>
        <c:varyColors val="0"/>
        <c:ser>
          <c:idx val="0"/>
          <c:order val="0"/>
          <c:tx>
            <c:strRef>
              <c:f>Sheet1!$B$1</c:f>
              <c:strCache>
                <c:ptCount val="1"/>
                <c:pt idx="0">
                  <c:v>Test R²</c:v>
                </c:pt>
              </c:strCache>
            </c:strRef>
          </c:tx>
          <c:spPr>
            <a:solidFill>
              <a:srgbClr val="2A78D6"/>
            </a:solidFill>
            <a:effectLst/>
          </c:spPr>
          <c:invertIfNegative val="0"/>
          <c:dLbls>
            <c:numFmt formatCode="0.000" sourceLinked="0"/>
            <c:txPr>
              <a:bodyPr/>
              <a:lstStyle/>
              <a:p>
                <a:pPr>
                  <a:defRPr b="0" i="0" strike="noStrike" sz="1000" u="none">
                    <a:solidFill>
                      <a:srgbClr val="1B2230"/>
                    </a:solidFill>
                    <a:latin typeface="+mn-lt"/>
                  </a:defRPr>
                </a:pPr>
              </a:p>
            </c:txPr>
            <c:showLegendKey val="0"/>
            <c:showVal val="1"/>
            <c:showCatName val="0"/>
            <c:showSerName val="0"/>
            <c:showPercent val="0"/>
            <c:showBubbleSize val="0"/>
            <c:showLeaderLines val="0"/>
          </c:dLbls>
          <c:cat>
            <c:multiLvlStrRef>
              <c:f>Sheet1!$A$2:$A$6</c:f>
              <c:multiLvlStrCache>
                <c:ptCount val="5"/>
                <c:lvl>
                  <c:pt idx="0">
                    <c:v>Gradient Boosting</c:v>
                  </c:pt>
                  <c:pt idx="1">
                    <c:v>Polynomial Regression</c:v>
                  </c:pt>
                  <c:pt idx="2">
                    <c:v>Linear Regression</c:v>
                  </c:pt>
                  <c:pt idx="3">
                    <c:v>Ridge Regression</c:v>
                  </c:pt>
                  <c:pt idx="4">
                    <c:v>Random Forest</c:v>
                  </c:pt>
                </c:lvl>
              </c:multiLvlStrCache>
            </c:multiLvlStrRef>
          </c:cat>
          <c:val>
            <c:numRef>
              <c:f>Sheet1!$B$2:$B$6</c:f>
              <c:numCache>
                <c:formatCode>General</c:formatCode>
                <c:ptCount val="5"/>
                <c:pt idx="0">
                  <c:v>0.9566</c:v>
                </c:pt>
                <c:pt idx="1">
                  <c:v>0.9437</c:v>
                </c:pt>
                <c:pt idx="2">
                  <c:v>0.9324</c:v>
                </c:pt>
                <c:pt idx="3">
                  <c:v>0.9317</c:v>
                </c:pt>
                <c:pt idx="4">
                  <c:v>0.8684</c:v>
                </c:pt>
              </c:numCache>
            </c:numRef>
          </c:val>
        </c:ser>
        <c:ser>
          <c:idx val="1"/>
          <c:order val="1"/>
          <c:tx>
            <c:strRef>
              <c:f>Sheet1!$C$1</c:f>
              <c:strCache>
                <c:ptCount val="1"/>
                <c:pt idx="0">
                  <c:v>Cross-validated R²</c:v>
                </c:pt>
              </c:strCache>
            </c:strRef>
          </c:tx>
          <c:spPr>
            <a:solidFill>
              <a:srgbClr val="F2A93B"/>
            </a:solidFill>
            <a:effectLst/>
          </c:spPr>
          <c:invertIfNegative val="0"/>
          <c:dLbls>
            <c:numFmt formatCode="0.000" sourceLinked="0"/>
            <c:txPr>
              <a:bodyPr/>
              <a:lstStyle/>
              <a:p>
                <a:pPr>
                  <a:defRPr b="0" i="0" strike="noStrike" sz="1000" u="none">
                    <a:solidFill>
                      <a:srgbClr val="1B2230"/>
                    </a:solidFill>
                    <a:latin typeface="+mn-lt"/>
                  </a:defRPr>
                </a:pPr>
              </a:p>
            </c:txPr>
            <c:showLegendKey val="0"/>
            <c:showVal val="1"/>
            <c:showCatName val="0"/>
            <c:showSerName val="0"/>
            <c:showPercent val="0"/>
            <c:showBubbleSize val="0"/>
            <c:showLeaderLines val="0"/>
          </c:dLbls>
          <c:cat>
            <c:multiLvlStrRef>
              <c:f>Sheet1!$A$2:$A$6</c:f>
              <c:multiLvlStrCache>
                <c:ptCount val="5"/>
                <c:lvl>
                  <c:pt idx="0">
                    <c:v>Gradient Boosting</c:v>
                  </c:pt>
                  <c:pt idx="1">
                    <c:v>Polynomial Regression</c:v>
                  </c:pt>
                  <c:pt idx="2">
                    <c:v>Linear Regression</c:v>
                  </c:pt>
                  <c:pt idx="3">
                    <c:v>Ridge Regression</c:v>
                  </c:pt>
                  <c:pt idx="4">
                    <c:v>Random Forest</c:v>
                  </c:pt>
                </c:lvl>
              </c:multiLvlStrCache>
            </c:multiLvlStrRef>
          </c:cat>
          <c:val>
            <c:numRef>
              <c:f>Sheet1!$C$2:$C$6</c:f>
              <c:numCache>
                <c:formatCode>General</c:formatCode>
                <c:ptCount val="5"/>
                <c:pt idx="0">
                  <c:v>0.945</c:v>
                </c:pt>
                <c:pt idx="1">
                  <c:v>0.9339</c:v>
                </c:pt>
                <c:pt idx="2">
                  <c:v>0.9139</c:v>
                </c:pt>
                <c:pt idx="3">
                  <c:v>0.913</c:v>
                </c:pt>
                <c:pt idx="4">
                  <c:v>0.8525</c:v>
                </c:pt>
              </c:numCache>
            </c:numRef>
          </c:val>
        </c:ser>
        <c:dLbls>
          <c:numFmt formatCode="0.000" sourceLinked="0"/>
          <c:txPr>
            <a:bodyPr/>
            <a:lstStyle/>
            <a:p>
              <a:pPr>
                <a:defRPr b="0" i="0" strike="noStrike" sz="1000" u="none">
                  <a:solidFill>
                    <a:srgbClr val="1B22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9525" cap="flat">
              <a:solidFill>
                <a:srgbClr val="DCE3EC"/>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B22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F2A4A"/>
                </a:solidFill>
                <a:latin typeface="+mn-lt"/>
              </a:defRPr>
            </a:pPr>
            <a:r>
              <a:rPr sz="1400" b="1" i="0" u="none" strike="noStrike">
                <a:solidFill>
                  <a:srgbClr val="0F2A4A"/>
                </a:solidFill>
                <a:latin typeface="+mn-lt"/>
              </a:rPr>
              <a:t>What matters most (drop in R² when shuffled)</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A9E6B"/>
            </a:solidFill>
            <a:effectLst/>
          </c:spPr>
          <c:invertIfNegative val="0"/>
          <c:dLbls>
            <c:numFmt formatCode="0.00" sourceLinked="0"/>
            <c:txPr>
              <a:bodyPr/>
              <a:lstStyle/>
              <a:p>
                <a:pPr>
                  <a:defRPr b="0" i="0" strike="noStrike" sz="1100" u="none">
                    <a:solidFill>
                      <a:srgbClr val="1B2230"/>
                    </a:solidFill>
                    <a:latin typeface="+mn-lt"/>
                  </a:defRPr>
                </a:pPr>
              </a:p>
            </c:txPr>
            <c:showLegendKey val="0"/>
            <c:showVal val="1"/>
            <c:showCatName val="0"/>
            <c:showSerName val="0"/>
            <c:showPercent val="0"/>
            <c:showBubbleSize val="0"/>
            <c:showLeaderLines val="0"/>
          </c:dLbls>
          <c:cat>
            <c:multiLvlStrRef>
              <c:f>Sheet1!$A$2:$A$8</c:f>
              <c:multiLvlStrCache>
                <c:ptCount val="7"/>
                <c:lvl>
                  <c:pt idx="0">
                    <c:v>Skill · Leadership</c:v>
                  </c:pt>
                  <c:pt idx="1">
                    <c:v>Skill · Machine Learning</c:v>
                  </c:pt>
                  <c:pt idx="2">
                    <c:v>Company size</c:v>
                  </c:pt>
                  <c:pt idx="3">
                    <c:v>Education</c:v>
                  </c:pt>
                  <c:pt idx="4">
                    <c:v>Location</c:v>
                  </c:pt>
                  <c:pt idx="5">
                    <c:v>Job role</c:v>
                  </c:pt>
                  <c:pt idx="6">
                    <c:v>Experience</c:v>
                  </c:pt>
                </c:lvl>
              </c:multiLvlStrCache>
            </c:multiLvlStrRef>
          </c:cat>
          <c:val>
            <c:numRef>
              <c:f>Sheet1!$B$2:$B$8</c:f>
              <c:numCache>
                <c:formatCode>General</c:formatCode>
                <c:ptCount val="7"/>
                <c:pt idx="0">
                  <c:v>0.019</c:v>
                </c:pt>
                <c:pt idx="1">
                  <c:v>0.039</c:v>
                </c:pt>
                <c:pt idx="2">
                  <c:v>0.043</c:v>
                </c:pt>
                <c:pt idx="3">
                  <c:v>0.082</c:v>
                </c:pt>
                <c:pt idx="4">
                  <c:v>0.113</c:v>
                </c:pt>
                <c:pt idx="5">
                  <c:v>0.647</c:v>
                </c:pt>
                <c:pt idx="6">
                  <c:v>0.764</c:v>
                </c:pt>
              </c:numCache>
            </c:numRef>
          </c:val>
        </c:ser>
        <c:dLbls>
          <c:numFmt formatCode="0.00" sourceLinked="0"/>
          <c:txPr>
            <a:bodyPr/>
            <a:lstStyle/>
            <a:p>
              <a:pPr>
                <a:defRPr b="0" i="0" strike="noStrike" sz="1100" u="none">
                  <a:solidFill>
                    <a:srgbClr val="1B22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DCE3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the Employee Salary Prediction System, a web application built with Python, MySQL and machine learning. It predicts an employee's annual salary from their profile and explains how the number was reached. On the right is the dashboard of our web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will cover: the problem and objectives, how our system compares with the current way, the technology and architecture, the database and machine learning, our results, a walkthrough of the web application, and finally the conclusion and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Fixing a salary is something every HR team does, but it is usually done by hand. The result is inconsistent, slow, and hard to justify. Our problem statement: given an employee's details, predict the expected salary and explain what drives it, using historical data stored in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six objectives: a normalised MySQL database, an accurate regression model with R squared above 0.9, a fair comparison of several algorithms, a simple web interface, explanations for every prediction, and the ability to retrain as new data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salaries are set by gut feeling and pay bands using only two or three factors. Our system learns from data in MySQL, uses fourteen inputs, answers instantly in the browser, gives the same answer for the same profile, and explains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is our main language. MySQL stores the data. scikit-learn provides the machine-learning models and evaluation. pandas and NumPy handle data. Flask runs the web application, Chart.js draws the interactive charts, HTML, CSS and Jinja2 build the pages, and joblib saves the 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layers. The browser shows the pages and charts. Flask handles each request and validates the input. The ML engine holds the trained pipeline and produces the prediction, range and what-if results. MySQL stores all the data. The numbered steps show what happens when a user clicks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database has five tables. employees holds the training data, with salary as the target. Skills are in a separate table linked through employee_skills, because an employee can have many skills; this keeps the design in third normal form. predictions logs every prediction, and model_runs logs the accuracy of every training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salary data is confidential, so we generated 1,200 realistic records for the Indian job market and stored them in MySQL. There are fourteen inputs. Categories are one-hot encoded, numbers are scaled, each skill becomes a 0 or 1 column, and the model learns the logarithm of salary because pay grows in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charts come from our MySQL data. Project Managers and Data Scientists earn the most, Sales and HR the least. Salary rises steadily with experience, from about 6.8 lakh in the first two years to over 23 lakh after sixteen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six steps. We load the data with a SQL join, prepare the features, split 80/20, train five models with 5-fold cross-validation, select the one with the best cross-validated R squared, and save it for the web app. The log transform, cross-validation and prediction range are the three key design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Linear, Ridge, Polynomial, Random Forest and Gradient Boosting. Gradient Boosting has the highest R squared on both the test set and cross-validation. It builds trees one after another, each correcting the previous errors, so it captures curves and interactions. Random Forest was weakest because averaging trees under-predicts very high salaries.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240 employees the model never saw, R squared is 0.957 and the average error is 8.9 percent, about 1.06 lakh. On the left, actual versus predicted salaries sit close to the diagonal. On the right, feature importance shows experience and job role matter most, then location, education and company type; Machine Learning is the most valuable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application has five pages, all reached from the sidebar. The dashboard shown here summarises the dataset with key figures and interactive charts. Next we will look at the Predict page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input screen the user enters the employee's details: a slider for experience, drop-downs, a star rating and skill chips. After clicking Predict, the output shows the predicted annual salary, the monthly amount, an 80 percent likely range, and where this salary sits among others in the same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number, the page explains the prediction. The growth projection shows how this salary would rise with experience. The skill impact chart shows how much each skill is worth for this exact profile; here, learning Cloud would add about 2.5 lakh.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what-if section changes one factor at a time while keeping everything else the same; for example, moving to a Tier-1 city or an MNC. The peer chart shows where this salary falls among everyone in the same role in our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Insights page shows the comparison table, accuracy charts and feature importance, with a Retrain button. The Employee Data page lets us search, add, delete and export records stored in MySQL. The History page lists every prediction made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valid predictions, invalid and out-of-range input, adding records, retraining, an SQL injection attempt, the database being offline, and every page on desktop, phone and in dark mode. All tests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advantages are accuracy, explanations, a clean interface, a proper database design, and the ability to improve with new data. The limitations: the sample data is synthetic, the model only knows the roles and skills it was trained on, it cannot see factors like negotiation, and it is less sure for very senior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future we would train on real company data, try stronger models with tuning, add user login, deploy the app online, extract skills from uploaded resumes, and add a fairness audit to detect pay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complete web application on Python, MySQL and machine learning. Gradient Boosting was selected from five models with an R squared of 0.957, and every prediction is explained with a range, percentile, growth projection and what-if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answer any questions, and we can show a live demo of the web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585216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794760"/>
            <a:ext cx="566928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Employee Salary Prediction System</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868680"/>
          </a:xfrm>
          <a:prstGeom prst="rect">
            <a:avLst/>
          </a:prstGeom>
          <a:noFill/>
          <a:ln/>
        </p:spPr>
        <p:txBody>
          <a:bodyPr wrap="square" rtlCol="0"/>
          <a:lstStyle>
            <a:lvl1pPr indent="0" marL="0">
              <a:buNone/>
              <a:defRPr lang="en-US" sz="3800" b="1" dirty="0">
                <a:solidFill>
                  <a:schemeClr val="bg1"/>
                </a:solidFill>
              </a:defRPr>
            </a:lvl1pPr>
          </a:lstStyle>
          <a:p>
            <a:pPr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3-1.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jp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640080" y="1325880"/>
            <a:ext cx="585216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AIML MINI PROJECT  ·  PYTHON + MySQL + MACHINE LEARNING</a:t>
            </a:r>
            <a:endParaRPr lang="en-US" sz="1200" dirty="0"/>
          </a:p>
        </p:txBody>
      </p:sp>
      <p:sp>
        <p:nvSpPr>
          <p:cNvPr id="3" name="Text 0"/>
          <p:cNvSpPr/>
          <p:nvPr>
            <p:ph idx="100" type="title" hasCustomPrompt="1"/>
          </p:nvPr>
        </p:nvSpPr>
        <p:spPr>
          <a:xfrm>
            <a:off x="640080" y="1874520"/>
            <a:ext cx="5852160" cy="1828800"/>
          </a:xfrm>
          <a:prstGeom prst="rect">
            <a:avLst/>
          </a:prstGeom>
          <a:noFill/>
          <a:ln/>
        </p:spPr>
        <p:txBody>
          <a:bodyPr wrap="square" lIns="0" tIns="0" rIns="0" bIns="0" rtlCol="0" anchor="t"/>
          <a:lstStyle/>
          <a:p>
            <a:pPr algn="l" indent="0" marL="0">
              <a:buNone/>
            </a:pPr>
            <a:r>
              <a:rPr lang="en-US" sz="4400" b="1" dirty="0">
                <a:solidFill>
                  <a:schemeClr val="bg1"/>
                </a:solidFill>
              </a:rPr>
              <a:t>Employee Salary Prediction System</a:t>
            </a:r>
            <a:endParaRPr lang="en-US" sz="4400" dirty="0"/>
          </a:p>
        </p:txBody>
      </p:sp>
      <p:sp>
        <p:nvSpPr>
          <p:cNvPr id="4" name="Text 0"/>
          <p:cNvSpPr/>
          <p:nvPr>
            <p:ph idx="101" type="body" hasCustomPrompt="1"/>
          </p:nvPr>
        </p:nvSpPr>
        <p:spPr>
          <a:xfrm>
            <a:off x="640080" y="3794760"/>
            <a:ext cx="5669280" cy="914400"/>
          </a:xfrm>
          <a:prstGeom prst="rect">
            <a:avLst/>
          </a:prstGeom>
          <a:noFill/>
          <a:ln/>
        </p:spPr>
        <p:txBody>
          <a:bodyPr wrap="square" lIns="0" tIns="0" rIns="0" bIns="0" rtlCol="0" anchor="t"/>
          <a:lstStyle/>
          <a:p>
            <a:pPr algn="l" indent="0" marL="0">
              <a:buNone/>
            </a:pPr>
            <a:r>
              <a:rPr lang="en-US" sz="1800" dirty="0">
                <a:solidFill>
                  <a:schemeClr val="bg2"/>
                </a:solidFill>
              </a:rPr>
              <a:t>A web application that predicts fair pay with machine learning and explains every prediction</a:t>
            </a:r>
            <a:endParaRPr lang="en-US" sz="1800" dirty="0"/>
          </a:p>
        </p:txBody>
      </p:sp>
      <p:sp>
        <p:nvSpPr>
          <p:cNvPr id="5" name="presenters"/>
          <p:cNvSpPr txBox="1"/>
          <p:nvPr/>
        </p:nvSpPr>
        <p:spPr>
          <a:xfrm>
            <a:off x="640080" y="5257800"/>
            <a:ext cx="5669280" cy="731520"/>
          </a:xfrm>
          <a:prstGeom prst="rect">
            <a:avLst/>
          </a:prstGeom>
          <a:noFill/>
          <a:ln/>
        </p:spPr>
        <p:txBody>
          <a:bodyPr wrap="square" lIns="0" tIns="0" rIns="0" bIns="0" rtlCol="0" anchor="t"/>
          <a:lstStyle/>
          <a:p>
            <a:pPr indent="0" marL="0">
              <a:spcAft>
                <a:spcPts val="600"/>
              </a:spcAft>
              <a:buNone/>
            </a:pPr>
            <a:r>
              <a:rPr lang="en-US" sz="1400" b="1" dirty="0">
                <a:solidFill>
                  <a:schemeClr val="accent3"/>
                </a:solidFill>
              </a:rPr>
              <a:t>Presented by:  </a:t>
            </a:r>
            <a:pPr indent="0" marL="0">
              <a:spcAft>
                <a:spcPts val="600"/>
              </a:spcAft>
              <a:buNone/>
            </a:pPr>
            <a:r>
              <a:rPr lang="en-US" sz="1400" dirty="0">
                <a:solidFill>
                  <a:schemeClr val="bg1"/>
                </a:solidFill>
              </a:rPr>
              <a:t>____________________</a:t>
            </a:r>
            <a:endParaRPr lang="en-US" sz="1400" dirty="0"/>
          </a:p>
          <a:p>
            <a:pPr indent="0" marL="0">
              <a:spcAft>
                <a:spcPts val="600"/>
              </a:spcAft>
              <a:buNone/>
            </a:pPr>
            <a:r>
              <a:rPr lang="en-US" sz="1400" b="1" dirty="0">
                <a:solidFill>
                  <a:schemeClr val="accent3"/>
                </a:solidFill>
              </a:rPr>
              <a:t>Guide:  </a:t>
            </a:r>
            <a:pPr indent="0" marL="0">
              <a:spcAft>
                <a:spcPts val="600"/>
              </a:spcAft>
              <a:buNone/>
            </a:pPr>
            <a:r>
              <a:rPr lang="en-US" sz="1400" dirty="0">
                <a:solidFill>
                  <a:schemeClr val="bg1"/>
                </a:solidFill>
              </a:rPr>
              <a:t>____________________</a:t>
            </a:r>
            <a:endParaRPr lang="en-US" sz="1400" dirty="0"/>
          </a:p>
        </p:txBody>
      </p:sp>
      <p:sp>
        <p:nvSpPr>
          <p:cNvPr id="6" name="dash_top frame"/>
          <p:cNvSpPr/>
          <p:nvPr/>
        </p:nvSpPr>
        <p:spPr>
          <a:xfrm>
            <a:off x="6748272" y="1850517"/>
            <a:ext cx="4974336" cy="3156966"/>
          </a:xfrm>
          <a:prstGeom prst="roundRect">
            <a:avLst>
              <a:gd name="adj" fmla="val 2896"/>
            </a:avLst>
          </a:prstGeom>
          <a:solidFill>
            <a:schemeClr val="bg2"/>
          </a:solidFill>
          <a:ln/>
          <a:effectLst>
            <a:outerShdw sx="100000" sy="100000" kx="0" ky="0" algn="bl" rotWithShape="0" blurRad="127000" dist="38100" dir="5400000">
              <a:srgbClr val="0F2A4A">
                <a:alpha val="14000"/>
              </a:srgbClr>
            </a:outerShdw>
          </a:effectLst>
        </p:spPr>
      </p:sp>
      <p:pic>
        <p:nvPicPr>
          <p:cNvPr id="7" name="dash_top" descr="Web dashboard of the salary prediction system">    </p:cNvPr>
          <p:cNvPicPr>
            <a:picLocks noChangeAspect="1"/>
          </p:cNvPicPr>
          <p:nvPr/>
        </p:nvPicPr>
        <p:blipFill>
          <a:blip r:embed="rId1"/>
          <a:stretch>
            <a:fillRect/>
          </a:stretch>
        </p:blipFill>
        <p:spPr>
          <a:xfrm>
            <a:off x="6812280" y="1914525"/>
            <a:ext cx="4846320" cy="3028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Agenda</a:t>
            </a:r>
            <a:endParaRPr lang="en-US" sz="3400" dirty="0"/>
          </a:p>
        </p:txBody>
      </p:sp>
      <p:sp>
        <p:nvSpPr>
          <p:cNvPr id="3" name="agenda 1 badge"/>
          <p:cNvSpPr/>
          <p:nvPr/>
        </p:nvSpPr>
        <p:spPr>
          <a:xfrm>
            <a:off x="731520" y="1508760"/>
            <a:ext cx="566928" cy="566928"/>
          </a:xfrm>
          <a:prstGeom prst="ellipse">
            <a:avLst/>
          </a:prstGeom>
          <a:solidFill>
            <a:schemeClr val="accent1"/>
          </a:solidFill>
          <a:ln/>
        </p:spPr>
      </p:sp>
      <p:sp>
        <p:nvSpPr>
          <p:cNvPr id="4" name="agenda 1 number"/>
          <p:cNvSpPr txBox="1"/>
          <p:nvPr/>
        </p:nvSpPr>
        <p:spPr>
          <a:xfrm>
            <a:off x="731520" y="15087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01</a:t>
            </a:r>
            <a:endParaRPr lang="en-US" sz="1600" dirty="0"/>
          </a:p>
        </p:txBody>
      </p:sp>
      <p:sp>
        <p:nvSpPr>
          <p:cNvPr id="5" name="agenda 1"/>
          <p:cNvSpPr txBox="1"/>
          <p:nvPr/>
        </p:nvSpPr>
        <p:spPr>
          <a:xfrm>
            <a:off x="1508760" y="1508760"/>
            <a:ext cx="4480560" cy="566928"/>
          </a:xfrm>
          <a:prstGeom prst="rect">
            <a:avLst/>
          </a:prstGeom>
          <a:noFill/>
          <a:ln/>
        </p:spPr>
        <p:txBody>
          <a:bodyPr wrap="square" lIns="0" tIns="0" rIns="0" bIns="0" rtlCol="0" anchor="ctr"/>
          <a:lstStyle/>
          <a:p>
            <a:pPr indent="0" marL="0">
              <a:buNone/>
            </a:pPr>
            <a:r>
              <a:rPr lang="en-US" sz="2000" dirty="0">
                <a:solidFill>
                  <a:schemeClr val="tx2"/>
                </a:solidFill>
              </a:rPr>
              <a:t>Problem statement</a:t>
            </a:r>
            <a:endParaRPr lang="en-US" sz="2000" dirty="0"/>
          </a:p>
        </p:txBody>
      </p:sp>
      <p:sp>
        <p:nvSpPr>
          <p:cNvPr id="6" name="agenda 2 badge"/>
          <p:cNvSpPr/>
          <p:nvPr/>
        </p:nvSpPr>
        <p:spPr>
          <a:xfrm>
            <a:off x="731520" y="2423160"/>
            <a:ext cx="566928" cy="566928"/>
          </a:xfrm>
          <a:prstGeom prst="ellipse">
            <a:avLst/>
          </a:prstGeom>
          <a:solidFill>
            <a:schemeClr val="accent1"/>
          </a:solidFill>
          <a:ln/>
        </p:spPr>
      </p:sp>
      <p:sp>
        <p:nvSpPr>
          <p:cNvPr id="7" name="agenda 2 number"/>
          <p:cNvSpPr txBox="1"/>
          <p:nvPr/>
        </p:nvSpPr>
        <p:spPr>
          <a:xfrm>
            <a:off x="731520" y="24231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02</a:t>
            </a:r>
            <a:endParaRPr lang="en-US" sz="1600" dirty="0"/>
          </a:p>
        </p:txBody>
      </p:sp>
      <p:sp>
        <p:nvSpPr>
          <p:cNvPr id="8" name="agenda 2"/>
          <p:cNvSpPr txBox="1"/>
          <p:nvPr/>
        </p:nvSpPr>
        <p:spPr>
          <a:xfrm>
            <a:off x="1508760" y="2423160"/>
            <a:ext cx="4480560" cy="566928"/>
          </a:xfrm>
          <a:prstGeom prst="rect">
            <a:avLst/>
          </a:prstGeom>
          <a:noFill/>
          <a:ln/>
        </p:spPr>
        <p:txBody>
          <a:bodyPr wrap="square" lIns="0" tIns="0" rIns="0" bIns="0" rtlCol="0" anchor="ctr"/>
          <a:lstStyle/>
          <a:p>
            <a:pPr indent="0" marL="0">
              <a:buNone/>
            </a:pPr>
            <a:r>
              <a:rPr lang="en-US" sz="2000" dirty="0">
                <a:solidFill>
                  <a:schemeClr val="tx2"/>
                </a:solidFill>
              </a:rPr>
              <a:t>Objectives</a:t>
            </a:r>
            <a:endParaRPr lang="en-US" sz="2000" dirty="0"/>
          </a:p>
        </p:txBody>
      </p:sp>
      <p:sp>
        <p:nvSpPr>
          <p:cNvPr id="9" name="agenda 3 badge"/>
          <p:cNvSpPr/>
          <p:nvPr/>
        </p:nvSpPr>
        <p:spPr>
          <a:xfrm>
            <a:off x="731520" y="3337560"/>
            <a:ext cx="566928" cy="566928"/>
          </a:xfrm>
          <a:prstGeom prst="ellipse">
            <a:avLst/>
          </a:prstGeom>
          <a:solidFill>
            <a:schemeClr val="accent1"/>
          </a:solidFill>
          <a:ln/>
        </p:spPr>
      </p:sp>
      <p:sp>
        <p:nvSpPr>
          <p:cNvPr id="10" name="agenda 3 number"/>
          <p:cNvSpPr txBox="1"/>
          <p:nvPr/>
        </p:nvSpPr>
        <p:spPr>
          <a:xfrm>
            <a:off x="731520" y="33375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03</a:t>
            </a:r>
            <a:endParaRPr lang="en-US" sz="1600" dirty="0"/>
          </a:p>
        </p:txBody>
      </p:sp>
      <p:sp>
        <p:nvSpPr>
          <p:cNvPr id="11" name="agenda 3"/>
          <p:cNvSpPr txBox="1"/>
          <p:nvPr/>
        </p:nvSpPr>
        <p:spPr>
          <a:xfrm>
            <a:off x="1508760" y="3337560"/>
            <a:ext cx="4480560" cy="566928"/>
          </a:xfrm>
          <a:prstGeom prst="rect">
            <a:avLst/>
          </a:prstGeom>
          <a:noFill/>
          <a:ln/>
        </p:spPr>
        <p:txBody>
          <a:bodyPr wrap="square" lIns="0" tIns="0" rIns="0" bIns="0" rtlCol="0" anchor="ctr"/>
          <a:lstStyle/>
          <a:p>
            <a:pPr indent="0" marL="0">
              <a:buNone/>
            </a:pPr>
            <a:r>
              <a:rPr lang="en-US" sz="2000" dirty="0">
                <a:solidFill>
                  <a:schemeClr val="tx2"/>
                </a:solidFill>
              </a:rPr>
              <a:t>Existing vs proposed system</a:t>
            </a:r>
            <a:endParaRPr lang="en-US" sz="2000" dirty="0"/>
          </a:p>
        </p:txBody>
      </p:sp>
      <p:sp>
        <p:nvSpPr>
          <p:cNvPr id="12" name="agenda 4 badge"/>
          <p:cNvSpPr/>
          <p:nvPr/>
        </p:nvSpPr>
        <p:spPr>
          <a:xfrm>
            <a:off x="731520" y="4251960"/>
            <a:ext cx="566928" cy="566928"/>
          </a:xfrm>
          <a:prstGeom prst="ellipse">
            <a:avLst/>
          </a:prstGeom>
          <a:solidFill>
            <a:schemeClr val="accent1"/>
          </a:solidFill>
          <a:ln/>
        </p:spPr>
      </p:sp>
      <p:sp>
        <p:nvSpPr>
          <p:cNvPr id="13" name="agenda 4 number"/>
          <p:cNvSpPr txBox="1"/>
          <p:nvPr/>
        </p:nvSpPr>
        <p:spPr>
          <a:xfrm>
            <a:off x="731520" y="42519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04</a:t>
            </a:r>
            <a:endParaRPr lang="en-US" sz="1600" dirty="0"/>
          </a:p>
        </p:txBody>
      </p:sp>
      <p:sp>
        <p:nvSpPr>
          <p:cNvPr id="14" name="agenda 4"/>
          <p:cNvSpPr txBox="1"/>
          <p:nvPr/>
        </p:nvSpPr>
        <p:spPr>
          <a:xfrm>
            <a:off x="1508760" y="4251960"/>
            <a:ext cx="4480560" cy="566928"/>
          </a:xfrm>
          <a:prstGeom prst="rect">
            <a:avLst/>
          </a:prstGeom>
          <a:noFill/>
          <a:ln/>
        </p:spPr>
        <p:txBody>
          <a:bodyPr wrap="square" lIns="0" tIns="0" rIns="0" bIns="0" rtlCol="0" anchor="ctr"/>
          <a:lstStyle/>
          <a:p>
            <a:pPr indent="0" marL="0">
              <a:buNone/>
            </a:pPr>
            <a:r>
              <a:rPr lang="en-US" sz="2000" dirty="0">
                <a:solidFill>
                  <a:schemeClr val="tx2"/>
                </a:solidFill>
              </a:rPr>
              <a:t>Technology stack</a:t>
            </a:r>
            <a:endParaRPr lang="en-US" sz="2000" dirty="0"/>
          </a:p>
        </p:txBody>
      </p:sp>
      <p:sp>
        <p:nvSpPr>
          <p:cNvPr id="15" name="agenda 5 badge"/>
          <p:cNvSpPr/>
          <p:nvPr/>
        </p:nvSpPr>
        <p:spPr>
          <a:xfrm>
            <a:off x="731520" y="5166360"/>
            <a:ext cx="566928" cy="566928"/>
          </a:xfrm>
          <a:prstGeom prst="ellipse">
            <a:avLst/>
          </a:prstGeom>
          <a:solidFill>
            <a:schemeClr val="accent1"/>
          </a:solidFill>
          <a:ln/>
        </p:spPr>
      </p:sp>
      <p:sp>
        <p:nvSpPr>
          <p:cNvPr id="16" name="agenda 5 number"/>
          <p:cNvSpPr txBox="1"/>
          <p:nvPr/>
        </p:nvSpPr>
        <p:spPr>
          <a:xfrm>
            <a:off x="731520" y="51663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05</a:t>
            </a:r>
            <a:endParaRPr lang="en-US" sz="1600" dirty="0"/>
          </a:p>
        </p:txBody>
      </p:sp>
      <p:sp>
        <p:nvSpPr>
          <p:cNvPr id="17" name="agenda 5"/>
          <p:cNvSpPr txBox="1"/>
          <p:nvPr/>
        </p:nvSpPr>
        <p:spPr>
          <a:xfrm>
            <a:off x="1508760" y="5166360"/>
            <a:ext cx="4480560" cy="566928"/>
          </a:xfrm>
          <a:prstGeom prst="rect">
            <a:avLst/>
          </a:prstGeom>
          <a:noFill/>
          <a:ln/>
        </p:spPr>
        <p:txBody>
          <a:bodyPr wrap="square" lIns="0" tIns="0" rIns="0" bIns="0" rtlCol="0" anchor="ctr"/>
          <a:lstStyle/>
          <a:p>
            <a:pPr indent="0" marL="0">
              <a:buNone/>
            </a:pPr>
            <a:r>
              <a:rPr lang="en-US" sz="2000" dirty="0">
                <a:solidFill>
                  <a:schemeClr val="tx2"/>
                </a:solidFill>
              </a:rPr>
              <a:t>System architecture</a:t>
            </a:r>
            <a:endParaRPr lang="en-US" sz="2000" dirty="0"/>
          </a:p>
        </p:txBody>
      </p:sp>
      <p:sp>
        <p:nvSpPr>
          <p:cNvPr id="18" name="agenda 6 badge"/>
          <p:cNvSpPr/>
          <p:nvPr/>
        </p:nvSpPr>
        <p:spPr>
          <a:xfrm>
            <a:off x="6400800" y="1508760"/>
            <a:ext cx="566928" cy="566928"/>
          </a:xfrm>
          <a:prstGeom prst="ellipse">
            <a:avLst/>
          </a:prstGeom>
          <a:solidFill>
            <a:schemeClr val="accent2"/>
          </a:solidFill>
          <a:ln/>
        </p:spPr>
      </p:sp>
      <p:sp>
        <p:nvSpPr>
          <p:cNvPr id="19" name="agenda 6 number"/>
          <p:cNvSpPr txBox="1"/>
          <p:nvPr/>
        </p:nvSpPr>
        <p:spPr>
          <a:xfrm>
            <a:off x="6400800" y="15087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06</a:t>
            </a:r>
            <a:endParaRPr lang="en-US" sz="1600" dirty="0"/>
          </a:p>
        </p:txBody>
      </p:sp>
      <p:sp>
        <p:nvSpPr>
          <p:cNvPr id="20" name="agenda 6"/>
          <p:cNvSpPr txBox="1"/>
          <p:nvPr/>
        </p:nvSpPr>
        <p:spPr>
          <a:xfrm>
            <a:off x="7178040" y="1508760"/>
            <a:ext cx="4480560" cy="566928"/>
          </a:xfrm>
          <a:prstGeom prst="rect">
            <a:avLst/>
          </a:prstGeom>
          <a:noFill/>
          <a:ln/>
        </p:spPr>
        <p:txBody>
          <a:bodyPr wrap="square" lIns="0" tIns="0" rIns="0" bIns="0" rtlCol="0" anchor="ctr"/>
          <a:lstStyle/>
          <a:p>
            <a:pPr indent="0" marL="0">
              <a:buNone/>
            </a:pPr>
            <a:r>
              <a:rPr lang="en-US" sz="2000" dirty="0">
                <a:solidFill>
                  <a:schemeClr val="tx2"/>
                </a:solidFill>
              </a:rPr>
              <a:t>Database design</a:t>
            </a:r>
            <a:endParaRPr lang="en-US" sz="2000" dirty="0"/>
          </a:p>
        </p:txBody>
      </p:sp>
      <p:sp>
        <p:nvSpPr>
          <p:cNvPr id="21" name="agenda 7 badge"/>
          <p:cNvSpPr/>
          <p:nvPr/>
        </p:nvSpPr>
        <p:spPr>
          <a:xfrm>
            <a:off x="6400800" y="2423160"/>
            <a:ext cx="566928" cy="566928"/>
          </a:xfrm>
          <a:prstGeom prst="ellipse">
            <a:avLst/>
          </a:prstGeom>
          <a:solidFill>
            <a:schemeClr val="accent2"/>
          </a:solidFill>
          <a:ln/>
        </p:spPr>
      </p:sp>
      <p:sp>
        <p:nvSpPr>
          <p:cNvPr id="22" name="agenda 7 number"/>
          <p:cNvSpPr txBox="1"/>
          <p:nvPr/>
        </p:nvSpPr>
        <p:spPr>
          <a:xfrm>
            <a:off x="6400800" y="24231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07</a:t>
            </a:r>
            <a:endParaRPr lang="en-US" sz="1600" dirty="0"/>
          </a:p>
        </p:txBody>
      </p:sp>
      <p:sp>
        <p:nvSpPr>
          <p:cNvPr id="23" name="agenda 7"/>
          <p:cNvSpPr txBox="1"/>
          <p:nvPr/>
        </p:nvSpPr>
        <p:spPr>
          <a:xfrm>
            <a:off x="7178040" y="2423160"/>
            <a:ext cx="4480560" cy="566928"/>
          </a:xfrm>
          <a:prstGeom prst="rect">
            <a:avLst/>
          </a:prstGeom>
          <a:noFill/>
          <a:ln/>
        </p:spPr>
        <p:txBody>
          <a:bodyPr wrap="square" lIns="0" tIns="0" rIns="0" bIns="0" rtlCol="0" anchor="ctr"/>
          <a:lstStyle/>
          <a:p>
            <a:pPr indent="0" marL="0">
              <a:buNone/>
            </a:pPr>
            <a:r>
              <a:rPr lang="en-US" sz="2000" dirty="0">
                <a:solidFill>
                  <a:schemeClr val="tx2"/>
                </a:solidFill>
              </a:rPr>
              <a:t>Dataset &amp; machine learning</a:t>
            </a:r>
            <a:endParaRPr lang="en-US" sz="2000" dirty="0"/>
          </a:p>
        </p:txBody>
      </p:sp>
      <p:sp>
        <p:nvSpPr>
          <p:cNvPr id="24" name="agenda 8 badge"/>
          <p:cNvSpPr/>
          <p:nvPr/>
        </p:nvSpPr>
        <p:spPr>
          <a:xfrm>
            <a:off x="6400800" y="3337560"/>
            <a:ext cx="566928" cy="566928"/>
          </a:xfrm>
          <a:prstGeom prst="ellipse">
            <a:avLst/>
          </a:prstGeom>
          <a:solidFill>
            <a:schemeClr val="accent2"/>
          </a:solidFill>
          <a:ln/>
        </p:spPr>
      </p:sp>
      <p:sp>
        <p:nvSpPr>
          <p:cNvPr id="25" name="agenda 8 number"/>
          <p:cNvSpPr txBox="1"/>
          <p:nvPr/>
        </p:nvSpPr>
        <p:spPr>
          <a:xfrm>
            <a:off x="6400800" y="33375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08</a:t>
            </a:r>
            <a:endParaRPr lang="en-US" sz="1600" dirty="0"/>
          </a:p>
        </p:txBody>
      </p:sp>
      <p:sp>
        <p:nvSpPr>
          <p:cNvPr id="26" name="agenda 8"/>
          <p:cNvSpPr txBox="1"/>
          <p:nvPr/>
        </p:nvSpPr>
        <p:spPr>
          <a:xfrm>
            <a:off x="7178040" y="3337560"/>
            <a:ext cx="4480560" cy="566928"/>
          </a:xfrm>
          <a:prstGeom prst="rect">
            <a:avLst/>
          </a:prstGeom>
          <a:noFill/>
          <a:ln/>
        </p:spPr>
        <p:txBody>
          <a:bodyPr wrap="square" lIns="0" tIns="0" rIns="0" bIns="0" rtlCol="0" anchor="ctr"/>
          <a:lstStyle/>
          <a:p>
            <a:pPr indent="0" marL="0">
              <a:buNone/>
            </a:pPr>
            <a:r>
              <a:rPr lang="en-US" sz="2000" dirty="0">
                <a:solidFill>
                  <a:schemeClr val="tx2"/>
                </a:solidFill>
              </a:rPr>
              <a:t>Results</a:t>
            </a:r>
            <a:endParaRPr lang="en-US" sz="2000" dirty="0"/>
          </a:p>
        </p:txBody>
      </p:sp>
      <p:sp>
        <p:nvSpPr>
          <p:cNvPr id="27" name="agenda 9 badge"/>
          <p:cNvSpPr/>
          <p:nvPr/>
        </p:nvSpPr>
        <p:spPr>
          <a:xfrm>
            <a:off x="6400800" y="4251960"/>
            <a:ext cx="566928" cy="566928"/>
          </a:xfrm>
          <a:prstGeom prst="ellipse">
            <a:avLst/>
          </a:prstGeom>
          <a:solidFill>
            <a:schemeClr val="accent2"/>
          </a:solidFill>
          <a:ln/>
        </p:spPr>
      </p:sp>
      <p:sp>
        <p:nvSpPr>
          <p:cNvPr id="28" name="agenda 9 number"/>
          <p:cNvSpPr txBox="1"/>
          <p:nvPr/>
        </p:nvSpPr>
        <p:spPr>
          <a:xfrm>
            <a:off x="6400800" y="42519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09</a:t>
            </a:r>
            <a:endParaRPr lang="en-US" sz="1600" dirty="0"/>
          </a:p>
        </p:txBody>
      </p:sp>
      <p:sp>
        <p:nvSpPr>
          <p:cNvPr id="29" name="agenda 9"/>
          <p:cNvSpPr txBox="1"/>
          <p:nvPr/>
        </p:nvSpPr>
        <p:spPr>
          <a:xfrm>
            <a:off x="7178040" y="4251960"/>
            <a:ext cx="4480560" cy="566928"/>
          </a:xfrm>
          <a:prstGeom prst="rect">
            <a:avLst/>
          </a:prstGeom>
          <a:noFill/>
          <a:ln/>
        </p:spPr>
        <p:txBody>
          <a:bodyPr wrap="square" lIns="0" tIns="0" rIns="0" bIns="0" rtlCol="0" anchor="ctr"/>
          <a:lstStyle/>
          <a:p>
            <a:pPr indent="0" marL="0">
              <a:buNone/>
            </a:pPr>
            <a:r>
              <a:rPr lang="en-US" sz="2000" dirty="0">
                <a:solidFill>
                  <a:schemeClr val="tx2"/>
                </a:solidFill>
              </a:rPr>
              <a:t>Web application walkthrough</a:t>
            </a:r>
            <a:endParaRPr lang="en-US" sz="2000" dirty="0"/>
          </a:p>
        </p:txBody>
      </p:sp>
      <p:sp>
        <p:nvSpPr>
          <p:cNvPr id="30" name="agenda 10 badge"/>
          <p:cNvSpPr/>
          <p:nvPr/>
        </p:nvSpPr>
        <p:spPr>
          <a:xfrm>
            <a:off x="6400800" y="5166360"/>
            <a:ext cx="566928" cy="566928"/>
          </a:xfrm>
          <a:prstGeom prst="ellipse">
            <a:avLst/>
          </a:prstGeom>
          <a:solidFill>
            <a:schemeClr val="accent2"/>
          </a:solidFill>
          <a:ln/>
        </p:spPr>
      </p:sp>
      <p:sp>
        <p:nvSpPr>
          <p:cNvPr id="31" name="agenda 10 number"/>
          <p:cNvSpPr txBox="1"/>
          <p:nvPr/>
        </p:nvSpPr>
        <p:spPr>
          <a:xfrm>
            <a:off x="6400800" y="51663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32" name="agenda 10"/>
          <p:cNvSpPr txBox="1"/>
          <p:nvPr/>
        </p:nvSpPr>
        <p:spPr>
          <a:xfrm>
            <a:off x="7178040" y="5166360"/>
            <a:ext cx="4480560" cy="566928"/>
          </a:xfrm>
          <a:prstGeom prst="rect">
            <a:avLst/>
          </a:prstGeom>
          <a:noFill/>
          <a:ln/>
        </p:spPr>
        <p:txBody>
          <a:bodyPr wrap="square" lIns="0" tIns="0" rIns="0" bIns="0" rtlCol="0" anchor="ctr"/>
          <a:lstStyle/>
          <a:p>
            <a:pPr indent="0" marL="0">
              <a:buNone/>
            </a:pPr>
            <a:r>
              <a:rPr lang="en-US" sz="2000" dirty="0">
                <a:solidFill>
                  <a:schemeClr val="tx2"/>
                </a:solidFill>
              </a:rPr>
              <a:t>Conclusion &amp; future scope</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Salary decisions are slow and inconsistent</a:t>
            </a:r>
            <a:endParaRPr lang="en-US" sz="3400" dirty="0"/>
          </a:p>
        </p:txBody>
      </p:sp>
      <p:sp>
        <p:nvSpPr>
          <p:cNvPr id="3" name="problem statement card"/>
          <p:cNvSpPr/>
          <p:nvPr/>
        </p:nvSpPr>
        <p:spPr>
          <a:xfrm>
            <a:off x="548640" y="1417320"/>
            <a:ext cx="5394960" cy="4663440"/>
          </a:xfrm>
          <a:prstGeom prst="roundRect">
            <a:avLst>
              <a:gd name="adj" fmla="val 2353"/>
            </a:avLst>
          </a:prstGeom>
          <a:solidFill>
            <a:schemeClr val="tx2"/>
          </a:solidFill>
          <a:ln/>
        </p:spPr>
      </p:sp>
      <p:sp>
        <p:nvSpPr>
          <p:cNvPr id="4" name="Text 2"/>
          <p:cNvSpPr txBox="1"/>
          <p:nvPr/>
        </p:nvSpPr>
        <p:spPr>
          <a:xfrm>
            <a:off x="914400" y="1783080"/>
            <a:ext cx="466344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PROBLEM STATEMENT</a:t>
            </a:r>
            <a:endParaRPr lang="en-US" sz="1200" dirty="0"/>
          </a:p>
        </p:txBody>
      </p:sp>
      <p:sp>
        <p:nvSpPr>
          <p:cNvPr id="5" name="Text 3"/>
          <p:cNvSpPr txBox="1"/>
          <p:nvPr/>
        </p:nvSpPr>
        <p:spPr>
          <a:xfrm>
            <a:off x="914400" y="2240280"/>
            <a:ext cx="4663440" cy="3566160"/>
          </a:xfrm>
          <a:prstGeom prst="rect">
            <a:avLst/>
          </a:prstGeom>
          <a:noFill/>
          <a:ln/>
        </p:spPr>
        <p:txBody>
          <a:bodyPr wrap="square" lIns="0" tIns="0" rIns="0" bIns="0" rtlCol="0" anchor="t"/>
          <a:lstStyle/>
          <a:p>
            <a:pPr indent="0" marL="0">
              <a:spcAft>
                <a:spcPts val="600"/>
              </a:spcAft>
              <a:buNone/>
            </a:pPr>
            <a:r>
              <a:rPr lang="en-US" sz="2000" dirty="0">
                <a:solidFill>
                  <a:schemeClr val="bg1"/>
                </a:solidFill>
                <a:latin typeface="Cambria" pitchFamily="34" charset="0"/>
                <a:ea typeface="Cambria" pitchFamily="34" charset="-122"/>
                <a:cs typeface="Cambria" pitchFamily="34" charset="-120"/>
              </a:rPr>
              <a:t>Given an employee's experience, education, skills, job role, location, company type, certifications and performance rating, predict their expected annual salary and explain which factors drive it, using historical employee data stored in MySQL.</a:t>
            </a:r>
            <a:endParaRPr lang="en-US" sz="2000" dirty="0"/>
          </a:p>
        </p:txBody>
      </p:sp>
      <p:sp>
        <p:nvSpPr>
          <p:cNvPr id="6" name="Inconsistent icon circle"/>
          <p:cNvSpPr/>
          <p:nvPr/>
        </p:nvSpPr>
        <p:spPr>
          <a:xfrm>
            <a:off x="6400800" y="1508760"/>
            <a:ext cx="777240" cy="777240"/>
          </a:xfrm>
          <a:prstGeom prst="ellipse">
            <a:avLst/>
          </a:prstGeom>
          <a:solidFill>
            <a:schemeClr val="accent4"/>
          </a:solidFill>
          <a:ln/>
        </p:spPr>
      </p:sp>
      <p:pic>
        <p:nvPicPr>
          <p:cNvPr id="7" name="Inconsistent icon" descr="Inconsistent">    </p:cNvPr>
          <p:cNvPicPr>
            <a:picLocks noChangeAspect="1"/>
          </p:cNvPicPr>
          <p:nvPr/>
        </p:nvPicPr>
        <p:blipFill>
          <a:blip r:embed="rId1"/>
          <a:stretch>
            <a:fillRect/>
          </a:stretch>
        </p:blipFill>
        <p:spPr>
          <a:xfrm>
            <a:off x="6595110" y="1703070"/>
            <a:ext cx="388620" cy="388620"/>
          </a:xfrm>
          <a:prstGeom prst="rect">
            <a:avLst/>
          </a:prstGeom>
        </p:spPr>
      </p:pic>
      <p:sp>
        <p:nvSpPr>
          <p:cNvPr id="8" name="Text 5"/>
          <p:cNvSpPr txBox="1"/>
          <p:nvPr/>
        </p:nvSpPr>
        <p:spPr>
          <a:xfrm>
            <a:off x="7452360" y="1490472"/>
            <a:ext cx="4206240" cy="411480"/>
          </a:xfrm>
          <a:prstGeom prst="rect">
            <a:avLst/>
          </a:prstGeom>
          <a:noFill/>
          <a:ln/>
        </p:spPr>
        <p:txBody>
          <a:bodyPr wrap="square" lIns="0" tIns="0" rIns="0" bIns="0" rtlCol="0" anchor="t"/>
          <a:lstStyle/>
          <a:p>
            <a:pPr indent="0" marL="0">
              <a:buNone/>
            </a:pPr>
            <a:r>
              <a:rPr lang="en-US" sz="2000" b="1" dirty="0">
                <a:solidFill>
                  <a:schemeClr val="tx2"/>
                </a:solidFill>
              </a:rPr>
              <a:t>Inconsistent</a:t>
            </a:r>
            <a:endParaRPr lang="en-US" sz="2000" dirty="0"/>
          </a:p>
        </p:txBody>
      </p:sp>
      <p:sp>
        <p:nvSpPr>
          <p:cNvPr id="9" name="Text 6"/>
          <p:cNvSpPr txBox="1"/>
          <p:nvPr/>
        </p:nvSpPr>
        <p:spPr>
          <a:xfrm>
            <a:off x="7452360" y="1920240"/>
            <a:ext cx="4206240" cy="822960"/>
          </a:xfrm>
          <a:prstGeom prst="rect">
            <a:avLst/>
          </a:prstGeom>
          <a:noFill/>
          <a:ln/>
        </p:spPr>
        <p:txBody>
          <a:bodyPr wrap="square" lIns="0" tIns="0" rIns="0" bIns="0" rtlCol="0" anchor="t"/>
          <a:lstStyle/>
          <a:p>
            <a:pPr indent="0" marL="0">
              <a:buNone/>
            </a:pPr>
            <a:r>
              <a:rPr lang="en-US" sz="1500" dirty="0">
                <a:solidFill>
                  <a:schemeClr val="accent6"/>
                </a:solidFill>
              </a:rPr>
              <a:t>Different HR people give different numbers for the same profile.</a:t>
            </a:r>
            <a:endParaRPr lang="en-US" sz="1500" dirty="0"/>
          </a:p>
        </p:txBody>
      </p:sp>
      <p:sp>
        <p:nvSpPr>
          <p:cNvPr id="10" name="Slow and manual icon circle"/>
          <p:cNvSpPr/>
          <p:nvPr/>
        </p:nvSpPr>
        <p:spPr>
          <a:xfrm>
            <a:off x="6400800" y="3063240"/>
            <a:ext cx="777240" cy="777240"/>
          </a:xfrm>
          <a:prstGeom prst="ellipse">
            <a:avLst/>
          </a:prstGeom>
          <a:solidFill>
            <a:schemeClr val="accent4"/>
          </a:solidFill>
          <a:ln/>
        </p:spPr>
      </p:sp>
      <p:pic>
        <p:nvPicPr>
          <p:cNvPr id="11" name="Slow and manual icon" descr="Slow and manual">    </p:cNvPr>
          <p:cNvPicPr>
            <a:picLocks noChangeAspect="1"/>
          </p:cNvPicPr>
          <p:nvPr/>
        </p:nvPicPr>
        <p:blipFill>
          <a:blip r:embed="rId2"/>
          <a:stretch>
            <a:fillRect/>
          </a:stretch>
        </p:blipFill>
        <p:spPr>
          <a:xfrm>
            <a:off x="6595110" y="3257550"/>
            <a:ext cx="388620" cy="388620"/>
          </a:xfrm>
          <a:prstGeom prst="rect">
            <a:avLst/>
          </a:prstGeom>
        </p:spPr>
      </p:pic>
      <p:sp>
        <p:nvSpPr>
          <p:cNvPr id="12" name="Text 8"/>
          <p:cNvSpPr txBox="1"/>
          <p:nvPr/>
        </p:nvSpPr>
        <p:spPr>
          <a:xfrm>
            <a:off x="7452360" y="3044952"/>
            <a:ext cx="4206240" cy="411480"/>
          </a:xfrm>
          <a:prstGeom prst="rect">
            <a:avLst/>
          </a:prstGeom>
          <a:noFill/>
          <a:ln/>
        </p:spPr>
        <p:txBody>
          <a:bodyPr wrap="square" lIns="0" tIns="0" rIns="0" bIns="0" rtlCol="0" anchor="t"/>
          <a:lstStyle/>
          <a:p>
            <a:pPr indent="0" marL="0">
              <a:buNone/>
            </a:pPr>
            <a:r>
              <a:rPr lang="en-US" sz="2000" b="1" dirty="0">
                <a:solidFill>
                  <a:schemeClr val="tx2"/>
                </a:solidFill>
              </a:rPr>
              <a:t>Slow and manual</a:t>
            </a:r>
            <a:endParaRPr lang="en-US" sz="2000" dirty="0"/>
          </a:p>
        </p:txBody>
      </p:sp>
      <p:sp>
        <p:nvSpPr>
          <p:cNvPr id="13" name="Text 9"/>
          <p:cNvSpPr txBox="1"/>
          <p:nvPr/>
        </p:nvSpPr>
        <p:spPr>
          <a:xfrm>
            <a:off x="7452360" y="3474720"/>
            <a:ext cx="4206240" cy="822960"/>
          </a:xfrm>
          <a:prstGeom prst="rect">
            <a:avLst/>
          </a:prstGeom>
          <a:noFill/>
          <a:ln/>
        </p:spPr>
        <p:txBody>
          <a:bodyPr wrap="square" lIns="0" tIns="0" rIns="0" bIns="0" rtlCol="0" anchor="t"/>
          <a:lstStyle/>
          <a:p>
            <a:pPr indent="0" marL="0">
              <a:buNone/>
            </a:pPr>
            <a:r>
              <a:rPr lang="en-US" sz="1500" dirty="0">
                <a:solidFill>
                  <a:schemeClr val="accent6"/>
                </a:solidFill>
              </a:rPr>
              <a:t>Each offer is checked by hand against spreadsheets and surveys.</a:t>
            </a:r>
            <a:endParaRPr lang="en-US" sz="1500" dirty="0"/>
          </a:p>
        </p:txBody>
      </p:sp>
      <p:sp>
        <p:nvSpPr>
          <p:cNvPr id="14" name="Not explainable icon circle"/>
          <p:cNvSpPr/>
          <p:nvPr/>
        </p:nvSpPr>
        <p:spPr>
          <a:xfrm>
            <a:off x="6400800" y="4617720"/>
            <a:ext cx="777240" cy="777240"/>
          </a:xfrm>
          <a:prstGeom prst="ellipse">
            <a:avLst/>
          </a:prstGeom>
          <a:solidFill>
            <a:schemeClr val="accent4"/>
          </a:solidFill>
          <a:ln/>
        </p:spPr>
      </p:sp>
      <p:pic>
        <p:nvPicPr>
          <p:cNvPr id="15" name="Not explainable icon" descr="Not explainable">    </p:cNvPr>
          <p:cNvPicPr>
            <a:picLocks noChangeAspect="1"/>
          </p:cNvPicPr>
          <p:nvPr/>
        </p:nvPicPr>
        <p:blipFill>
          <a:blip r:embed="rId3"/>
          <a:stretch>
            <a:fillRect/>
          </a:stretch>
        </p:blipFill>
        <p:spPr>
          <a:xfrm>
            <a:off x="6595110" y="4812030"/>
            <a:ext cx="388620" cy="388620"/>
          </a:xfrm>
          <a:prstGeom prst="rect">
            <a:avLst/>
          </a:prstGeom>
        </p:spPr>
      </p:pic>
      <p:sp>
        <p:nvSpPr>
          <p:cNvPr id="16" name="Text 11"/>
          <p:cNvSpPr txBox="1"/>
          <p:nvPr/>
        </p:nvSpPr>
        <p:spPr>
          <a:xfrm>
            <a:off x="7452360" y="4599432"/>
            <a:ext cx="4206240" cy="411480"/>
          </a:xfrm>
          <a:prstGeom prst="rect">
            <a:avLst/>
          </a:prstGeom>
          <a:noFill/>
          <a:ln/>
        </p:spPr>
        <p:txBody>
          <a:bodyPr wrap="square" lIns="0" tIns="0" rIns="0" bIns="0" rtlCol="0" anchor="t"/>
          <a:lstStyle/>
          <a:p>
            <a:pPr indent="0" marL="0">
              <a:buNone/>
            </a:pPr>
            <a:r>
              <a:rPr lang="en-US" sz="2000" b="1" dirty="0">
                <a:solidFill>
                  <a:schemeClr val="tx2"/>
                </a:solidFill>
              </a:rPr>
              <a:t>Not explainable</a:t>
            </a:r>
            <a:endParaRPr lang="en-US" sz="2000" dirty="0"/>
          </a:p>
        </p:txBody>
      </p:sp>
      <p:sp>
        <p:nvSpPr>
          <p:cNvPr id="17" name="Text 12"/>
          <p:cNvSpPr txBox="1"/>
          <p:nvPr/>
        </p:nvSpPr>
        <p:spPr>
          <a:xfrm>
            <a:off x="7452360" y="5029200"/>
            <a:ext cx="4206240" cy="822960"/>
          </a:xfrm>
          <a:prstGeom prst="rect">
            <a:avLst/>
          </a:prstGeom>
          <a:noFill/>
          <a:ln/>
        </p:spPr>
        <p:txBody>
          <a:bodyPr wrap="square" lIns="0" tIns="0" rIns="0" bIns="0" rtlCol="0" anchor="t"/>
          <a:lstStyle/>
          <a:p>
            <a:pPr indent="0" marL="0">
              <a:buNone/>
            </a:pPr>
            <a:r>
              <a:rPr lang="en-US" sz="1500" dirty="0">
                <a:solidFill>
                  <a:schemeClr val="accent6"/>
                </a:solidFill>
              </a:rPr>
              <a:t>Hard to say why a salary is fair or what would raise it.</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Objectives</a:t>
            </a:r>
            <a:endParaRPr lang="en-US" sz="3400" dirty="0"/>
          </a:p>
        </p:txBody>
      </p:sp>
      <p:sp>
        <p:nvSpPr>
          <p:cNvPr id="3" name="objective 1 card"/>
          <p:cNvSpPr/>
          <p:nvPr/>
        </p:nvSpPr>
        <p:spPr>
          <a:xfrm>
            <a:off x="548640" y="1417320"/>
            <a:ext cx="3520440"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4" name="Organised data icon circle"/>
          <p:cNvSpPr/>
          <p:nvPr/>
        </p:nvSpPr>
        <p:spPr>
          <a:xfrm>
            <a:off x="822960" y="1691640"/>
            <a:ext cx="685800" cy="685800"/>
          </a:xfrm>
          <a:prstGeom prst="ellipse">
            <a:avLst/>
          </a:prstGeom>
          <a:solidFill>
            <a:schemeClr val="accent1"/>
          </a:solidFill>
          <a:ln/>
        </p:spPr>
      </p:sp>
      <p:pic>
        <p:nvPicPr>
          <p:cNvPr id="5" name="Organised data icon" descr="Organised data">    </p:cNvPr>
          <p:cNvPicPr>
            <a:picLocks noChangeAspect="1"/>
          </p:cNvPicPr>
          <p:nvPr/>
        </p:nvPicPr>
        <p:blipFill>
          <a:blip r:embed="rId1"/>
          <a:stretch>
            <a:fillRect/>
          </a:stretch>
        </p:blipFill>
        <p:spPr>
          <a:xfrm>
            <a:off x="994410" y="1863090"/>
            <a:ext cx="342900" cy="342900"/>
          </a:xfrm>
          <a:prstGeom prst="rect">
            <a:avLst/>
          </a:prstGeom>
        </p:spPr>
      </p:pic>
      <p:sp>
        <p:nvSpPr>
          <p:cNvPr id="6" name="Text 3"/>
          <p:cNvSpPr txBox="1"/>
          <p:nvPr/>
        </p:nvSpPr>
        <p:spPr>
          <a:xfrm>
            <a:off x="822960" y="2514600"/>
            <a:ext cx="3017520" cy="365760"/>
          </a:xfrm>
          <a:prstGeom prst="rect">
            <a:avLst/>
          </a:prstGeom>
          <a:noFill/>
          <a:ln/>
        </p:spPr>
        <p:txBody>
          <a:bodyPr wrap="square" lIns="0" tIns="0" rIns="0" bIns="0" rtlCol="0" anchor="t"/>
          <a:lstStyle/>
          <a:p>
            <a:pPr indent="0" marL="0">
              <a:buNone/>
            </a:pPr>
            <a:r>
              <a:rPr lang="en-US" sz="1800" b="1" dirty="0">
                <a:solidFill>
                  <a:schemeClr val="tx2"/>
                </a:solidFill>
              </a:rPr>
              <a:t>Organised data</a:t>
            </a:r>
            <a:endParaRPr lang="en-US" sz="1800" dirty="0"/>
          </a:p>
        </p:txBody>
      </p:sp>
      <p:sp>
        <p:nvSpPr>
          <p:cNvPr id="7" name="Text 4"/>
          <p:cNvSpPr txBox="1"/>
          <p:nvPr/>
        </p:nvSpPr>
        <p:spPr>
          <a:xfrm>
            <a:off x="822960" y="288036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Store employees, skills and predictions in a normalised MySQL database</a:t>
            </a:r>
            <a:endParaRPr lang="en-US" sz="1400" dirty="0"/>
          </a:p>
        </p:txBody>
      </p:sp>
      <p:sp>
        <p:nvSpPr>
          <p:cNvPr id="8" name="objective 2 card"/>
          <p:cNvSpPr/>
          <p:nvPr/>
        </p:nvSpPr>
        <p:spPr>
          <a:xfrm>
            <a:off x="4297680" y="1417320"/>
            <a:ext cx="3520440"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9" name="Accurate prediction icon circle"/>
          <p:cNvSpPr/>
          <p:nvPr/>
        </p:nvSpPr>
        <p:spPr>
          <a:xfrm>
            <a:off x="4572000" y="1691640"/>
            <a:ext cx="685800" cy="685800"/>
          </a:xfrm>
          <a:prstGeom prst="ellipse">
            <a:avLst/>
          </a:prstGeom>
          <a:solidFill>
            <a:schemeClr val="accent2"/>
          </a:solidFill>
          <a:ln/>
        </p:spPr>
      </p:sp>
      <p:pic>
        <p:nvPicPr>
          <p:cNvPr id="10" name="Accurate prediction icon" descr="Accurate prediction">    </p:cNvPr>
          <p:cNvPicPr>
            <a:picLocks noChangeAspect="1"/>
          </p:cNvPicPr>
          <p:nvPr/>
        </p:nvPicPr>
        <p:blipFill>
          <a:blip r:embed="rId2"/>
          <a:stretch>
            <a:fillRect/>
          </a:stretch>
        </p:blipFill>
        <p:spPr>
          <a:xfrm>
            <a:off x="4743450" y="1863090"/>
            <a:ext cx="342900" cy="342900"/>
          </a:xfrm>
          <a:prstGeom prst="rect">
            <a:avLst/>
          </a:prstGeom>
        </p:spPr>
      </p:pic>
      <p:sp>
        <p:nvSpPr>
          <p:cNvPr id="11" name="Text 7"/>
          <p:cNvSpPr txBox="1"/>
          <p:nvPr/>
        </p:nvSpPr>
        <p:spPr>
          <a:xfrm>
            <a:off x="4572000" y="2514600"/>
            <a:ext cx="3017520" cy="365760"/>
          </a:xfrm>
          <a:prstGeom prst="rect">
            <a:avLst/>
          </a:prstGeom>
          <a:noFill/>
          <a:ln/>
        </p:spPr>
        <p:txBody>
          <a:bodyPr wrap="square" lIns="0" tIns="0" rIns="0" bIns="0" rtlCol="0" anchor="t"/>
          <a:lstStyle/>
          <a:p>
            <a:pPr indent="0" marL="0">
              <a:buNone/>
            </a:pPr>
            <a:r>
              <a:rPr lang="en-US" sz="1800" b="1" dirty="0">
                <a:solidFill>
                  <a:schemeClr val="tx2"/>
                </a:solidFill>
              </a:rPr>
              <a:t>Accurate prediction</a:t>
            </a:r>
            <a:endParaRPr lang="en-US" sz="1800" dirty="0"/>
          </a:p>
        </p:txBody>
      </p:sp>
      <p:sp>
        <p:nvSpPr>
          <p:cNvPr id="12" name="Text 8"/>
          <p:cNvSpPr txBox="1"/>
          <p:nvPr/>
        </p:nvSpPr>
        <p:spPr>
          <a:xfrm>
            <a:off x="4572000" y="288036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Build a regression model with R² above 0.9</a:t>
            </a:r>
            <a:endParaRPr lang="en-US" sz="1400" dirty="0"/>
          </a:p>
        </p:txBody>
      </p:sp>
      <p:sp>
        <p:nvSpPr>
          <p:cNvPr id="13" name="objective 3 card"/>
          <p:cNvSpPr/>
          <p:nvPr/>
        </p:nvSpPr>
        <p:spPr>
          <a:xfrm>
            <a:off x="8046720" y="1417320"/>
            <a:ext cx="3520440"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14" name="Fair comparison icon circle"/>
          <p:cNvSpPr/>
          <p:nvPr/>
        </p:nvSpPr>
        <p:spPr>
          <a:xfrm>
            <a:off x="8321040" y="1691640"/>
            <a:ext cx="685800" cy="685800"/>
          </a:xfrm>
          <a:prstGeom prst="ellipse">
            <a:avLst/>
          </a:prstGeom>
          <a:solidFill>
            <a:schemeClr val="accent5"/>
          </a:solidFill>
          <a:ln/>
        </p:spPr>
      </p:sp>
      <p:pic>
        <p:nvPicPr>
          <p:cNvPr id="15" name="Fair comparison icon" descr="Fair comparison">    </p:cNvPr>
          <p:cNvPicPr>
            <a:picLocks noChangeAspect="1"/>
          </p:cNvPicPr>
          <p:nvPr/>
        </p:nvPicPr>
        <p:blipFill>
          <a:blip r:embed="rId3"/>
          <a:stretch>
            <a:fillRect/>
          </a:stretch>
        </p:blipFill>
        <p:spPr>
          <a:xfrm>
            <a:off x="8492490" y="1863090"/>
            <a:ext cx="342900" cy="342900"/>
          </a:xfrm>
          <a:prstGeom prst="rect">
            <a:avLst/>
          </a:prstGeom>
        </p:spPr>
      </p:pic>
      <p:sp>
        <p:nvSpPr>
          <p:cNvPr id="16" name="Text 11"/>
          <p:cNvSpPr txBox="1"/>
          <p:nvPr/>
        </p:nvSpPr>
        <p:spPr>
          <a:xfrm>
            <a:off x="8321040" y="2514600"/>
            <a:ext cx="3017520" cy="365760"/>
          </a:xfrm>
          <a:prstGeom prst="rect">
            <a:avLst/>
          </a:prstGeom>
          <a:noFill/>
          <a:ln/>
        </p:spPr>
        <p:txBody>
          <a:bodyPr wrap="square" lIns="0" tIns="0" rIns="0" bIns="0" rtlCol="0" anchor="t"/>
          <a:lstStyle/>
          <a:p>
            <a:pPr indent="0" marL="0">
              <a:buNone/>
            </a:pPr>
            <a:r>
              <a:rPr lang="en-US" sz="1800" b="1" dirty="0">
                <a:solidFill>
                  <a:schemeClr val="tx2"/>
                </a:solidFill>
              </a:rPr>
              <a:t>Fair comparison</a:t>
            </a:r>
            <a:endParaRPr lang="en-US" sz="1800" dirty="0"/>
          </a:p>
        </p:txBody>
      </p:sp>
      <p:sp>
        <p:nvSpPr>
          <p:cNvPr id="17" name="Text 12"/>
          <p:cNvSpPr txBox="1"/>
          <p:nvPr/>
        </p:nvSpPr>
        <p:spPr>
          <a:xfrm>
            <a:off x="8321040" y="288036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Train several algorithms and pick the best automatically</a:t>
            </a:r>
            <a:endParaRPr lang="en-US" sz="1400" dirty="0"/>
          </a:p>
        </p:txBody>
      </p:sp>
      <p:sp>
        <p:nvSpPr>
          <p:cNvPr id="18" name="objective 4 card"/>
          <p:cNvSpPr/>
          <p:nvPr/>
        </p:nvSpPr>
        <p:spPr>
          <a:xfrm>
            <a:off x="548640" y="3794760"/>
            <a:ext cx="3520440"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19" name="Easy web interface icon circle"/>
          <p:cNvSpPr/>
          <p:nvPr/>
        </p:nvSpPr>
        <p:spPr>
          <a:xfrm>
            <a:off x="822960" y="4069080"/>
            <a:ext cx="685800" cy="685800"/>
          </a:xfrm>
          <a:prstGeom prst="ellipse">
            <a:avLst/>
          </a:prstGeom>
          <a:solidFill>
            <a:schemeClr val="accent1"/>
          </a:solidFill>
          <a:ln/>
        </p:spPr>
      </p:sp>
      <p:pic>
        <p:nvPicPr>
          <p:cNvPr id="20" name="Easy web interface icon" descr="Easy web interface">    </p:cNvPr>
          <p:cNvPicPr>
            <a:picLocks noChangeAspect="1"/>
          </p:cNvPicPr>
          <p:nvPr/>
        </p:nvPicPr>
        <p:blipFill>
          <a:blip r:embed="rId4"/>
          <a:stretch>
            <a:fillRect/>
          </a:stretch>
        </p:blipFill>
        <p:spPr>
          <a:xfrm>
            <a:off x="994410" y="4240530"/>
            <a:ext cx="342900" cy="342900"/>
          </a:xfrm>
          <a:prstGeom prst="rect">
            <a:avLst/>
          </a:prstGeom>
        </p:spPr>
      </p:pic>
      <p:sp>
        <p:nvSpPr>
          <p:cNvPr id="21" name="Text 15"/>
          <p:cNvSpPr txBox="1"/>
          <p:nvPr/>
        </p:nvSpPr>
        <p:spPr>
          <a:xfrm>
            <a:off x="822960" y="4892040"/>
            <a:ext cx="3017520" cy="365760"/>
          </a:xfrm>
          <a:prstGeom prst="rect">
            <a:avLst/>
          </a:prstGeom>
          <a:noFill/>
          <a:ln/>
        </p:spPr>
        <p:txBody>
          <a:bodyPr wrap="square" lIns="0" tIns="0" rIns="0" bIns="0" rtlCol="0" anchor="t"/>
          <a:lstStyle/>
          <a:p>
            <a:pPr indent="0" marL="0">
              <a:buNone/>
            </a:pPr>
            <a:r>
              <a:rPr lang="en-US" sz="1800" b="1" dirty="0">
                <a:solidFill>
                  <a:schemeClr val="tx2"/>
                </a:solidFill>
              </a:rPr>
              <a:t>Easy web interface</a:t>
            </a:r>
            <a:endParaRPr lang="en-US" sz="1800" dirty="0"/>
          </a:p>
        </p:txBody>
      </p:sp>
      <p:sp>
        <p:nvSpPr>
          <p:cNvPr id="22" name="Text 16"/>
          <p:cNvSpPr txBox="1"/>
          <p:nvPr/>
        </p:nvSpPr>
        <p:spPr>
          <a:xfrm>
            <a:off x="822960" y="525780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Input screen for details, output screen with the salary</a:t>
            </a:r>
            <a:endParaRPr lang="en-US" sz="1400" dirty="0"/>
          </a:p>
        </p:txBody>
      </p:sp>
      <p:sp>
        <p:nvSpPr>
          <p:cNvPr id="23" name="objective 5 card"/>
          <p:cNvSpPr/>
          <p:nvPr/>
        </p:nvSpPr>
        <p:spPr>
          <a:xfrm>
            <a:off x="4297680" y="3794760"/>
            <a:ext cx="3520440"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24" name="Explainable results icon circle"/>
          <p:cNvSpPr/>
          <p:nvPr/>
        </p:nvSpPr>
        <p:spPr>
          <a:xfrm>
            <a:off x="4572000" y="4069080"/>
            <a:ext cx="685800" cy="685800"/>
          </a:xfrm>
          <a:prstGeom prst="ellipse">
            <a:avLst/>
          </a:prstGeom>
          <a:solidFill>
            <a:schemeClr val="accent3"/>
          </a:solidFill>
          <a:ln/>
        </p:spPr>
      </p:sp>
      <p:pic>
        <p:nvPicPr>
          <p:cNvPr id="25" name="Explainable results icon" descr="Explainable results">    </p:cNvPr>
          <p:cNvPicPr>
            <a:picLocks noChangeAspect="1"/>
          </p:cNvPicPr>
          <p:nvPr/>
        </p:nvPicPr>
        <p:blipFill>
          <a:blip r:embed="rId5"/>
          <a:stretch>
            <a:fillRect/>
          </a:stretch>
        </p:blipFill>
        <p:spPr>
          <a:xfrm>
            <a:off x="4743450" y="4240530"/>
            <a:ext cx="342900" cy="342900"/>
          </a:xfrm>
          <a:prstGeom prst="rect">
            <a:avLst/>
          </a:prstGeom>
        </p:spPr>
      </p:pic>
      <p:sp>
        <p:nvSpPr>
          <p:cNvPr id="26" name="Text 19"/>
          <p:cNvSpPr txBox="1"/>
          <p:nvPr/>
        </p:nvSpPr>
        <p:spPr>
          <a:xfrm>
            <a:off x="4572000" y="4892040"/>
            <a:ext cx="3017520" cy="365760"/>
          </a:xfrm>
          <a:prstGeom prst="rect">
            <a:avLst/>
          </a:prstGeom>
          <a:noFill/>
          <a:ln/>
        </p:spPr>
        <p:txBody>
          <a:bodyPr wrap="square" lIns="0" tIns="0" rIns="0" bIns="0" rtlCol="0" anchor="t"/>
          <a:lstStyle/>
          <a:p>
            <a:pPr indent="0" marL="0">
              <a:buNone/>
            </a:pPr>
            <a:r>
              <a:rPr lang="en-US" sz="1800" b="1" dirty="0">
                <a:solidFill>
                  <a:schemeClr val="tx2"/>
                </a:solidFill>
              </a:rPr>
              <a:t>Explainable results</a:t>
            </a:r>
            <a:endParaRPr lang="en-US" sz="1800" dirty="0"/>
          </a:p>
        </p:txBody>
      </p:sp>
      <p:sp>
        <p:nvSpPr>
          <p:cNvPr id="27" name="Text 20"/>
          <p:cNvSpPr txBox="1"/>
          <p:nvPr/>
        </p:nvSpPr>
        <p:spPr>
          <a:xfrm>
            <a:off x="4572000" y="525780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Range, percentile, growth and what-if analysis</a:t>
            </a:r>
            <a:endParaRPr lang="en-US" sz="1400" dirty="0"/>
          </a:p>
        </p:txBody>
      </p:sp>
      <p:sp>
        <p:nvSpPr>
          <p:cNvPr id="28" name="objective 6 card"/>
          <p:cNvSpPr/>
          <p:nvPr/>
        </p:nvSpPr>
        <p:spPr>
          <a:xfrm>
            <a:off x="8046720" y="3794760"/>
            <a:ext cx="3520440"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29" name="Keeps improving icon circle"/>
          <p:cNvSpPr/>
          <p:nvPr/>
        </p:nvSpPr>
        <p:spPr>
          <a:xfrm>
            <a:off x="8321040" y="4069080"/>
            <a:ext cx="685800" cy="685800"/>
          </a:xfrm>
          <a:prstGeom prst="ellipse">
            <a:avLst/>
          </a:prstGeom>
          <a:solidFill>
            <a:schemeClr val="accent2"/>
          </a:solidFill>
          <a:ln/>
        </p:spPr>
      </p:sp>
      <p:pic>
        <p:nvPicPr>
          <p:cNvPr id="30" name="Keeps improving icon" descr="Keeps improving">    </p:cNvPr>
          <p:cNvPicPr>
            <a:picLocks noChangeAspect="1"/>
          </p:cNvPicPr>
          <p:nvPr/>
        </p:nvPicPr>
        <p:blipFill>
          <a:blip r:embed="rId6"/>
          <a:stretch>
            <a:fillRect/>
          </a:stretch>
        </p:blipFill>
        <p:spPr>
          <a:xfrm>
            <a:off x="8492490" y="4240530"/>
            <a:ext cx="342900" cy="342900"/>
          </a:xfrm>
          <a:prstGeom prst="rect">
            <a:avLst/>
          </a:prstGeom>
        </p:spPr>
      </p:pic>
      <p:sp>
        <p:nvSpPr>
          <p:cNvPr id="31" name="Text 23"/>
          <p:cNvSpPr txBox="1"/>
          <p:nvPr/>
        </p:nvSpPr>
        <p:spPr>
          <a:xfrm>
            <a:off x="8321040" y="4892040"/>
            <a:ext cx="3017520" cy="365760"/>
          </a:xfrm>
          <a:prstGeom prst="rect">
            <a:avLst/>
          </a:prstGeom>
          <a:noFill/>
          <a:ln/>
        </p:spPr>
        <p:txBody>
          <a:bodyPr wrap="square" lIns="0" tIns="0" rIns="0" bIns="0" rtlCol="0" anchor="t"/>
          <a:lstStyle/>
          <a:p>
            <a:pPr indent="0" marL="0">
              <a:buNone/>
            </a:pPr>
            <a:r>
              <a:rPr lang="en-US" sz="1800" b="1" dirty="0">
                <a:solidFill>
                  <a:schemeClr val="tx2"/>
                </a:solidFill>
              </a:rPr>
              <a:t>Keeps improving</a:t>
            </a:r>
            <a:endParaRPr lang="en-US" sz="1800" dirty="0"/>
          </a:p>
        </p:txBody>
      </p:sp>
      <p:sp>
        <p:nvSpPr>
          <p:cNvPr id="32" name="Text 24"/>
          <p:cNvSpPr txBox="1"/>
          <p:nvPr/>
        </p:nvSpPr>
        <p:spPr>
          <a:xfrm>
            <a:off x="8321040" y="525780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Add new records and retrain from the browser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Existing system vs proposed system</a:t>
            </a:r>
            <a:endParaRPr lang="en-US" sz="3400" dirty="0"/>
          </a:p>
        </p:txBody>
      </p:sp>
      <p:sp>
        <p:nvSpPr>
          <p:cNvPr id="3" name="existing card"/>
          <p:cNvSpPr/>
          <p:nvPr/>
        </p:nvSpPr>
        <p:spPr>
          <a:xfrm>
            <a:off x="548640" y="1417320"/>
            <a:ext cx="5349240" cy="4663440"/>
          </a:xfrm>
          <a:prstGeom prst="roundRect">
            <a:avLst>
              <a:gd name="adj" fmla="val 2353"/>
            </a:avLst>
          </a:prstGeom>
          <a:solidFill>
            <a:schemeClr val="bg2"/>
          </a:solidFill>
          <a:ln/>
        </p:spPr>
      </p:sp>
      <p:sp>
        <p:nvSpPr>
          <p:cNvPr id="4" name="proposed card"/>
          <p:cNvSpPr/>
          <p:nvPr/>
        </p:nvSpPr>
        <p:spPr>
          <a:xfrm>
            <a:off x="6291072" y="1417320"/>
            <a:ext cx="5349240" cy="4663440"/>
          </a:xfrm>
          <a:prstGeom prst="roundRect">
            <a:avLst>
              <a:gd name="adj" fmla="val 2353"/>
            </a:avLst>
          </a:prstGeom>
          <a:solidFill>
            <a:schemeClr val="tx2"/>
          </a:solidFill>
          <a:ln/>
        </p:spPr>
      </p:sp>
      <p:sp>
        <p:nvSpPr>
          <p:cNvPr id="5" name="Text 3"/>
          <p:cNvSpPr txBox="1"/>
          <p:nvPr/>
        </p:nvSpPr>
        <p:spPr>
          <a:xfrm>
            <a:off x="914400" y="1691640"/>
            <a:ext cx="4663440" cy="457200"/>
          </a:xfrm>
          <a:prstGeom prst="rect">
            <a:avLst/>
          </a:prstGeom>
          <a:noFill/>
          <a:ln/>
        </p:spPr>
        <p:txBody>
          <a:bodyPr wrap="square" lIns="0" tIns="0" rIns="0" bIns="0" rtlCol="0" anchor="t"/>
          <a:lstStyle/>
          <a:p>
            <a:pPr indent="0" marL="0">
              <a:buNone/>
            </a:pPr>
            <a:r>
              <a:rPr lang="en-US" sz="2000" b="1" dirty="0">
                <a:solidFill>
                  <a:schemeClr val="tx2"/>
                </a:solidFill>
              </a:rPr>
              <a:t>Existing: manual / spreadsheet</a:t>
            </a:r>
            <a:endParaRPr lang="en-US" sz="2000" dirty="0"/>
          </a:p>
        </p:txBody>
      </p:sp>
      <p:sp>
        <p:nvSpPr>
          <p:cNvPr id="6" name="Text 4"/>
          <p:cNvSpPr txBox="1"/>
          <p:nvPr/>
        </p:nvSpPr>
        <p:spPr>
          <a:xfrm>
            <a:off x="6656832" y="1691640"/>
            <a:ext cx="4663440" cy="457200"/>
          </a:xfrm>
          <a:prstGeom prst="rect">
            <a:avLst/>
          </a:prstGeom>
          <a:noFill/>
          <a:ln/>
        </p:spPr>
        <p:txBody>
          <a:bodyPr wrap="square" lIns="0" tIns="0" rIns="0" bIns="0" rtlCol="0" anchor="t"/>
          <a:lstStyle/>
          <a:p>
            <a:pPr indent="0" marL="0">
              <a:buNone/>
            </a:pPr>
            <a:r>
              <a:rPr lang="en-US" sz="2000" b="1" dirty="0">
                <a:solidFill>
                  <a:schemeClr val="bg1"/>
                </a:solidFill>
              </a:rPr>
              <a:t>Proposed: ML web application</a:t>
            </a:r>
            <a:endParaRPr lang="en-US" sz="2000" dirty="0"/>
          </a:p>
        </p:txBody>
      </p:sp>
      <p:pic>
        <p:nvPicPr>
          <p:cNvPr id="7" name="existing 1 cross" descr="preencoded.png">    </p:cNvPr>
          <p:cNvPicPr>
            <a:picLocks noChangeAspect="1"/>
          </p:cNvPicPr>
          <p:nvPr/>
        </p:nvPicPr>
        <p:blipFill>
          <a:blip r:embed="rId1"/>
          <a:stretch>
            <a:fillRect/>
          </a:stretch>
        </p:blipFill>
        <p:spPr>
          <a:xfrm>
            <a:off x="914400" y="2441448"/>
            <a:ext cx="256032" cy="256032"/>
          </a:xfrm>
          <a:prstGeom prst="rect">
            <a:avLst/>
          </a:prstGeom>
        </p:spPr>
      </p:pic>
      <p:sp>
        <p:nvSpPr>
          <p:cNvPr id="8" name="Text 5"/>
          <p:cNvSpPr txBox="1"/>
          <p:nvPr/>
        </p:nvSpPr>
        <p:spPr>
          <a:xfrm>
            <a:off x="1325880" y="2377440"/>
            <a:ext cx="4297680" cy="411480"/>
          </a:xfrm>
          <a:prstGeom prst="rect">
            <a:avLst/>
          </a:prstGeom>
          <a:noFill/>
          <a:ln/>
        </p:spPr>
        <p:txBody>
          <a:bodyPr wrap="square" lIns="0" tIns="0" rIns="0" bIns="0" rtlCol="0" anchor="ctr"/>
          <a:lstStyle/>
          <a:p>
            <a:pPr indent="0" marL="0">
              <a:buNone/>
            </a:pPr>
            <a:r>
              <a:rPr lang="en-US" sz="1600" dirty="0">
                <a:solidFill>
                  <a:schemeClr val="tx1"/>
                </a:solidFill>
              </a:rPr>
              <a:t>Gut feeling and fixed pay bands</a:t>
            </a:r>
            <a:endParaRPr lang="en-US" sz="1600" dirty="0"/>
          </a:p>
        </p:txBody>
      </p:sp>
      <p:pic>
        <p:nvPicPr>
          <p:cNvPr id="9" name="proposed 1 check" descr="preencoded.png">    </p:cNvPr>
          <p:cNvPicPr>
            <a:picLocks noChangeAspect="1"/>
          </p:cNvPicPr>
          <p:nvPr/>
        </p:nvPicPr>
        <p:blipFill>
          <a:blip r:embed="rId2"/>
          <a:stretch>
            <a:fillRect/>
          </a:stretch>
        </p:blipFill>
        <p:spPr>
          <a:xfrm>
            <a:off x="6656832" y="2441448"/>
            <a:ext cx="256032" cy="256032"/>
          </a:xfrm>
          <a:prstGeom prst="rect">
            <a:avLst/>
          </a:prstGeom>
        </p:spPr>
      </p:pic>
      <p:sp>
        <p:nvSpPr>
          <p:cNvPr id="10" name="Text 6"/>
          <p:cNvSpPr txBox="1"/>
          <p:nvPr/>
        </p:nvSpPr>
        <p:spPr>
          <a:xfrm>
            <a:off x="7068312" y="2377440"/>
            <a:ext cx="4297680" cy="411480"/>
          </a:xfrm>
          <a:prstGeom prst="rect">
            <a:avLst/>
          </a:prstGeom>
          <a:noFill/>
          <a:ln/>
        </p:spPr>
        <p:txBody>
          <a:bodyPr wrap="square" lIns="0" tIns="0" rIns="0" bIns="0" rtlCol="0" anchor="ctr"/>
          <a:lstStyle/>
          <a:p>
            <a:pPr indent="0" marL="0">
              <a:buNone/>
            </a:pPr>
            <a:r>
              <a:rPr lang="en-US" sz="1600" dirty="0">
                <a:solidFill>
                  <a:schemeClr val="bg1"/>
                </a:solidFill>
              </a:rPr>
              <a:t>Learns from historical MySQL data</a:t>
            </a:r>
            <a:endParaRPr lang="en-US" sz="1600" dirty="0"/>
          </a:p>
        </p:txBody>
      </p:sp>
      <p:pic>
        <p:nvPicPr>
          <p:cNvPr id="11" name="existing 2 cross" descr="preencoded.png">    </p:cNvPr>
          <p:cNvPicPr>
            <a:picLocks noChangeAspect="1"/>
          </p:cNvPicPr>
          <p:nvPr/>
        </p:nvPicPr>
        <p:blipFill>
          <a:blip r:embed="rId3"/>
          <a:stretch>
            <a:fillRect/>
          </a:stretch>
        </p:blipFill>
        <p:spPr>
          <a:xfrm>
            <a:off x="914400" y="3044952"/>
            <a:ext cx="256032" cy="256032"/>
          </a:xfrm>
          <a:prstGeom prst="rect">
            <a:avLst/>
          </a:prstGeom>
        </p:spPr>
      </p:pic>
      <p:sp>
        <p:nvSpPr>
          <p:cNvPr id="12" name="Text 7"/>
          <p:cNvSpPr txBox="1"/>
          <p:nvPr/>
        </p:nvSpPr>
        <p:spPr>
          <a:xfrm>
            <a:off x="1325880" y="2980944"/>
            <a:ext cx="4297680" cy="411480"/>
          </a:xfrm>
          <a:prstGeom prst="rect">
            <a:avLst/>
          </a:prstGeom>
          <a:noFill/>
          <a:ln/>
        </p:spPr>
        <p:txBody>
          <a:bodyPr wrap="square" lIns="0" tIns="0" rIns="0" bIns="0" rtlCol="0" anchor="ctr"/>
          <a:lstStyle/>
          <a:p>
            <a:pPr indent="0" marL="0">
              <a:buNone/>
            </a:pPr>
            <a:r>
              <a:rPr lang="en-US" sz="1600" dirty="0">
                <a:solidFill>
                  <a:schemeClr val="tx1"/>
                </a:solidFill>
              </a:rPr>
              <a:t>Only 2–3 factors considered</a:t>
            </a:r>
            <a:endParaRPr lang="en-US" sz="1600" dirty="0"/>
          </a:p>
        </p:txBody>
      </p:sp>
      <p:pic>
        <p:nvPicPr>
          <p:cNvPr id="13" name="proposed 2 check" descr="preencoded.png">    </p:cNvPr>
          <p:cNvPicPr>
            <a:picLocks noChangeAspect="1"/>
          </p:cNvPicPr>
          <p:nvPr/>
        </p:nvPicPr>
        <p:blipFill>
          <a:blip r:embed="rId4"/>
          <a:stretch>
            <a:fillRect/>
          </a:stretch>
        </p:blipFill>
        <p:spPr>
          <a:xfrm>
            <a:off x="6656832" y="3044952"/>
            <a:ext cx="256032" cy="256032"/>
          </a:xfrm>
          <a:prstGeom prst="rect">
            <a:avLst/>
          </a:prstGeom>
        </p:spPr>
      </p:pic>
      <p:sp>
        <p:nvSpPr>
          <p:cNvPr id="14" name="Text 8"/>
          <p:cNvSpPr txBox="1"/>
          <p:nvPr/>
        </p:nvSpPr>
        <p:spPr>
          <a:xfrm>
            <a:off x="7068312" y="2980944"/>
            <a:ext cx="4297680" cy="411480"/>
          </a:xfrm>
          <a:prstGeom prst="rect">
            <a:avLst/>
          </a:prstGeom>
          <a:noFill/>
          <a:ln/>
        </p:spPr>
        <p:txBody>
          <a:bodyPr wrap="square" lIns="0" tIns="0" rIns="0" bIns="0" rtlCol="0" anchor="ctr"/>
          <a:lstStyle/>
          <a:p>
            <a:pPr indent="0" marL="0">
              <a:buNone/>
            </a:pPr>
            <a:r>
              <a:rPr lang="en-US" sz="1600" dirty="0">
                <a:solidFill>
                  <a:schemeClr val="bg1"/>
                </a:solidFill>
              </a:rPr>
              <a:t>14 inputs including 10 skills</a:t>
            </a:r>
            <a:endParaRPr lang="en-US" sz="1600" dirty="0"/>
          </a:p>
        </p:txBody>
      </p:sp>
      <p:pic>
        <p:nvPicPr>
          <p:cNvPr id="15" name="existing 3 cross" descr="preencoded.png">    </p:cNvPr>
          <p:cNvPicPr>
            <a:picLocks noChangeAspect="1"/>
          </p:cNvPicPr>
          <p:nvPr/>
        </p:nvPicPr>
        <p:blipFill>
          <a:blip r:embed="rId5"/>
          <a:stretch>
            <a:fillRect/>
          </a:stretch>
        </p:blipFill>
        <p:spPr>
          <a:xfrm>
            <a:off x="914400" y="3648456"/>
            <a:ext cx="256032" cy="256032"/>
          </a:xfrm>
          <a:prstGeom prst="rect">
            <a:avLst/>
          </a:prstGeom>
        </p:spPr>
      </p:pic>
      <p:sp>
        <p:nvSpPr>
          <p:cNvPr id="16" name="Text 9"/>
          <p:cNvSpPr txBox="1"/>
          <p:nvPr/>
        </p:nvSpPr>
        <p:spPr>
          <a:xfrm>
            <a:off x="1325880" y="3584448"/>
            <a:ext cx="4297680" cy="411480"/>
          </a:xfrm>
          <a:prstGeom prst="rect">
            <a:avLst/>
          </a:prstGeom>
          <a:noFill/>
          <a:ln/>
        </p:spPr>
        <p:txBody>
          <a:bodyPr wrap="square" lIns="0" tIns="0" rIns="0" bIns="0" rtlCol="0" anchor="ctr"/>
          <a:lstStyle/>
          <a:p>
            <a:pPr indent="0" marL="0">
              <a:buNone/>
            </a:pPr>
            <a:r>
              <a:rPr lang="en-US" sz="1600" dirty="0">
                <a:solidFill>
                  <a:schemeClr val="tx1"/>
                </a:solidFill>
              </a:rPr>
              <a:t>Slow, case-by-case review</a:t>
            </a:r>
            <a:endParaRPr lang="en-US" sz="1600" dirty="0"/>
          </a:p>
        </p:txBody>
      </p:sp>
      <p:pic>
        <p:nvPicPr>
          <p:cNvPr id="17" name="proposed 3 check" descr="preencoded.png">    </p:cNvPr>
          <p:cNvPicPr>
            <a:picLocks noChangeAspect="1"/>
          </p:cNvPicPr>
          <p:nvPr/>
        </p:nvPicPr>
        <p:blipFill>
          <a:blip r:embed="rId6"/>
          <a:stretch>
            <a:fillRect/>
          </a:stretch>
        </p:blipFill>
        <p:spPr>
          <a:xfrm>
            <a:off x="6656832" y="3648456"/>
            <a:ext cx="256032" cy="256032"/>
          </a:xfrm>
          <a:prstGeom prst="rect">
            <a:avLst/>
          </a:prstGeom>
        </p:spPr>
      </p:pic>
      <p:sp>
        <p:nvSpPr>
          <p:cNvPr id="18" name="Text 10"/>
          <p:cNvSpPr txBox="1"/>
          <p:nvPr/>
        </p:nvSpPr>
        <p:spPr>
          <a:xfrm>
            <a:off x="7068312" y="3584448"/>
            <a:ext cx="4297680" cy="411480"/>
          </a:xfrm>
          <a:prstGeom prst="rect">
            <a:avLst/>
          </a:prstGeom>
          <a:noFill/>
          <a:ln/>
        </p:spPr>
        <p:txBody>
          <a:bodyPr wrap="square" lIns="0" tIns="0" rIns="0" bIns="0" rtlCol="0" anchor="ctr"/>
          <a:lstStyle/>
          <a:p>
            <a:pPr indent="0" marL="0">
              <a:buNone/>
            </a:pPr>
            <a:r>
              <a:rPr lang="en-US" sz="1600" dirty="0">
                <a:solidFill>
                  <a:schemeClr val="bg1"/>
                </a:solidFill>
              </a:rPr>
              <a:t>Instant prediction in the browser</a:t>
            </a:r>
            <a:endParaRPr lang="en-US" sz="1600" dirty="0"/>
          </a:p>
        </p:txBody>
      </p:sp>
      <p:pic>
        <p:nvPicPr>
          <p:cNvPr id="19" name="existing 4 cross" descr="preencoded.png">    </p:cNvPr>
          <p:cNvPicPr>
            <a:picLocks noChangeAspect="1"/>
          </p:cNvPicPr>
          <p:nvPr/>
        </p:nvPicPr>
        <p:blipFill>
          <a:blip r:embed="rId7"/>
          <a:stretch>
            <a:fillRect/>
          </a:stretch>
        </p:blipFill>
        <p:spPr>
          <a:xfrm>
            <a:off x="914400" y="4251960"/>
            <a:ext cx="256032" cy="256032"/>
          </a:xfrm>
          <a:prstGeom prst="rect">
            <a:avLst/>
          </a:prstGeom>
        </p:spPr>
      </p:pic>
      <p:sp>
        <p:nvSpPr>
          <p:cNvPr id="20" name="Text 11"/>
          <p:cNvSpPr txBox="1"/>
          <p:nvPr/>
        </p:nvSpPr>
        <p:spPr>
          <a:xfrm>
            <a:off x="1325880" y="4187952"/>
            <a:ext cx="4297680" cy="411480"/>
          </a:xfrm>
          <a:prstGeom prst="rect">
            <a:avLst/>
          </a:prstGeom>
          <a:noFill/>
          <a:ln/>
        </p:spPr>
        <p:txBody>
          <a:bodyPr wrap="square" lIns="0" tIns="0" rIns="0" bIns="0" rtlCol="0" anchor="ctr"/>
          <a:lstStyle/>
          <a:p>
            <a:pPr indent="0" marL="0">
              <a:buNone/>
            </a:pPr>
            <a:r>
              <a:rPr lang="en-US" sz="1600" dirty="0">
                <a:solidFill>
                  <a:schemeClr val="tx1"/>
                </a:solidFill>
              </a:rPr>
              <a:t>Same profile, different answers</a:t>
            </a:r>
            <a:endParaRPr lang="en-US" sz="1600" dirty="0"/>
          </a:p>
        </p:txBody>
      </p:sp>
      <p:pic>
        <p:nvPicPr>
          <p:cNvPr id="21" name="proposed 4 check" descr="preencoded.png">    </p:cNvPr>
          <p:cNvPicPr>
            <a:picLocks noChangeAspect="1"/>
          </p:cNvPicPr>
          <p:nvPr/>
        </p:nvPicPr>
        <p:blipFill>
          <a:blip r:embed="rId8"/>
          <a:stretch>
            <a:fillRect/>
          </a:stretch>
        </p:blipFill>
        <p:spPr>
          <a:xfrm>
            <a:off x="6656832" y="4251960"/>
            <a:ext cx="256032" cy="256032"/>
          </a:xfrm>
          <a:prstGeom prst="rect">
            <a:avLst/>
          </a:prstGeom>
        </p:spPr>
      </p:pic>
      <p:sp>
        <p:nvSpPr>
          <p:cNvPr id="22" name="Text 12"/>
          <p:cNvSpPr txBox="1"/>
          <p:nvPr/>
        </p:nvSpPr>
        <p:spPr>
          <a:xfrm>
            <a:off x="7068312" y="4187952"/>
            <a:ext cx="4297680" cy="411480"/>
          </a:xfrm>
          <a:prstGeom prst="rect">
            <a:avLst/>
          </a:prstGeom>
          <a:noFill/>
          <a:ln/>
        </p:spPr>
        <p:txBody>
          <a:bodyPr wrap="square" lIns="0" tIns="0" rIns="0" bIns="0" rtlCol="0" anchor="ctr"/>
          <a:lstStyle/>
          <a:p>
            <a:pPr indent="0" marL="0">
              <a:buNone/>
            </a:pPr>
            <a:r>
              <a:rPr lang="en-US" sz="1600" dirty="0">
                <a:solidFill>
                  <a:schemeClr val="bg1"/>
                </a:solidFill>
              </a:rPr>
              <a:t>Consistent, repeatable results</a:t>
            </a:r>
            <a:endParaRPr lang="en-US" sz="1600" dirty="0"/>
          </a:p>
        </p:txBody>
      </p:sp>
      <p:pic>
        <p:nvPicPr>
          <p:cNvPr id="23" name="existing 5 cross" descr="preencoded.png">    </p:cNvPr>
          <p:cNvPicPr>
            <a:picLocks noChangeAspect="1"/>
          </p:cNvPicPr>
          <p:nvPr/>
        </p:nvPicPr>
        <p:blipFill>
          <a:blip r:embed="rId9"/>
          <a:stretch>
            <a:fillRect/>
          </a:stretch>
        </p:blipFill>
        <p:spPr>
          <a:xfrm>
            <a:off x="914400" y="4855464"/>
            <a:ext cx="256032" cy="256032"/>
          </a:xfrm>
          <a:prstGeom prst="rect">
            <a:avLst/>
          </a:prstGeom>
        </p:spPr>
      </p:pic>
      <p:sp>
        <p:nvSpPr>
          <p:cNvPr id="24" name="Text 13"/>
          <p:cNvSpPr txBox="1"/>
          <p:nvPr/>
        </p:nvSpPr>
        <p:spPr>
          <a:xfrm>
            <a:off x="1325880" y="4791456"/>
            <a:ext cx="4297680" cy="411480"/>
          </a:xfrm>
          <a:prstGeom prst="rect">
            <a:avLst/>
          </a:prstGeom>
          <a:noFill/>
          <a:ln/>
        </p:spPr>
        <p:txBody>
          <a:bodyPr wrap="square" lIns="0" tIns="0" rIns="0" bIns="0" rtlCol="0" anchor="ctr"/>
          <a:lstStyle/>
          <a:p>
            <a:pPr indent="0" marL="0">
              <a:buNone/>
            </a:pPr>
            <a:r>
              <a:rPr lang="en-US" sz="1600" dirty="0">
                <a:solidFill>
                  <a:schemeClr val="tx1"/>
                </a:solidFill>
              </a:rPr>
              <a:t>No explanation or range</a:t>
            </a:r>
            <a:endParaRPr lang="en-US" sz="1600" dirty="0"/>
          </a:p>
        </p:txBody>
      </p:sp>
      <p:pic>
        <p:nvPicPr>
          <p:cNvPr id="25" name="proposed 5 check" descr="preencoded.png">    </p:cNvPr>
          <p:cNvPicPr>
            <a:picLocks noChangeAspect="1"/>
          </p:cNvPicPr>
          <p:nvPr/>
        </p:nvPicPr>
        <p:blipFill>
          <a:blip r:embed="rId10"/>
          <a:stretch>
            <a:fillRect/>
          </a:stretch>
        </p:blipFill>
        <p:spPr>
          <a:xfrm>
            <a:off x="6656832" y="4855464"/>
            <a:ext cx="256032" cy="256032"/>
          </a:xfrm>
          <a:prstGeom prst="rect">
            <a:avLst/>
          </a:prstGeom>
        </p:spPr>
      </p:pic>
      <p:sp>
        <p:nvSpPr>
          <p:cNvPr id="26" name="Text 14"/>
          <p:cNvSpPr txBox="1"/>
          <p:nvPr/>
        </p:nvSpPr>
        <p:spPr>
          <a:xfrm>
            <a:off x="7068312" y="4791456"/>
            <a:ext cx="4297680" cy="411480"/>
          </a:xfrm>
          <a:prstGeom prst="rect">
            <a:avLst/>
          </a:prstGeom>
          <a:noFill/>
          <a:ln/>
        </p:spPr>
        <p:txBody>
          <a:bodyPr wrap="square" lIns="0" tIns="0" rIns="0" bIns="0" rtlCol="0" anchor="ctr"/>
          <a:lstStyle/>
          <a:p>
            <a:pPr indent="0" marL="0">
              <a:buNone/>
            </a:pPr>
            <a:r>
              <a:rPr lang="en-US" sz="1600" dirty="0">
                <a:solidFill>
                  <a:schemeClr val="bg1"/>
                </a:solidFill>
              </a:rPr>
              <a:t>Range, percentile and what-if</a:t>
            </a:r>
            <a:endParaRPr lang="en-US" sz="1600" dirty="0"/>
          </a:p>
        </p:txBody>
      </p:sp>
      <p:pic>
        <p:nvPicPr>
          <p:cNvPr id="27" name="existing 6 cross" descr="preencoded.png">    </p:cNvPr>
          <p:cNvPicPr>
            <a:picLocks noChangeAspect="1"/>
          </p:cNvPicPr>
          <p:nvPr/>
        </p:nvPicPr>
        <p:blipFill>
          <a:blip r:embed="rId11"/>
          <a:stretch>
            <a:fillRect/>
          </a:stretch>
        </p:blipFill>
        <p:spPr>
          <a:xfrm>
            <a:off x="914400" y="5458968"/>
            <a:ext cx="256032" cy="256032"/>
          </a:xfrm>
          <a:prstGeom prst="rect">
            <a:avLst/>
          </a:prstGeom>
        </p:spPr>
      </p:pic>
      <p:sp>
        <p:nvSpPr>
          <p:cNvPr id="28" name="Text 15"/>
          <p:cNvSpPr txBox="1"/>
          <p:nvPr/>
        </p:nvSpPr>
        <p:spPr>
          <a:xfrm>
            <a:off x="1325880" y="5394960"/>
            <a:ext cx="4297680" cy="411480"/>
          </a:xfrm>
          <a:prstGeom prst="rect">
            <a:avLst/>
          </a:prstGeom>
          <a:noFill/>
          <a:ln/>
        </p:spPr>
        <p:txBody>
          <a:bodyPr wrap="square" lIns="0" tIns="0" rIns="0" bIns="0" rtlCol="0" anchor="ctr"/>
          <a:lstStyle/>
          <a:p>
            <a:pPr indent="0" marL="0">
              <a:buNone/>
            </a:pPr>
            <a:r>
              <a:rPr lang="en-US" sz="1600" dirty="0">
                <a:solidFill>
                  <a:schemeClr val="tx1"/>
                </a:solidFill>
              </a:rPr>
              <a:t>Data scattered in Excel files</a:t>
            </a:r>
            <a:endParaRPr lang="en-US" sz="1600" dirty="0"/>
          </a:p>
        </p:txBody>
      </p:sp>
      <p:pic>
        <p:nvPicPr>
          <p:cNvPr id="29" name="proposed 6 check" descr="preencoded.png">    </p:cNvPr>
          <p:cNvPicPr>
            <a:picLocks noChangeAspect="1"/>
          </p:cNvPicPr>
          <p:nvPr/>
        </p:nvPicPr>
        <p:blipFill>
          <a:blip r:embed="rId12"/>
          <a:stretch>
            <a:fillRect/>
          </a:stretch>
        </p:blipFill>
        <p:spPr>
          <a:xfrm>
            <a:off x="6656832" y="5458968"/>
            <a:ext cx="256032" cy="256032"/>
          </a:xfrm>
          <a:prstGeom prst="rect">
            <a:avLst/>
          </a:prstGeom>
        </p:spPr>
      </p:pic>
      <p:sp>
        <p:nvSpPr>
          <p:cNvPr id="30" name="Text 16"/>
          <p:cNvSpPr txBox="1"/>
          <p:nvPr/>
        </p:nvSpPr>
        <p:spPr>
          <a:xfrm>
            <a:off x="7068312" y="5394960"/>
            <a:ext cx="4297680" cy="411480"/>
          </a:xfrm>
          <a:prstGeom prst="rect">
            <a:avLst/>
          </a:prstGeom>
          <a:noFill/>
          <a:ln/>
        </p:spPr>
        <p:txBody>
          <a:bodyPr wrap="square" lIns="0" tIns="0" rIns="0" bIns="0" rtlCol="0" anchor="ctr"/>
          <a:lstStyle/>
          <a:p>
            <a:pPr indent="0" marL="0">
              <a:buNone/>
            </a:pPr>
            <a:r>
              <a:rPr lang="en-US" sz="1600" dirty="0">
                <a:solidFill>
                  <a:schemeClr val="bg1"/>
                </a:solidFill>
              </a:rPr>
              <a:t>Central database, retrain anytime</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Technology stack</a:t>
            </a:r>
            <a:endParaRPr lang="en-US" sz="3400" dirty="0"/>
          </a:p>
        </p:txBody>
      </p:sp>
      <p:sp>
        <p:nvSpPr>
          <p:cNvPr id="3" name="Python 3 tile"/>
          <p:cNvSpPr/>
          <p:nvPr/>
        </p:nvSpPr>
        <p:spPr>
          <a:xfrm>
            <a:off x="548640" y="1463040"/>
            <a:ext cx="2578608"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4" name="Python 3 icon circle"/>
          <p:cNvSpPr/>
          <p:nvPr/>
        </p:nvSpPr>
        <p:spPr>
          <a:xfrm>
            <a:off x="1463040" y="1719072"/>
            <a:ext cx="749808" cy="749808"/>
          </a:xfrm>
          <a:prstGeom prst="ellipse">
            <a:avLst/>
          </a:prstGeom>
          <a:solidFill>
            <a:schemeClr val="accent1"/>
          </a:solidFill>
          <a:ln/>
        </p:spPr>
      </p:sp>
      <p:pic>
        <p:nvPicPr>
          <p:cNvPr id="5" name="Python 3 icon" descr="Python 3">    </p:cNvPr>
          <p:cNvPicPr>
            <a:picLocks noChangeAspect="1"/>
          </p:cNvPicPr>
          <p:nvPr/>
        </p:nvPicPr>
        <p:blipFill>
          <a:blip r:embed="rId1"/>
          <a:stretch>
            <a:fillRect/>
          </a:stretch>
        </p:blipFill>
        <p:spPr>
          <a:xfrm>
            <a:off x="1650492" y="1906524"/>
            <a:ext cx="374904" cy="374904"/>
          </a:xfrm>
          <a:prstGeom prst="rect">
            <a:avLst/>
          </a:prstGeom>
        </p:spPr>
      </p:pic>
      <p:sp>
        <p:nvSpPr>
          <p:cNvPr id="6" name="Text 3"/>
          <p:cNvSpPr txBox="1"/>
          <p:nvPr/>
        </p:nvSpPr>
        <p:spPr>
          <a:xfrm>
            <a:off x="685800" y="2606040"/>
            <a:ext cx="2304288" cy="365760"/>
          </a:xfrm>
          <a:prstGeom prst="rect">
            <a:avLst/>
          </a:prstGeom>
          <a:noFill/>
          <a:ln/>
        </p:spPr>
        <p:txBody>
          <a:bodyPr wrap="square" lIns="0" tIns="0" rIns="0" bIns="0" rtlCol="0" anchor="t"/>
          <a:lstStyle/>
          <a:p>
            <a:pPr algn="ctr" indent="0" marL="0">
              <a:buNone/>
            </a:pPr>
            <a:r>
              <a:rPr lang="en-US" sz="1700" b="1" dirty="0">
                <a:solidFill>
                  <a:schemeClr val="tx2"/>
                </a:solidFill>
              </a:rPr>
              <a:t>Python 3</a:t>
            </a:r>
            <a:endParaRPr lang="en-US" sz="1700" dirty="0"/>
          </a:p>
        </p:txBody>
      </p:sp>
      <p:sp>
        <p:nvSpPr>
          <p:cNvPr id="7" name="Text 4"/>
          <p:cNvSpPr txBox="1"/>
          <p:nvPr/>
        </p:nvSpPr>
        <p:spPr>
          <a:xfrm>
            <a:off x="685800" y="2971800"/>
            <a:ext cx="2304288" cy="457200"/>
          </a:xfrm>
          <a:prstGeom prst="rect">
            <a:avLst/>
          </a:prstGeom>
          <a:noFill/>
          <a:ln/>
        </p:spPr>
        <p:txBody>
          <a:bodyPr wrap="square" lIns="0" tIns="0" rIns="0" bIns="0" rtlCol="0" anchor="t"/>
          <a:lstStyle/>
          <a:p>
            <a:pPr algn="ctr" indent="0" marL="0">
              <a:buNone/>
            </a:pPr>
            <a:r>
              <a:rPr lang="en-US" sz="1300" dirty="0">
                <a:solidFill>
                  <a:schemeClr val="accent6"/>
                </a:solidFill>
              </a:rPr>
              <a:t>Core programming language</a:t>
            </a:r>
            <a:endParaRPr lang="en-US" sz="1300" dirty="0"/>
          </a:p>
        </p:txBody>
      </p:sp>
      <p:sp>
        <p:nvSpPr>
          <p:cNvPr id="8" name="MySQL tile"/>
          <p:cNvSpPr/>
          <p:nvPr/>
        </p:nvSpPr>
        <p:spPr>
          <a:xfrm>
            <a:off x="3355848" y="1463040"/>
            <a:ext cx="2578608"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9" name="MySQL icon circle"/>
          <p:cNvSpPr/>
          <p:nvPr/>
        </p:nvSpPr>
        <p:spPr>
          <a:xfrm>
            <a:off x="4270248" y="1719072"/>
            <a:ext cx="749808" cy="749808"/>
          </a:xfrm>
          <a:prstGeom prst="ellipse">
            <a:avLst/>
          </a:prstGeom>
          <a:solidFill>
            <a:schemeClr val="accent1"/>
          </a:solidFill>
          <a:ln/>
        </p:spPr>
      </p:sp>
      <p:pic>
        <p:nvPicPr>
          <p:cNvPr id="10" name="MySQL icon" descr="MySQL">    </p:cNvPr>
          <p:cNvPicPr>
            <a:picLocks noChangeAspect="1"/>
          </p:cNvPicPr>
          <p:nvPr/>
        </p:nvPicPr>
        <p:blipFill>
          <a:blip r:embed="rId2"/>
          <a:stretch>
            <a:fillRect/>
          </a:stretch>
        </p:blipFill>
        <p:spPr>
          <a:xfrm>
            <a:off x="4457700" y="1906524"/>
            <a:ext cx="374904" cy="374904"/>
          </a:xfrm>
          <a:prstGeom prst="rect">
            <a:avLst/>
          </a:prstGeom>
        </p:spPr>
      </p:pic>
      <p:sp>
        <p:nvSpPr>
          <p:cNvPr id="11" name="Text 7"/>
          <p:cNvSpPr txBox="1"/>
          <p:nvPr/>
        </p:nvSpPr>
        <p:spPr>
          <a:xfrm>
            <a:off x="3493008" y="2606040"/>
            <a:ext cx="2304288" cy="365760"/>
          </a:xfrm>
          <a:prstGeom prst="rect">
            <a:avLst/>
          </a:prstGeom>
          <a:noFill/>
          <a:ln/>
        </p:spPr>
        <p:txBody>
          <a:bodyPr wrap="square" lIns="0" tIns="0" rIns="0" bIns="0" rtlCol="0" anchor="t"/>
          <a:lstStyle/>
          <a:p>
            <a:pPr algn="ctr" indent="0" marL="0">
              <a:buNone/>
            </a:pPr>
            <a:r>
              <a:rPr lang="en-US" sz="1700" b="1" dirty="0">
                <a:solidFill>
                  <a:schemeClr val="tx2"/>
                </a:solidFill>
              </a:rPr>
              <a:t>MySQL</a:t>
            </a:r>
            <a:endParaRPr lang="en-US" sz="1700" dirty="0"/>
          </a:p>
        </p:txBody>
      </p:sp>
      <p:sp>
        <p:nvSpPr>
          <p:cNvPr id="12" name="Text 8"/>
          <p:cNvSpPr txBox="1"/>
          <p:nvPr/>
        </p:nvSpPr>
        <p:spPr>
          <a:xfrm>
            <a:off x="3493008" y="2971800"/>
            <a:ext cx="2304288" cy="457200"/>
          </a:xfrm>
          <a:prstGeom prst="rect">
            <a:avLst/>
          </a:prstGeom>
          <a:noFill/>
          <a:ln/>
        </p:spPr>
        <p:txBody>
          <a:bodyPr wrap="square" lIns="0" tIns="0" rIns="0" bIns="0" rtlCol="0" anchor="t"/>
          <a:lstStyle/>
          <a:p>
            <a:pPr algn="ctr" indent="0" marL="0">
              <a:buNone/>
            </a:pPr>
            <a:r>
              <a:rPr lang="en-US" sz="1300" dirty="0">
                <a:solidFill>
                  <a:schemeClr val="accent6"/>
                </a:solidFill>
              </a:rPr>
              <a:t>Relational database, 5 tables</a:t>
            </a:r>
            <a:endParaRPr lang="en-US" sz="1300" dirty="0"/>
          </a:p>
        </p:txBody>
      </p:sp>
      <p:sp>
        <p:nvSpPr>
          <p:cNvPr id="13" name="scikit-learn tile"/>
          <p:cNvSpPr/>
          <p:nvPr/>
        </p:nvSpPr>
        <p:spPr>
          <a:xfrm>
            <a:off x="6163056" y="1463040"/>
            <a:ext cx="2578608"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14" name="scikit-learn icon circle"/>
          <p:cNvSpPr/>
          <p:nvPr/>
        </p:nvSpPr>
        <p:spPr>
          <a:xfrm>
            <a:off x="7077456" y="1719072"/>
            <a:ext cx="749808" cy="749808"/>
          </a:xfrm>
          <a:prstGeom prst="ellipse">
            <a:avLst/>
          </a:prstGeom>
          <a:solidFill>
            <a:schemeClr val="accent3"/>
          </a:solidFill>
          <a:ln/>
        </p:spPr>
      </p:sp>
      <p:pic>
        <p:nvPicPr>
          <p:cNvPr id="15" name="scikit-learn icon" descr="scikit-learn">    </p:cNvPr>
          <p:cNvPicPr>
            <a:picLocks noChangeAspect="1"/>
          </p:cNvPicPr>
          <p:nvPr/>
        </p:nvPicPr>
        <p:blipFill>
          <a:blip r:embed="rId3"/>
          <a:stretch>
            <a:fillRect/>
          </a:stretch>
        </p:blipFill>
        <p:spPr>
          <a:xfrm>
            <a:off x="7264908" y="1906524"/>
            <a:ext cx="374904" cy="374904"/>
          </a:xfrm>
          <a:prstGeom prst="rect">
            <a:avLst/>
          </a:prstGeom>
        </p:spPr>
      </p:pic>
      <p:sp>
        <p:nvSpPr>
          <p:cNvPr id="16" name="Text 11"/>
          <p:cNvSpPr txBox="1"/>
          <p:nvPr/>
        </p:nvSpPr>
        <p:spPr>
          <a:xfrm>
            <a:off x="6300216" y="2606040"/>
            <a:ext cx="2304288" cy="365760"/>
          </a:xfrm>
          <a:prstGeom prst="rect">
            <a:avLst/>
          </a:prstGeom>
          <a:noFill/>
          <a:ln/>
        </p:spPr>
        <p:txBody>
          <a:bodyPr wrap="square" lIns="0" tIns="0" rIns="0" bIns="0" rtlCol="0" anchor="t"/>
          <a:lstStyle/>
          <a:p>
            <a:pPr algn="ctr" indent="0" marL="0">
              <a:buNone/>
            </a:pPr>
            <a:r>
              <a:rPr lang="en-US" sz="1700" b="1" dirty="0">
                <a:solidFill>
                  <a:schemeClr val="tx2"/>
                </a:solidFill>
              </a:rPr>
              <a:t>scikit-learn</a:t>
            </a:r>
            <a:endParaRPr lang="en-US" sz="1700" dirty="0"/>
          </a:p>
        </p:txBody>
      </p:sp>
      <p:sp>
        <p:nvSpPr>
          <p:cNvPr id="17" name="Text 12"/>
          <p:cNvSpPr txBox="1"/>
          <p:nvPr/>
        </p:nvSpPr>
        <p:spPr>
          <a:xfrm>
            <a:off x="6300216" y="2971800"/>
            <a:ext cx="2304288" cy="457200"/>
          </a:xfrm>
          <a:prstGeom prst="rect">
            <a:avLst/>
          </a:prstGeom>
          <a:noFill/>
          <a:ln/>
        </p:spPr>
        <p:txBody>
          <a:bodyPr wrap="square" lIns="0" tIns="0" rIns="0" bIns="0" rtlCol="0" anchor="t"/>
          <a:lstStyle/>
          <a:p>
            <a:pPr algn="ctr" indent="0" marL="0">
              <a:buNone/>
            </a:pPr>
            <a:r>
              <a:rPr lang="en-US" sz="1300" dirty="0">
                <a:solidFill>
                  <a:schemeClr val="accent6"/>
                </a:solidFill>
              </a:rPr>
              <a:t>Models, pipelines, metrics</a:t>
            </a:r>
            <a:endParaRPr lang="en-US" sz="1300" dirty="0"/>
          </a:p>
        </p:txBody>
      </p:sp>
      <p:sp>
        <p:nvSpPr>
          <p:cNvPr id="18" name="pandas &amp; NumPy tile"/>
          <p:cNvSpPr/>
          <p:nvPr/>
        </p:nvSpPr>
        <p:spPr>
          <a:xfrm>
            <a:off x="8970264" y="1463040"/>
            <a:ext cx="2578608"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19" name="pandas &amp; NumPy icon circle"/>
          <p:cNvSpPr/>
          <p:nvPr/>
        </p:nvSpPr>
        <p:spPr>
          <a:xfrm>
            <a:off x="9884664" y="1719072"/>
            <a:ext cx="749808" cy="749808"/>
          </a:xfrm>
          <a:prstGeom prst="ellipse">
            <a:avLst/>
          </a:prstGeom>
          <a:solidFill>
            <a:schemeClr val="accent5"/>
          </a:solidFill>
          <a:ln/>
        </p:spPr>
      </p:sp>
      <p:pic>
        <p:nvPicPr>
          <p:cNvPr id="20" name="pandas &amp; NumPy icon" descr="pandas &amp; NumPy">    </p:cNvPr>
          <p:cNvPicPr>
            <a:picLocks noChangeAspect="1"/>
          </p:cNvPicPr>
          <p:nvPr/>
        </p:nvPicPr>
        <p:blipFill>
          <a:blip r:embed="rId4"/>
          <a:stretch>
            <a:fillRect/>
          </a:stretch>
        </p:blipFill>
        <p:spPr>
          <a:xfrm>
            <a:off x="10072116" y="1906524"/>
            <a:ext cx="374904" cy="374904"/>
          </a:xfrm>
          <a:prstGeom prst="rect">
            <a:avLst/>
          </a:prstGeom>
        </p:spPr>
      </p:pic>
      <p:sp>
        <p:nvSpPr>
          <p:cNvPr id="21" name="Text 15"/>
          <p:cNvSpPr txBox="1"/>
          <p:nvPr/>
        </p:nvSpPr>
        <p:spPr>
          <a:xfrm>
            <a:off x="9107424" y="2606040"/>
            <a:ext cx="2304288" cy="365760"/>
          </a:xfrm>
          <a:prstGeom prst="rect">
            <a:avLst/>
          </a:prstGeom>
          <a:noFill/>
          <a:ln/>
        </p:spPr>
        <p:txBody>
          <a:bodyPr wrap="square" lIns="0" tIns="0" rIns="0" bIns="0" rtlCol="0" anchor="t"/>
          <a:lstStyle/>
          <a:p>
            <a:pPr algn="ctr" indent="0" marL="0">
              <a:buNone/>
            </a:pPr>
            <a:r>
              <a:rPr lang="en-US" sz="1700" b="1" dirty="0">
                <a:solidFill>
                  <a:schemeClr val="tx2"/>
                </a:solidFill>
              </a:rPr>
              <a:t>pandas &amp; NumPy</a:t>
            </a:r>
            <a:endParaRPr lang="en-US" sz="1700" dirty="0"/>
          </a:p>
        </p:txBody>
      </p:sp>
      <p:sp>
        <p:nvSpPr>
          <p:cNvPr id="22" name="Text 16"/>
          <p:cNvSpPr txBox="1"/>
          <p:nvPr/>
        </p:nvSpPr>
        <p:spPr>
          <a:xfrm>
            <a:off x="9107424" y="2971800"/>
            <a:ext cx="2304288" cy="457200"/>
          </a:xfrm>
          <a:prstGeom prst="rect">
            <a:avLst/>
          </a:prstGeom>
          <a:noFill/>
          <a:ln/>
        </p:spPr>
        <p:txBody>
          <a:bodyPr wrap="square" lIns="0" tIns="0" rIns="0" bIns="0" rtlCol="0" anchor="t"/>
          <a:lstStyle/>
          <a:p>
            <a:pPr algn="ctr" indent="0" marL="0">
              <a:buNone/>
            </a:pPr>
            <a:r>
              <a:rPr lang="en-US" sz="1300" dirty="0">
                <a:solidFill>
                  <a:schemeClr val="accent6"/>
                </a:solidFill>
              </a:rPr>
              <a:t>Data handling and maths</a:t>
            </a:r>
            <a:endParaRPr lang="en-US" sz="1300" dirty="0"/>
          </a:p>
        </p:txBody>
      </p:sp>
      <p:sp>
        <p:nvSpPr>
          <p:cNvPr id="23" name="Flask tile"/>
          <p:cNvSpPr/>
          <p:nvPr/>
        </p:nvSpPr>
        <p:spPr>
          <a:xfrm>
            <a:off x="548640" y="3840480"/>
            <a:ext cx="2578608"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24" name="Flask icon circle"/>
          <p:cNvSpPr/>
          <p:nvPr/>
        </p:nvSpPr>
        <p:spPr>
          <a:xfrm>
            <a:off x="1463040" y="4096512"/>
            <a:ext cx="749808" cy="749808"/>
          </a:xfrm>
          <a:prstGeom prst="ellipse">
            <a:avLst/>
          </a:prstGeom>
          <a:solidFill>
            <a:schemeClr val="tx2"/>
          </a:solidFill>
          <a:ln/>
        </p:spPr>
      </p:sp>
      <p:pic>
        <p:nvPicPr>
          <p:cNvPr id="25" name="Flask icon" descr="Flask">    </p:cNvPr>
          <p:cNvPicPr>
            <a:picLocks noChangeAspect="1"/>
          </p:cNvPicPr>
          <p:nvPr/>
        </p:nvPicPr>
        <p:blipFill>
          <a:blip r:embed="rId5"/>
          <a:stretch>
            <a:fillRect/>
          </a:stretch>
        </p:blipFill>
        <p:spPr>
          <a:xfrm>
            <a:off x="1650492" y="4283964"/>
            <a:ext cx="374904" cy="374904"/>
          </a:xfrm>
          <a:prstGeom prst="rect">
            <a:avLst/>
          </a:prstGeom>
        </p:spPr>
      </p:pic>
      <p:sp>
        <p:nvSpPr>
          <p:cNvPr id="26" name="Text 19"/>
          <p:cNvSpPr txBox="1"/>
          <p:nvPr/>
        </p:nvSpPr>
        <p:spPr>
          <a:xfrm>
            <a:off x="685800" y="4983480"/>
            <a:ext cx="2304288" cy="365760"/>
          </a:xfrm>
          <a:prstGeom prst="rect">
            <a:avLst/>
          </a:prstGeom>
          <a:noFill/>
          <a:ln/>
        </p:spPr>
        <p:txBody>
          <a:bodyPr wrap="square" lIns="0" tIns="0" rIns="0" bIns="0" rtlCol="0" anchor="t"/>
          <a:lstStyle/>
          <a:p>
            <a:pPr algn="ctr" indent="0" marL="0">
              <a:buNone/>
            </a:pPr>
            <a:r>
              <a:rPr lang="en-US" sz="1700" b="1" dirty="0">
                <a:solidFill>
                  <a:schemeClr val="tx2"/>
                </a:solidFill>
              </a:rPr>
              <a:t>Flask</a:t>
            </a:r>
            <a:endParaRPr lang="en-US" sz="1700" dirty="0"/>
          </a:p>
        </p:txBody>
      </p:sp>
      <p:sp>
        <p:nvSpPr>
          <p:cNvPr id="27" name="Text 20"/>
          <p:cNvSpPr txBox="1"/>
          <p:nvPr/>
        </p:nvSpPr>
        <p:spPr>
          <a:xfrm>
            <a:off x="685800" y="5349240"/>
            <a:ext cx="2304288" cy="457200"/>
          </a:xfrm>
          <a:prstGeom prst="rect">
            <a:avLst/>
          </a:prstGeom>
          <a:noFill/>
          <a:ln/>
        </p:spPr>
        <p:txBody>
          <a:bodyPr wrap="square" lIns="0" tIns="0" rIns="0" bIns="0" rtlCol="0" anchor="t"/>
          <a:lstStyle/>
          <a:p>
            <a:pPr algn="ctr" indent="0" marL="0">
              <a:buNone/>
            </a:pPr>
            <a:r>
              <a:rPr lang="en-US" sz="1300" dirty="0">
                <a:solidFill>
                  <a:schemeClr val="accent6"/>
                </a:solidFill>
              </a:rPr>
              <a:t>Web framework and routes</a:t>
            </a:r>
            <a:endParaRPr lang="en-US" sz="1300" dirty="0"/>
          </a:p>
        </p:txBody>
      </p:sp>
      <p:sp>
        <p:nvSpPr>
          <p:cNvPr id="28" name="Chart.js tile"/>
          <p:cNvSpPr/>
          <p:nvPr/>
        </p:nvSpPr>
        <p:spPr>
          <a:xfrm>
            <a:off x="3355848" y="3840480"/>
            <a:ext cx="2578608"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29" name="Chart.js icon circle"/>
          <p:cNvSpPr/>
          <p:nvPr/>
        </p:nvSpPr>
        <p:spPr>
          <a:xfrm>
            <a:off x="4270248" y="4096512"/>
            <a:ext cx="749808" cy="749808"/>
          </a:xfrm>
          <a:prstGeom prst="ellipse">
            <a:avLst/>
          </a:prstGeom>
          <a:solidFill>
            <a:schemeClr val="accent4"/>
          </a:solidFill>
          <a:ln/>
        </p:spPr>
      </p:sp>
      <p:pic>
        <p:nvPicPr>
          <p:cNvPr id="30" name="Chart.js icon" descr="Chart.js">    </p:cNvPr>
          <p:cNvPicPr>
            <a:picLocks noChangeAspect="1"/>
          </p:cNvPicPr>
          <p:nvPr/>
        </p:nvPicPr>
        <p:blipFill>
          <a:blip r:embed="rId6"/>
          <a:stretch>
            <a:fillRect/>
          </a:stretch>
        </p:blipFill>
        <p:spPr>
          <a:xfrm>
            <a:off x="4457700" y="4283964"/>
            <a:ext cx="374904" cy="374904"/>
          </a:xfrm>
          <a:prstGeom prst="rect">
            <a:avLst/>
          </a:prstGeom>
        </p:spPr>
      </p:pic>
      <p:sp>
        <p:nvSpPr>
          <p:cNvPr id="31" name="Text 23"/>
          <p:cNvSpPr txBox="1"/>
          <p:nvPr/>
        </p:nvSpPr>
        <p:spPr>
          <a:xfrm>
            <a:off x="3493008" y="4983480"/>
            <a:ext cx="2304288" cy="365760"/>
          </a:xfrm>
          <a:prstGeom prst="rect">
            <a:avLst/>
          </a:prstGeom>
          <a:noFill/>
          <a:ln/>
        </p:spPr>
        <p:txBody>
          <a:bodyPr wrap="square" lIns="0" tIns="0" rIns="0" bIns="0" rtlCol="0" anchor="t"/>
          <a:lstStyle/>
          <a:p>
            <a:pPr algn="ctr" indent="0" marL="0">
              <a:buNone/>
            </a:pPr>
            <a:r>
              <a:rPr lang="en-US" sz="1700" b="1" dirty="0">
                <a:solidFill>
                  <a:schemeClr val="tx2"/>
                </a:solidFill>
              </a:rPr>
              <a:t>Chart.js</a:t>
            </a:r>
            <a:endParaRPr lang="en-US" sz="1700" dirty="0"/>
          </a:p>
        </p:txBody>
      </p:sp>
      <p:sp>
        <p:nvSpPr>
          <p:cNvPr id="32" name="Text 24"/>
          <p:cNvSpPr txBox="1"/>
          <p:nvPr/>
        </p:nvSpPr>
        <p:spPr>
          <a:xfrm>
            <a:off x="3493008" y="5349240"/>
            <a:ext cx="2304288" cy="457200"/>
          </a:xfrm>
          <a:prstGeom prst="rect">
            <a:avLst/>
          </a:prstGeom>
          <a:noFill/>
          <a:ln/>
        </p:spPr>
        <p:txBody>
          <a:bodyPr wrap="square" lIns="0" tIns="0" rIns="0" bIns="0" rtlCol="0" anchor="t"/>
          <a:lstStyle/>
          <a:p>
            <a:pPr algn="ctr" indent="0" marL="0">
              <a:buNone/>
            </a:pPr>
            <a:r>
              <a:rPr lang="en-US" sz="1300" dirty="0">
                <a:solidFill>
                  <a:schemeClr val="accent6"/>
                </a:solidFill>
              </a:rPr>
              <a:t>Interactive charts in browser</a:t>
            </a:r>
            <a:endParaRPr lang="en-US" sz="1300" dirty="0"/>
          </a:p>
        </p:txBody>
      </p:sp>
      <p:sp>
        <p:nvSpPr>
          <p:cNvPr id="33" name="HTML, CSS, Jinja2 tile"/>
          <p:cNvSpPr/>
          <p:nvPr/>
        </p:nvSpPr>
        <p:spPr>
          <a:xfrm>
            <a:off x="6163056" y="3840480"/>
            <a:ext cx="2578608"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34" name="HTML, CSS, Jinja2 icon circle"/>
          <p:cNvSpPr/>
          <p:nvPr/>
        </p:nvSpPr>
        <p:spPr>
          <a:xfrm>
            <a:off x="7077456" y="4096512"/>
            <a:ext cx="749808" cy="749808"/>
          </a:xfrm>
          <a:prstGeom prst="ellipse">
            <a:avLst/>
          </a:prstGeom>
          <a:solidFill>
            <a:schemeClr val="accent2"/>
          </a:solidFill>
          <a:ln/>
        </p:spPr>
      </p:sp>
      <p:pic>
        <p:nvPicPr>
          <p:cNvPr id="35" name="HTML, CSS, Jinja2 icon" descr="HTML, CSS, Jinja2">    </p:cNvPr>
          <p:cNvPicPr>
            <a:picLocks noChangeAspect="1"/>
          </p:cNvPicPr>
          <p:nvPr/>
        </p:nvPicPr>
        <p:blipFill>
          <a:blip r:embed="rId7"/>
          <a:stretch>
            <a:fillRect/>
          </a:stretch>
        </p:blipFill>
        <p:spPr>
          <a:xfrm>
            <a:off x="7264908" y="4283964"/>
            <a:ext cx="374904" cy="374904"/>
          </a:xfrm>
          <a:prstGeom prst="rect">
            <a:avLst/>
          </a:prstGeom>
        </p:spPr>
      </p:pic>
      <p:sp>
        <p:nvSpPr>
          <p:cNvPr id="36" name="Text 27"/>
          <p:cNvSpPr txBox="1"/>
          <p:nvPr/>
        </p:nvSpPr>
        <p:spPr>
          <a:xfrm>
            <a:off x="6300216" y="4983480"/>
            <a:ext cx="2304288" cy="365760"/>
          </a:xfrm>
          <a:prstGeom prst="rect">
            <a:avLst/>
          </a:prstGeom>
          <a:noFill/>
          <a:ln/>
        </p:spPr>
        <p:txBody>
          <a:bodyPr wrap="square" lIns="0" tIns="0" rIns="0" bIns="0" rtlCol="0" anchor="t"/>
          <a:lstStyle/>
          <a:p>
            <a:pPr algn="ctr" indent="0" marL="0">
              <a:buNone/>
            </a:pPr>
            <a:r>
              <a:rPr lang="en-US" sz="1700" b="1" dirty="0">
                <a:solidFill>
                  <a:schemeClr val="tx2"/>
                </a:solidFill>
              </a:rPr>
              <a:t>HTML, CSS, Jinja2</a:t>
            </a:r>
            <a:endParaRPr lang="en-US" sz="1700" dirty="0"/>
          </a:p>
        </p:txBody>
      </p:sp>
      <p:sp>
        <p:nvSpPr>
          <p:cNvPr id="37" name="Text 28"/>
          <p:cNvSpPr txBox="1"/>
          <p:nvPr/>
        </p:nvSpPr>
        <p:spPr>
          <a:xfrm>
            <a:off x="6300216" y="5349240"/>
            <a:ext cx="2304288" cy="457200"/>
          </a:xfrm>
          <a:prstGeom prst="rect">
            <a:avLst/>
          </a:prstGeom>
          <a:noFill/>
          <a:ln/>
        </p:spPr>
        <p:txBody>
          <a:bodyPr wrap="square" lIns="0" tIns="0" rIns="0" bIns="0" rtlCol="0" anchor="t"/>
          <a:lstStyle/>
          <a:p>
            <a:pPr algn="ctr" indent="0" marL="0">
              <a:buNone/>
            </a:pPr>
            <a:r>
              <a:rPr lang="en-US" sz="1300" dirty="0">
                <a:solidFill>
                  <a:schemeClr val="accent6"/>
                </a:solidFill>
              </a:rPr>
              <a:t>Pages, layout, templates</a:t>
            </a:r>
            <a:endParaRPr lang="en-US" sz="1300" dirty="0"/>
          </a:p>
        </p:txBody>
      </p:sp>
      <p:sp>
        <p:nvSpPr>
          <p:cNvPr id="38" name="joblib tile"/>
          <p:cNvSpPr/>
          <p:nvPr/>
        </p:nvSpPr>
        <p:spPr>
          <a:xfrm>
            <a:off x="8970264" y="3840480"/>
            <a:ext cx="2578608" cy="2103120"/>
          </a:xfrm>
          <a:prstGeom prst="roundRect">
            <a:avLst>
              <a:gd name="adj" fmla="val 5217"/>
            </a:avLst>
          </a:prstGeom>
          <a:solidFill>
            <a:schemeClr val="bg1"/>
          </a:solidFill>
          <a:ln w="12700">
            <a:solidFill>
              <a:schemeClr val="bg2"/>
            </a:solidFill>
            <a:prstDash val="solid"/>
          </a:ln>
          <a:effectLst>
            <a:outerShdw sx="100000" sy="100000" kx="0" ky="0" algn="bl" rotWithShape="0" blurRad="101600" dist="25400" dir="5400000">
              <a:srgbClr val="0F2A4A">
                <a:alpha val="12000"/>
              </a:srgbClr>
            </a:outerShdw>
          </a:effectLst>
        </p:spPr>
      </p:sp>
      <p:sp>
        <p:nvSpPr>
          <p:cNvPr id="39" name="joblib icon circle"/>
          <p:cNvSpPr/>
          <p:nvPr/>
        </p:nvSpPr>
        <p:spPr>
          <a:xfrm>
            <a:off x="9884664" y="4096512"/>
            <a:ext cx="749808" cy="749808"/>
          </a:xfrm>
          <a:prstGeom prst="ellipse">
            <a:avLst/>
          </a:prstGeom>
          <a:solidFill>
            <a:schemeClr val="accent6"/>
          </a:solidFill>
          <a:ln/>
        </p:spPr>
      </p:sp>
      <p:pic>
        <p:nvPicPr>
          <p:cNvPr id="40" name="joblib icon" descr="joblib">    </p:cNvPr>
          <p:cNvPicPr>
            <a:picLocks noChangeAspect="1"/>
          </p:cNvPicPr>
          <p:nvPr/>
        </p:nvPicPr>
        <p:blipFill>
          <a:blip r:embed="rId8"/>
          <a:stretch>
            <a:fillRect/>
          </a:stretch>
        </p:blipFill>
        <p:spPr>
          <a:xfrm>
            <a:off x="10072116" y="4283964"/>
            <a:ext cx="374904" cy="374904"/>
          </a:xfrm>
          <a:prstGeom prst="rect">
            <a:avLst/>
          </a:prstGeom>
        </p:spPr>
      </p:pic>
      <p:sp>
        <p:nvSpPr>
          <p:cNvPr id="41" name="Text 31"/>
          <p:cNvSpPr txBox="1"/>
          <p:nvPr/>
        </p:nvSpPr>
        <p:spPr>
          <a:xfrm>
            <a:off x="9107424" y="4983480"/>
            <a:ext cx="2304288" cy="365760"/>
          </a:xfrm>
          <a:prstGeom prst="rect">
            <a:avLst/>
          </a:prstGeom>
          <a:noFill/>
          <a:ln/>
        </p:spPr>
        <p:txBody>
          <a:bodyPr wrap="square" lIns="0" tIns="0" rIns="0" bIns="0" rtlCol="0" anchor="t"/>
          <a:lstStyle/>
          <a:p>
            <a:pPr algn="ctr" indent="0" marL="0">
              <a:buNone/>
            </a:pPr>
            <a:r>
              <a:rPr lang="en-US" sz="1700" b="1" dirty="0">
                <a:solidFill>
                  <a:schemeClr val="tx2"/>
                </a:solidFill>
              </a:rPr>
              <a:t>joblib</a:t>
            </a:r>
            <a:endParaRPr lang="en-US" sz="1700" dirty="0"/>
          </a:p>
        </p:txBody>
      </p:sp>
      <p:sp>
        <p:nvSpPr>
          <p:cNvPr id="42" name="Text 32"/>
          <p:cNvSpPr txBox="1"/>
          <p:nvPr/>
        </p:nvSpPr>
        <p:spPr>
          <a:xfrm>
            <a:off x="9107424" y="5349240"/>
            <a:ext cx="2304288" cy="457200"/>
          </a:xfrm>
          <a:prstGeom prst="rect">
            <a:avLst/>
          </a:prstGeom>
          <a:noFill/>
          <a:ln/>
        </p:spPr>
        <p:txBody>
          <a:bodyPr wrap="square" lIns="0" tIns="0" rIns="0" bIns="0" rtlCol="0" anchor="t"/>
          <a:lstStyle/>
          <a:p>
            <a:pPr algn="ctr" indent="0" marL="0">
              <a:buNone/>
            </a:pPr>
            <a:r>
              <a:rPr lang="en-US" sz="1300" dirty="0">
                <a:solidFill>
                  <a:schemeClr val="accent6"/>
                </a:solidFill>
              </a:rPr>
              <a:t>Saves the trained model</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System architecture</a:t>
            </a:r>
            <a:endParaRPr lang="en-US" sz="3400" dirty="0"/>
          </a:p>
        </p:txBody>
      </p:sp>
      <p:sp>
        <p:nvSpPr>
          <p:cNvPr id="3" name="User's browser box"/>
          <p:cNvSpPr/>
          <p:nvPr/>
        </p:nvSpPr>
        <p:spPr>
          <a:xfrm>
            <a:off x="548640" y="1737360"/>
            <a:ext cx="2423160" cy="2377440"/>
          </a:xfrm>
          <a:prstGeom prst="roundRect">
            <a:avLst>
              <a:gd name="adj" fmla="val 4615"/>
            </a:avLst>
          </a:prstGeom>
          <a:solidFill>
            <a:schemeClr val="bg2"/>
          </a:solidFill>
          <a:ln/>
        </p:spPr>
      </p:sp>
      <p:sp>
        <p:nvSpPr>
          <p:cNvPr id="4" name="User's browser icon circle"/>
          <p:cNvSpPr/>
          <p:nvPr/>
        </p:nvSpPr>
        <p:spPr>
          <a:xfrm>
            <a:off x="1348740" y="2011680"/>
            <a:ext cx="822960" cy="822960"/>
          </a:xfrm>
          <a:prstGeom prst="ellipse">
            <a:avLst/>
          </a:prstGeom>
          <a:solidFill>
            <a:schemeClr val="accent6"/>
          </a:solidFill>
          <a:ln/>
        </p:spPr>
      </p:sp>
      <p:pic>
        <p:nvPicPr>
          <p:cNvPr id="5" name="User's browser icon" descr="User's browser">    </p:cNvPr>
          <p:cNvPicPr>
            <a:picLocks noChangeAspect="1"/>
          </p:cNvPicPr>
          <p:nvPr/>
        </p:nvPicPr>
        <p:blipFill>
          <a:blip r:embed="rId1"/>
          <a:stretch>
            <a:fillRect/>
          </a:stretch>
        </p:blipFill>
        <p:spPr>
          <a:xfrm>
            <a:off x="1554480" y="2217420"/>
            <a:ext cx="411480" cy="411480"/>
          </a:xfrm>
          <a:prstGeom prst="rect">
            <a:avLst/>
          </a:prstGeom>
        </p:spPr>
      </p:pic>
      <p:sp>
        <p:nvSpPr>
          <p:cNvPr id="6" name="Text 3"/>
          <p:cNvSpPr txBox="1"/>
          <p:nvPr/>
        </p:nvSpPr>
        <p:spPr>
          <a:xfrm>
            <a:off x="685800" y="2971800"/>
            <a:ext cx="2148840" cy="365760"/>
          </a:xfrm>
          <a:prstGeom prst="rect">
            <a:avLst/>
          </a:prstGeom>
          <a:noFill/>
          <a:ln/>
        </p:spPr>
        <p:txBody>
          <a:bodyPr wrap="square" lIns="0" tIns="0" rIns="0" bIns="0" rtlCol="0" anchor="t"/>
          <a:lstStyle/>
          <a:p>
            <a:pPr algn="ctr" indent="0" marL="0">
              <a:buNone/>
            </a:pPr>
            <a:r>
              <a:rPr lang="en-US" sz="1800" b="1" dirty="0">
                <a:solidFill>
                  <a:schemeClr val="tx2"/>
                </a:solidFill>
              </a:rPr>
              <a:t>User's browser</a:t>
            </a:r>
            <a:endParaRPr lang="en-US" sz="1800" dirty="0"/>
          </a:p>
        </p:txBody>
      </p:sp>
      <p:sp>
        <p:nvSpPr>
          <p:cNvPr id="7" name="Text 4"/>
          <p:cNvSpPr txBox="1"/>
          <p:nvPr/>
        </p:nvSpPr>
        <p:spPr>
          <a:xfrm>
            <a:off x="685800" y="3383280"/>
            <a:ext cx="2148840" cy="640080"/>
          </a:xfrm>
          <a:prstGeom prst="rect">
            <a:avLst/>
          </a:prstGeom>
          <a:noFill/>
          <a:ln/>
        </p:spPr>
        <p:txBody>
          <a:bodyPr wrap="square" lIns="0" tIns="0" rIns="0" bIns="0" rtlCol="0" anchor="t"/>
          <a:lstStyle/>
          <a:p>
            <a:pPr algn="ctr" indent="0" marL="0">
              <a:buNone/>
            </a:pPr>
            <a:r>
              <a:rPr lang="en-US" sz="1300" dirty="0">
                <a:solidFill>
                  <a:schemeClr val="accent6"/>
                </a:solidFill>
              </a:rPr>
              <a:t>Fills the form, views charts (Chart.js)</a:t>
            </a:r>
            <a:endParaRPr lang="en-US" sz="1300" dirty="0"/>
          </a:p>
        </p:txBody>
      </p:sp>
      <p:sp>
        <p:nvSpPr>
          <p:cNvPr id="8" name="arrow 1"/>
          <p:cNvSpPr/>
          <p:nvPr/>
        </p:nvSpPr>
        <p:spPr>
          <a:xfrm>
            <a:off x="3026664" y="2926080"/>
            <a:ext cx="347472" cy="0"/>
          </a:xfrm>
          <a:prstGeom prst="line">
            <a:avLst/>
          </a:prstGeom>
          <a:noFill/>
          <a:ln w="25400">
            <a:solidFill>
              <a:schemeClr val="accent6"/>
            </a:solidFill>
            <a:prstDash val="solid"/>
            <a:headEnd type="triangle"/>
            <a:tailEnd type="triangle"/>
          </a:ln>
        </p:spPr>
      </p:sp>
      <p:sp>
        <p:nvSpPr>
          <p:cNvPr id="9" name="Flask web app box"/>
          <p:cNvSpPr/>
          <p:nvPr/>
        </p:nvSpPr>
        <p:spPr>
          <a:xfrm>
            <a:off x="3429000" y="1737360"/>
            <a:ext cx="2423160" cy="2377440"/>
          </a:xfrm>
          <a:prstGeom prst="roundRect">
            <a:avLst>
              <a:gd name="adj" fmla="val 4615"/>
            </a:avLst>
          </a:prstGeom>
          <a:solidFill>
            <a:schemeClr val="bg2"/>
          </a:solidFill>
          <a:ln/>
        </p:spPr>
      </p:sp>
      <p:sp>
        <p:nvSpPr>
          <p:cNvPr id="10" name="Flask web app icon circle"/>
          <p:cNvSpPr/>
          <p:nvPr/>
        </p:nvSpPr>
        <p:spPr>
          <a:xfrm>
            <a:off x="4229100" y="2011680"/>
            <a:ext cx="822960" cy="822960"/>
          </a:xfrm>
          <a:prstGeom prst="ellipse">
            <a:avLst/>
          </a:prstGeom>
          <a:solidFill>
            <a:schemeClr val="accent1"/>
          </a:solidFill>
          <a:ln/>
        </p:spPr>
      </p:sp>
      <p:pic>
        <p:nvPicPr>
          <p:cNvPr id="11" name="Flask web app icon" descr="Flask web app">    </p:cNvPr>
          <p:cNvPicPr>
            <a:picLocks noChangeAspect="1"/>
          </p:cNvPicPr>
          <p:nvPr/>
        </p:nvPicPr>
        <p:blipFill>
          <a:blip r:embed="rId2"/>
          <a:stretch>
            <a:fillRect/>
          </a:stretch>
        </p:blipFill>
        <p:spPr>
          <a:xfrm>
            <a:off x="4434840" y="2217420"/>
            <a:ext cx="411480" cy="411480"/>
          </a:xfrm>
          <a:prstGeom prst="rect">
            <a:avLst/>
          </a:prstGeom>
        </p:spPr>
      </p:pic>
      <p:sp>
        <p:nvSpPr>
          <p:cNvPr id="12" name="Text 8"/>
          <p:cNvSpPr txBox="1"/>
          <p:nvPr/>
        </p:nvSpPr>
        <p:spPr>
          <a:xfrm>
            <a:off x="3566160" y="2971800"/>
            <a:ext cx="2148840" cy="365760"/>
          </a:xfrm>
          <a:prstGeom prst="rect">
            <a:avLst/>
          </a:prstGeom>
          <a:noFill/>
          <a:ln/>
        </p:spPr>
        <p:txBody>
          <a:bodyPr wrap="square" lIns="0" tIns="0" rIns="0" bIns="0" rtlCol="0" anchor="t"/>
          <a:lstStyle/>
          <a:p>
            <a:pPr algn="ctr" indent="0" marL="0">
              <a:buNone/>
            </a:pPr>
            <a:r>
              <a:rPr lang="en-US" sz="1800" b="1" dirty="0">
                <a:solidFill>
                  <a:schemeClr val="tx2"/>
                </a:solidFill>
              </a:rPr>
              <a:t>Flask web app</a:t>
            </a:r>
            <a:endParaRPr lang="en-US" sz="1800" dirty="0"/>
          </a:p>
        </p:txBody>
      </p:sp>
      <p:sp>
        <p:nvSpPr>
          <p:cNvPr id="13" name="Text 9"/>
          <p:cNvSpPr txBox="1"/>
          <p:nvPr/>
        </p:nvSpPr>
        <p:spPr>
          <a:xfrm>
            <a:off x="3566160" y="3383280"/>
            <a:ext cx="2148840" cy="640080"/>
          </a:xfrm>
          <a:prstGeom prst="rect">
            <a:avLst/>
          </a:prstGeom>
          <a:noFill/>
          <a:ln/>
        </p:spPr>
        <p:txBody>
          <a:bodyPr wrap="square" lIns="0" tIns="0" rIns="0" bIns="0" rtlCol="0" anchor="t"/>
          <a:lstStyle/>
          <a:p>
            <a:pPr algn="ctr" indent="0" marL="0">
              <a:buNone/>
            </a:pPr>
            <a:r>
              <a:rPr lang="en-US" sz="1300" dirty="0">
                <a:solidFill>
                  <a:schemeClr val="accent6"/>
                </a:solidFill>
              </a:rPr>
              <a:t>Routes, validation, Jinja2 pages</a:t>
            </a:r>
            <a:endParaRPr lang="en-US" sz="1300" dirty="0"/>
          </a:p>
        </p:txBody>
      </p:sp>
      <p:sp>
        <p:nvSpPr>
          <p:cNvPr id="14" name="arrow 2"/>
          <p:cNvSpPr/>
          <p:nvPr/>
        </p:nvSpPr>
        <p:spPr>
          <a:xfrm>
            <a:off x="5907024" y="2926080"/>
            <a:ext cx="347472" cy="0"/>
          </a:xfrm>
          <a:prstGeom prst="line">
            <a:avLst/>
          </a:prstGeom>
          <a:noFill/>
          <a:ln w="25400">
            <a:solidFill>
              <a:schemeClr val="accent6"/>
            </a:solidFill>
            <a:prstDash val="solid"/>
            <a:headEnd type="triangle"/>
            <a:tailEnd type="triangle"/>
          </a:ln>
        </p:spPr>
      </p:sp>
      <p:sp>
        <p:nvSpPr>
          <p:cNvPr id="15" name="ML engine box"/>
          <p:cNvSpPr/>
          <p:nvPr/>
        </p:nvSpPr>
        <p:spPr>
          <a:xfrm>
            <a:off x="6309360" y="1737360"/>
            <a:ext cx="2423160" cy="2377440"/>
          </a:xfrm>
          <a:prstGeom prst="roundRect">
            <a:avLst>
              <a:gd name="adj" fmla="val 4615"/>
            </a:avLst>
          </a:prstGeom>
          <a:solidFill>
            <a:schemeClr val="bg2"/>
          </a:solidFill>
          <a:ln/>
        </p:spPr>
      </p:sp>
      <p:sp>
        <p:nvSpPr>
          <p:cNvPr id="16" name="ML engine icon circle"/>
          <p:cNvSpPr/>
          <p:nvPr/>
        </p:nvSpPr>
        <p:spPr>
          <a:xfrm>
            <a:off x="7109460" y="2011680"/>
            <a:ext cx="822960" cy="822960"/>
          </a:xfrm>
          <a:prstGeom prst="ellipse">
            <a:avLst/>
          </a:prstGeom>
          <a:solidFill>
            <a:schemeClr val="accent2"/>
          </a:solidFill>
          <a:ln/>
        </p:spPr>
      </p:sp>
      <p:pic>
        <p:nvPicPr>
          <p:cNvPr id="17" name="ML engine icon" descr="ML engine">    </p:cNvPr>
          <p:cNvPicPr>
            <a:picLocks noChangeAspect="1"/>
          </p:cNvPicPr>
          <p:nvPr/>
        </p:nvPicPr>
        <p:blipFill>
          <a:blip r:embed="rId3"/>
          <a:stretch>
            <a:fillRect/>
          </a:stretch>
        </p:blipFill>
        <p:spPr>
          <a:xfrm>
            <a:off x="7315200" y="2217420"/>
            <a:ext cx="411480" cy="411480"/>
          </a:xfrm>
          <a:prstGeom prst="rect">
            <a:avLst/>
          </a:prstGeom>
        </p:spPr>
      </p:pic>
      <p:sp>
        <p:nvSpPr>
          <p:cNvPr id="18" name="Text 13"/>
          <p:cNvSpPr txBox="1"/>
          <p:nvPr/>
        </p:nvSpPr>
        <p:spPr>
          <a:xfrm>
            <a:off x="6446520" y="2971800"/>
            <a:ext cx="2148840" cy="365760"/>
          </a:xfrm>
          <a:prstGeom prst="rect">
            <a:avLst/>
          </a:prstGeom>
          <a:noFill/>
          <a:ln/>
        </p:spPr>
        <p:txBody>
          <a:bodyPr wrap="square" lIns="0" tIns="0" rIns="0" bIns="0" rtlCol="0" anchor="t"/>
          <a:lstStyle/>
          <a:p>
            <a:pPr algn="ctr" indent="0" marL="0">
              <a:buNone/>
            </a:pPr>
            <a:r>
              <a:rPr lang="en-US" sz="1800" b="1" dirty="0">
                <a:solidFill>
                  <a:schemeClr val="tx2"/>
                </a:solidFill>
              </a:rPr>
              <a:t>ML engine</a:t>
            </a:r>
            <a:endParaRPr lang="en-US" sz="1800" dirty="0"/>
          </a:p>
        </p:txBody>
      </p:sp>
      <p:sp>
        <p:nvSpPr>
          <p:cNvPr id="19" name="Text 14"/>
          <p:cNvSpPr txBox="1"/>
          <p:nvPr/>
        </p:nvSpPr>
        <p:spPr>
          <a:xfrm>
            <a:off x="6446520" y="3383280"/>
            <a:ext cx="2148840" cy="640080"/>
          </a:xfrm>
          <a:prstGeom prst="rect">
            <a:avLst/>
          </a:prstGeom>
          <a:noFill/>
          <a:ln/>
        </p:spPr>
        <p:txBody>
          <a:bodyPr wrap="square" lIns="0" tIns="0" rIns="0" bIns="0" rtlCol="0" anchor="t"/>
          <a:lstStyle/>
          <a:p>
            <a:pPr algn="ctr" indent="0" marL="0">
              <a:buNone/>
            </a:pPr>
            <a:r>
              <a:rPr lang="en-US" sz="1300" dirty="0">
                <a:solidFill>
                  <a:schemeClr val="accent6"/>
                </a:solidFill>
              </a:rPr>
              <a:t>Pipeline + Gradient Boosting, range, what-if</a:t>
            </a:r>
            <a:endParaRPr lang="en-US" sz="1300" dirty="0"/>
          </a:p>
        </p:txBody>
      </p:sp>
      <p:sp>
        <p:nvSpPr>
          <p:cNvPr id="20" name="arrow 3"/>
          <p:cNvSpPr/>
          <p:nvPr/>
        </p:nvSpPr>
        <p:spPr>
          <a:xfrm>
            <a:off x="8787384" y="2926080"/>
            <a:ext cx="347472" cy="0"/>
          </a:xfrm>
          <a:prstGeom prst="line">
            <a:avLst/>
          </a:prstGeom>
          <a:noFill/>
          <a:ln w="25400">
            <a:solidFill>
              <a:schemeClr val="accent6"/>
            </a:solidFill>
            <a:prstDash val="solid"/>
            <a:headEnd type="triangle"/>
            <a:tailEnd type="triangle"/>
          </a:ln>
        </p:spPr>
      </p:sp>
      <p:sp>
        <p:nvSpPr>
          <p:cNvPr id="21" name="MySQL database box"/>
          <p:cNvSpPr/>
          <p:nvPr/>
        </p:nvSpPr>
        <p:spPr>
          <a:xfrm>
            <a:off x="9189720" y="1737360"/>
            <a:ext cx="2423160" cy="2377440"/>
          </a:xfrm>
          <a:prstGeom prst="roundRect">
            <a:avLst>
              <a:gd name="adj" fmla="val 4615"/>
            </a:avLst>
          </a:prstGeom>
          <a:solidFill>
            <a:schemeClr val="bg2"/>
          </a:solidFill>
          <a:ln/>
        </p:spPr>
      </p:sp>
      <p:sp>
        <p:nvSpPr>
          <p:cNvPr id="22" name="MySQL database icon circle"/>
          <p:cNvSpPr/>
          <p:nvPr/>
        </p:nvSpPr>
        <p:spPr>
          <a:xfrm>
            <a:off x="9989820" y="2011680"/>
            <a:ext cx="822960" cy="822960"/>
          </a:xfrm>
          <a:prstGeom prst="ellipse">
            <a:avLst/>
          </a:prstGeom>
          <a:solidFill>
            <a:schemeClr val="tx2"/>
          </a:solidFill>
          <a:ln/>
        </p:spPr>
      </p:sp>
      <p:pic>
        <p:nvPicPr>
          <p:cNvPr id="23" name="MySQL database icon" descr="MySQL database">    </p:cNvPr>
          <p:cNvPicPr>
            <a:picLocks noChangeAspect="1"/>
          </p:cNvPicPr>
          <p:nvPr/>
        </p:nvPicPr>
        <p:blipFill>
          <a:blip r:embed="rId4"/>
          <a:stretch>
            <a:fillRect/>
          </a:stretch>
        </p:blipFill>
        <p:spPr>
          <a:xfrm>
            <a:off x="10195560" y="2217420"/>
            <a:ext cx="411480" cy="411480"/>
          </a:xfrm>
          <a:prstGeom prst="rect">
            <a:avLst/>
          </a:prstGeom>
        </p:spPr>
      </p:pic>
      <p:sp>
        <p:nvSpPr>
          <p:cNvPr id="24" name="Text 18"/>
          <p:cNvSpPr txBox="1"/>
          <p:nvPr/>
        </p:nvSpPr>
        <p:spPr>
          <a:xfrm>
            <a:off x="9326880" y="2971800"/>
            <a:ext cx="2148840" cy="365760"/>
          </a:xfrm>
          <a:prstGeom prst="rect">
            <a:avLst/>
          </a:prstGeom>
          <a:noFill/>
          <a:ln/>
        </p:spPr>
        <p:txBody>
          <a:bodyPr wrap="square" lIns="0" tIns="0" rIns="0" bIns="0" rtlCol="0" anchor="t"/>
          <a:lstStyle/>
          <a:p>
            <a:pPr algn="ctr" indent="0" marL="0">
              <a:buNone/>
            </a:pPr>
            <a:r>
              <a:rPr lang="en-US" sz="1800" b="1" dirty="0">
                <a:solidFill>
                  <a:schemeClr val="tx2"/>
                </a:solidFill>
              </a:rPr>
              <a:t>MySQL database</a:t>
            </a:r>
            <a:endParaRPr lang="en-US" sz="1800" dirty="0"/>
          </a:p>
        </p:txBody>
      </p:sp>
      <p:sp>
        <p:nvSpPr>
          <p:cNvPr id="25" name="Text 19"/>
          <p:cNvSpPr txBox="1"/>
          <p:nvPr/>
        </p:nvSpPr>
        <p:spPr>
          <a:xfrm>
            <a:off x="9326880" y="3383280"/>
            <a:ext cx="2148840" cy="640080"/>
          </a:xfrm>
          <a:prstGeom prst="rect">
            <a:avLst/>
          </a:prstGeom>
          <a:noFill/>
          <a:ln/>
        </p:spPr>
        <p:txBody>
          <a:bodyPr wrap="square" lIns="0" tIns="0" rIns="0" bIns="0" rtlCol="0" anchor="t"/>
          <a:lstStyle/>
          <a:p>
            <a:pPr algn="ctr" indent="0" marL="0">
              <a:buNone/>
            </a:pPr>
            <a:r>
              <a:rPr lang="en-US" sz="1300" dirty="0">
                <a:solidFill>
                  <a:schemeClr val="accent6"/>
                </a:solidFill>
              </a:rPr>
              <a:t>Employees, skills, predictions, model runs</a:t>
            </a:r>
            <a:endParaRPr lang="en-US" sz="1300" dirty="0"/>
          </a:p>
        </p:txBody>
      </p:sp>
      <p:sp>
        <p:nvSpPr>
          <p:cNvPr id="26" name="flow 1 badge"/>
          <p:cNvSpPr/>
          <p:nvPr/>
        </p:nvSpPr>
        <p:spPr>
          <a:xfrm>
            <a:off x="548640" y="4526280"/>
            <a:ext cx="438912" cy="438912"/>
          </a:xfrm>
          <a:prstGeom prst="ellipse">
            <a:avLst/>
          </a:prstGeom>
          <a:solidFill>
            <a:schemeClr val="accent3"/>
          </a:solidFill>
          <a:ln/>
        </p:spPr>
      </p:sp>
      <p:sp>
        <p:nvSpPr>
          <p:cNvPr id="27" name="Text 21"/>
          <p:cNvSpPr txBox="1"/>
          <p:nvPr/>
        </p:nvSpPr>
        <p:spPr>
          <a:xfrm>
            <a:off x="548640" y="452628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28" name="Text 22"/>
          <p:cNvSpPr txBox="1"/>
          <p:nvPr/>
        </p:nvSpPr>
        <p:spPr>
          <a:xfrm>
            <a:off x="1143000" y="4480560"/>
            <a:ext cx="4846320" cy="548640"/>
          </a:xfrm>
          <a:prstGeom prst="rect">
            <a:avLst/>
          </a:prstGeom>
          <a:noFill/>
          <a:ln/>
        </p:spPr>
        <p:txBody>
          <a:bodyPr wrap="square" lIns="0" tIns="0" rIns="0" bIns="0" rtlCol="0" anchor="ctr"/>
          <a:lstStyle/>
          <a:p>
            <a:pPr indent="0" marL="0">
              <a:buNone/>
            </a:pPr>
            <a:r>
              <a:rPr lang="en-US" sz="1400" dirty="0">
                <a:solidFill>
                  <a:schemeClr val="tx1"/>
                </a:solidFill>
              </a:rPr>
              <a:t>User submits employee details from the Predict page</a:t>
            </a:r>
            <a:endParaRPr lang="en-US" sz="1400" dirty="0"/>
          </a:p>
        </p:txBody>
      </p:sp>
      <p:sp>
        <p:nvSpPr>
          <p:cNvPr id="29" name="flow 2 badge"/>
          <p:cNvSpPr/>
          <p:nvPr/>
        </p:nvSpPr>
        <p:spPr>
          <a:xfrm>
            <a:off x="6217920" y="4526280"/>
            <a:ext cx="438912" cy="438912"/>
          </a:xfrm>
          <a:prstGeom prst="ellipse">
            <a:avLst/>
          </a:prstGeom>
          <a:solidFill>
            <a:schemeClr val="accent3"/>
          </a:solidFill>
          <a:ln/>
        </p:spPr>
      </p:sp>
      <p:sp>
        <p:nvSpPr>
          <p:cNvPr id="30" name="Text 24"/>
          <p:cNvSpPr txBox="1"/>
          <p:nvPr/>
        </p:nvSpPr>
        <p:spPr>
          <a:xfrm>
            <a:off x="6217920" y="452628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31" name="Text 25"/>
          <p:cNvSpPr txBox="1"/>
          <p:nvPr/>
        </p:nvSpPr>
        <p:spPr>
          <a:xfrm>
            <a:off x="6812280" y="4480560"/>
            <a:ext cx="4846320" cy="548640"/>
          </a:xfrm>
          <a:prstGeom prst="rect">
            <a:avLst/>
          </a:prstGeom>
          <a:noFill/>
          <a:ln/>
        </p:spPr>
        <p:txBody>
          <a:bodyPr wrap="square" lIns="0" tIns="0" rIns="0" bIns="0" rtlCol="0" anchor="ctr"/>
          <a:lstStyle/>
          <a:p>
            <a:pPr indent="0" marL="0">
              <a:buNone/>
            </a:pPr>
            <a:r>
              <a:rPr lang="en-US" sz="1400" dirty="0">
                <a:solidFill>
                  <a:schemeClr val="tx1"/>
                </a:solidFill>
              </a:rPr>
              <a:t>Flask validates the input and sends it to the ML engine</a:t>
            </a:r>
            <a:endParaRPr lang="en-US" sz="1400" dirty="0"/>
          </a:p>
        </p:txBody>
      </p:sp>
      <p:sp>
        <p:nvSpPr>
          <p:cNvPr id="32" name="flow 3 badge"/>
          <p:cNvSpPr/>
          <p:nvPr/>
        </p:nvSpPr>
        <p:spPr>
          <a:xfrm>
            <a:off x="548640" y="5303520"/>
            <a:ext cx="438912" cy="438912"/>
          </a:xfrm>
          <a:prstGeom prst="ellipse">
            <a:avLst/>
          </a:prstGeom>
          <a:solidFill>
            <a:schemeClr val="accent3"/>
          </a:solidFill>
          <a:ln/>
        </p:spPr>
      </p:sp>
      <p:sp>
        <p:nvSpPr>
          <p:cNvPr id="33" name="Text 27"/>
          <p:cNvSpPr txBox="1"/>
          <p:nvPr/>
        </p:nvSpPr>
        <p:spPr>
          <a:xfrm>
            <a:off x="548640" y="530352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34" name="Text 28"/>
          <p:cNvSpPr txBox="1"/>
          <p:nvPr/>
        </p:nvSpPr>
        <p:spPr>
          <a:xfrm>
            <a:off x="1143000" y="5257800"/>
            <a:ext cx="4846320" cy="548640"/>
          </a:xfrm>
          <a:prstGeom prst="rect">
            <a:avLst/>
          </a:prstGeom>
          <a:noFill/>
          <a:ln/>
        </p:spPr>
        <p:txBody>
          <a:bodyPr wrap="square" lIns="0" tIns="0" rIns="0" bIns="0" rtlCol="0" anchor="ctr"/>
          <a:lstStyle/>
          <a:p>
            <a:pPr indent="0" marL="0">
              <a:buNone/>
            </a:pPr>
            <a:r>
              <a:rPr lang="en-US" sz="1400" dirty="0">
                <a:solidFill>
                  <a:schemeClr val="tx1"/>
                </a:solidFill>
              </a:rPr>
              <a:t>The saved model predicts log(salary), converted back to rupees, with an 80% range</a:t>
            </a:r>
            <a:endParaRPr lang="en-US" sz="1400" dirty="0"/>
          </a:p>
        </p:txBody>
      </p:sp>
      <p:sp>
        <p:nvSpPr>
          <p:cNvPr id="35" name="flow 4 badge"/>
          <p:cNvSpPr/>
          <p:nvPr/>
        </p:nvSpPr>
        <p:spPr>
          <a:xfrm>
            <a:off x="6217920" y="5303520"/>
            <a:ext cx="438912" cy="438912"/>
          </a:xfrm>
          <a:prstGeom prst="ellipse">
            <a:avLst/>
          </a:prstGeom>
          <a:solidFill>
            <a:schemeClr val="accent3"/>
          </a:solidFill>
          <a:ln/>
        </p:spPr>
      </p:sp>
      <p:sp>
        <p:nvSpPr>
          <p:cNvPr id="36" name="Text 30"/>
          <p:cNvSpPr txBox="1"/>
          <p:nvPr/>
        </p:nvSpPr>
        <p:spPr>
          <a:xfrm>
            <a:off x="6217920" y="530352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37" name="Text 31"/>
          <p:cNvSpPr txBox="1"/>
          <p:nvPr/>
        </p:nvSpPr>
        <p:spPr>
          <a:xfrm>
            <a:off x="6812280" y="5257800"/>
            <a:ext cx="4846320" cy="548640"/>
          </a:xfrm>
          <a:prstGeom prst="rect">
            <a:avLst/>
          </a:prstGeom>
          <a:noFill/>
          <a:ln/>
        </p:spPr>
        <p:txBody>
          <a:bodyPr wrap="square" lIns="0" tIns="0" rIns="0" bIns="0" rtlCol="0" anchor="ctr"/>
          <a:lstStyle/>
          <a:p>
            <a:pPr indent="0" marL="0">
              <a:buNone/>
            </a:pPr>
            <a:r>
              <a:rPr lang="en-US" sz="1400" dirty="0">
                <a:solidFill>
                  <a:schemeClr val="tx1"/>
                </a:solidFill>
              </a:rPr>
              <a:t>Peers are read from MySQL, the prediction is saved, and charts are returned to the browser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Database design: 5 MySQL tables</a:t>
            </a:r>
            <a:endParaRPr lang="en-US" sz="3400" dirty="0"/>
          </a:p>
        </p:txBody>
      </p:sp>
      <p:sp>
        <p:nvSpPr>
          <p:cNvPr id="3" name="employees table"/>
          <p:cNvSpPr/>
          <p:nvPr/>
        </p:nvSpPr>
        <p:spPr>
          <a:xfrm>
            <a:off x="548640" y="1371600"/>
            <a:ext cx="3108960" cy="4206240"/>
          </a:xfrm>
          <a:prstGeom prst="roundRect">
            <a:avLst>
              <a:gd name="adj" fmla="val 2353"/>
            </a:avLst>
          </a:prstGeom>
          <a:solidFill>
            <a:schemeClr val="bg1"/>
          </a:solidFill>
          <a:ln w="19050">
            <a:solidFill>
              <a:schemeClr val="accent1"/>
            </a:solidFill>
            <a:prstDash val="solid"/>
          </a:ln>
        </p:spPr>
      </p:sp>
      <p:sp>
        <p:nvSpPr>
          <p:cNvPr id="4" name="employees header"/>
          <p:cNvSpPr/>
          <p:nvPr/>
        </p:nvSpPr>
        <p:spPr>
          <a:xfrm>
            <a:off x="548640" y="1371600"/>
            <a:ext cx="3108960" cy="457200"/>
          </a:xfrm>
          <a:prstGeom prst="roundRect">
            <a:avLst>
              <a:gd name="adj" fmla="val 16000"/>
            </a:avLst>
          </a:prstGeom>
          <a:solidFill>
            <a:schemeClr val="accent1"/>
          </a:solidFill>
          <a:ln/>
        </p:spPr>
      </p:sp>
      <p:sp>
        <p:nvSpPr>
          <p:cNvPr id="5" name="Text 3"/>
          <p:cNvSpPr txBox="1"/>
          <p:nvPr/>
        </p:nvSpPr>
        <p:spPr>
          <a:xfrm>
            <a:off x="685800" y="1371600"/>
            <a:ext cx="2834640" cy="457200"/>
          </a:xfrm>
          <a:prstGeom prst="rect">
            <a:avLst/>
          </a:prstGeom>
          <a:noFill/>
          <a:ln/>
        </p:spPr>
        <p:txBody>
          <a:bodyPr wrap="square" lIns="0" tIns="0" rIns="0" bIns="0" rtlCol="0" anchor="ctr"/>
          <a:lstStyle/>
          <a:p>
            <a:pPr indent="0" marL="0">
              <a:buNone/>
            </a:pPr>
            <a:r>
              <a:rPr lang="en-US" sz="1500" b="1" dirty="0">
                <a:solidFill>
                  <a:schemeClr val="bg1"/>
                </a:solidFill>
              </a:rPr>
              <a:t>employees</a:t>
            </a:r>
            <a:endParaRPr lang="en-US" sz="1500" dirty="0"/>
          </a:p>
        </p:txBody>
      </p:sp>
      <p:sp>
        <p:nvSpPr>
          <p:cNvPr id="6" name="Text 4"/>
          <p:cNvSpPr txBox="1"/>
          <p:nvPr/>
        </p:nvSpPr>
        <p:spPr>
          <a:xfrm>
            <a:off x="713232" y="1938528"/>
            <a:ext cx="2834640" cy="3566160"/>
          </a:xfrm>
          <a:prstGeom prst="rect">
            <a:avLst/>
          </a:prstGeom>
          <a:noFill/>
          <a:ln/>
        </p:spPr>
        <p:txBody>
          <a:bodyPr wrap="square" lIns="0" tIns="0" rIns="0" bIns="0" rtlCol="0" anchor="t"/>
          <a:lstStyle/>
          <a:p>
            <a:pPr indent="0" marL="0">
              <a:spcAft>
                <a:spcPts val="200"/>
              </a:spcAft>
              <a:buNone/>
            </a:pPr>
            <a:r>
              <a:rPr lang="en-US" sz="1200" b="1" dirty="0">
                <a:solidFill>
                  <a:schemeClr val="tx1"/>
                </a:solidFill>
              </a:rPr>
              <a:t>employee_id  (PK)</a:t>
            </a:r>
            <a:endParaRPr lang="en-US" sz="1200" dirty="0"/>
          </a:p>
          <a:p>
            <a:pPr indent="0" marL="0">
              <a:spcAft>
                <a:spcPts val="200"/>
              </a:spcAft>
              <a:buNone/>
            </a:pPr>
            <a:r>
              <a:rPr lang="en-US" sz="1200" dirty="0">
                <a:solidFill>
                  <a:schemeClr val="tx1"/>
                </a:solidFill>
              </a:rPr>
              <a:t>full_name</a:t>
            </a:r>
            <a:endParaRPr lang="en-US" sz="1200" dirty="0"/>
          </a:p>
          <a:p>
            <a:pPr indent="0" marL="0">
              <a:spcAft>
                <a:spcPts val="200"/>
              </a:spcAft>
              <a:buNone/>
            </a:pPr>
            <a:r>
              <a:rPr lang="en-US" sz="1200" dirty="0">
                <a:solidFill>
                  <a:schemeClr val="tx1"/>
                </a:solidFill>
              </a:rPr>
              <a:t>experience_years</a:t>
            </a:r>
            <a:endParaRPr lang="en-US" sz="1200" dirty="0"/>
          </a:p>
          <a:p>
            <a:pPr indent="0" marL="0">
              <a:spcAft>
                <a:spcPts val="200"/>
              </a:spcAft>
              <a:buNone/>
            </a:pPr>
            <a:r>
              <a:rPr lang="en-US" sz="1200" dirty="0">
                <a:solidFill>
                  <a:schemeClr val="tx1"/>
                </a:solidFill>
              </a:rPr>
              <a:t>education</a:t>
            </a:r>
            <a:endParaRPr lang="en-US" sz="1200" dirty="0"/>
          </a:p>
          <a:p>
            <a:pPr indent="0" marL="0">
              <a:spcAft>
                <a:spcPts val="200"/>
              </a:spcAft>
              <a:buNone/>
            </a:pPr>
            <a:r>
              <a:rPr lang="en-US" sz="1200" dirty="0">
                <a:solidFill>
                  <a:schemeClr val="tx1"/>
                </a:solidFill>
              </a:rPr>
              <a:t>job_role</a:t>
            </a:r>
            <a:endParaRPr lang="en-US" sz="1200" dirty="0"/>
          </a:p>
          <a:p>
            <a:pPr indent="0" marL="0">
              <a:spcAft>
                <a:spcPts val="200"/>
              </a:spcAft>
              <a:buNone/>
            </a:pPr>
            <a:r>
              <a:rPr lang="en-US" sz="1200" dirty="0">
                <a:solidFill>
                  <a:schemeClr val="tx1"/>
                </a:solidFill>
              </a:rPr>
              <a:t>location</a:t>
            </a:r>
            <a:endParaRPr lang="en-US" sz="1200" dirty="0"/>
          </a:p>
          <a:p>
            <a:pPr indent="0" marL="0">
              <a:spcAft>
                <a:spcPts val="200"/>
              </a:spcAft>
              <a:buNone/>
            </a:pPr>
            <a:r>
              <a:rPr lang="en-US" sz="1200" dirty="0">
                <a:solidFill>
                  <a:schemeClr val="tx1"/>
                </a:solidFill>
              </a:rPr>
              <a:t>company_size</a:t>
            </a:r>
            <a:endParaRPr lang="en-US" sz="1200" dirty="0"/>
          </a:p>
          <a:p>
            <a:pPr indent="0" marL="0">
              <a:spcAft>
                <a:spcPts val="200"/>
              </a:spcAft>
              <a:buNone/>
            </a:pPr>
            <a:r>
              <a:rPr lang="en-US" sz="1200" dirty="0">
                <a:solidFill>
                  <a:schemeClr val="tx1"/>
                </a:solidFill>
              </a:rPr>
              <a:t>certifications</a:t>
            </a:r>
            <a:endParaRPr lang="en-US" sz="1200" dirty="0"/>
          </a:p>
          <a:p>
            <a:pPr indent="0" marL="0">
              <a:spcAft>
                <a:spcPts val="200"/>
              </a:spcAft>
              <a:buNone/>
            </a:pPr>
            <a:r>
              <a:rPr lang="en-US" sz="1200" dirty="0">
                <a:solidFill>
                  <a:schemeClr val="tx1"/>
                </a:solidFill>
              </a:rPr>
              <a:t>performance_rating</a:t>
            </a:r>
            <a:endParaRPr lang="en-US" sz="1200" dirty="0"/>
          </a:p>
          <a:p>
            <a:pPr indent="0" marL="0">
              <a:spcAft>
                <a:spcPts val="200"/>
              </a:spcAft>
              <a:buNone/>
            </a:pPr>
            <a:r>
              <a:rPr lang="en-US" sz="1200" dirty="0">
                <a:solidFill>
                  <a:schemeClr val="tx1"/>
                </a:solidFill>
              </a:rPr>
              <a:t>salary  ← target</a:t>
            </a:r>
            <a:endParaRPr lang="en-US" sz="1200" dirty="0"/>
          </a:p>
        </p:txBody>
      </p:sp>
      <p:sp>
        <p:nvSpPr>
          <p:cNvPr id="7" name="employee_skills table"/>
          <p:cNvSpPr/>
          <p:nvPr/>
        </p:nvSpPr>
        <p:spPr>
          <a:xfrm>
            <a:off x="4434840" y="2103120"/>
            <a:ext cx="2651760" cy="1371600"/>
          </a:xfrm>
          <a:prstGeom prst="roundRect">
            <a:avLst>
              <a:gd name="adj" fmla="val 5333"/>
            </a:avLst>
          </a:prstGeom>
          <a:solidFill>
            <a:schemeClr val="bg1"/>
          </a:solidFill>
          <a:ln w="19050">
            <a:solidFill>
              <a:schemeClr val="accent1"/>
            </a:solidFill>
            <a:prstDash val="solid"/>
          </a:ln>
        </p:spPr>
      </p:sp>
      <p:sp>
        <p:nvSpPr>
          <p:cNvPr id="8" name="employee_skills header"/>
          <p:cNvSpPr/>
          <p:nvPr/>
        </p:nvSpPr>
        <p:spPr>
          <a:xfrm>
            <a:off x="4434840" y="2103120"/>
            <a:ext cx="2651760" cy="457200"/>
          </a:xfrm>
          <a:prstGeom prst="roundRect">
            <a:avLst>
              <a:gd name="adj" fmla="val 16000"/>
            </a:avLst>
          </a:prstGeom>
          <a:solidFill>
            <a:schemeClr val="accent1"/>
          </a:solidFill>
          <a:ln/>
        </p:spPr>
      </p:sp>
      <p:sp>
        <p:nvSpPr>
          <p:cNvPr id="9" name="Text 7"/>
          <p:cNvSpPr txBox="1"/>
          <p:nvPr/>
        </p:nvSpPr>
        <p:spPr>
          <a:xfrm>
            <a:off x="4572000" y="2103120"/>
            <a:ext cx="2377440" cy="457200"/>
          </a:xfrm>
          <a:prstGeom prst="rect">
            <a:avLst/>
          </a:prstGeom>
          <a:noFill/>
          <a:ln/>
        </p:spPr>
        <p:txBody>
          <a:bodyPr wrap="square" lIns="0" tIns="0" rIns="0" bIns="0" rtlCol="0" anchor="ctr"/>
          <a:lstStyle/>
          <a:p>
            <a:pPr indent="0" marL="0">
              <a:buNone/>
            </a:pPr>
            <a:r>
              <a:rPr lang="en-US" sz="1500" b="1" dirty="0">
                <a:solidFill>
                  <a:schemeClr val="bg1"/>
                </a:solidFill>
              </a:rPr>
              <a:t>employee_skills</a:t>
            </a:r>
            <a:endParaRPr lang="en-US" sz="1500" dirty="0"/>
          </a:p>
        </p:txBody>
      </p:sp>
      <p:sp>
        <p:nvSpPr>
          <p:cNvPr id="10" name="Text 8"/>
          <p:cNvSpPr txBox="1"/>
          <p:nvPr/>
        </p:nvSpPr>
        <p:spPr>
          <a:xfrm>
            <a:off x="4599432" y="2670048"/>
            <a:ext cx="2377440" cy="731520"/>
          </a:xfrm>
          <a:prstGeom prst="rect">
            <a:avLst/>
          </a:prstGeom>
          <a:noFill/>
          <a:ln/>
        </p:spPr>
        <p:txBody>
          <a:bodyPr wrap="square" lIns="0" tIns="0" rIns="0" bIns="0" rtlCol="0" anchor="t"/>
          <a:lstStyle/>
          <a:p>
            <a:pPr indent="0" marL="0">
              <a:spcAft>
                <a:spcPts val="200"/>
              </a:spcAft>
              <a:buNone/>
            </a:pPr>
            <a:r>
              <a:rPr lang="en-US" sz="1200" b="1" dirty="0">
                <a:solidFill>
                  <a:schemeClr val="tx1"/>
                </a:solidFill>
              </a:rPr>
              <a:t>employee_id  (FK)</a:t>
            </a:r>
            <a:endParaRPr lang="en-US" sz="1200" dirty="0"/>
          </a:p>
          <a:p>
            <a:pPr indent="0" marL="0">
              <a:spcAft>
                <a:spcPts val="200"/>
              </a:spcAft>
              <a:buNone/>
            </a:pPr>
            <a:r>
              <a:rPr lang="en-US" sz="1200" dirty="0">
                <a:solidFill>
                  <a:schemeClr val="tx1"/>
                </a:solidFill>
              </a:rPr>
              <a:t>skill_id  (FK)</a:t>
            </a:r>
            <a:endParaRPr lang="en-US" sz="1200" dirty="0"/>
          </a:p>
        </p:txBody>
      </p:sp>
      <p:sp>
        <p:nvSpPr>
          <p:cNvPr id="11" name="skills table"/>
          <p:cNvSpPr/>
          <p:nvPr/>
        </p:nvSpPr>
        <p:spPr>
          <a:xfrm>
            <a:off x="7863840" y="2103120"/>
            <a:ext cx="2651760" cy="1371600"/>
          </a:xfrm>
          <a:prstGeom prst="roundRect">
            <a:avLst>
              <a:gd name="adj" fmla="val 5333"/>
            </a:avLst>
          </a:prstGeom>
          <a:solidFill>
            <a:schemeClr val="bg1"/>
          </a:solidFill>
          <a:ln w="19050">
            <a:solidFill>
              <a:schemeClr val="accent1"/>
            </a:solidFill>
            <a:prstDash val="solid"/>
          </a:ln>
        </p:spPr>
      </p:sp>
      <p:sp>
        <p:nvSpPr>
          <p:cNvPr id="12" name="skills header"/>
          <p:cNvSpPr/>
          <p:nvPr/>
        </p:nvSpPr>
        <p:spPr>
          <a:xfrm>
            <a:off x="7863840" y="2103120"/>
            <a:ext cx="2651760" cy="457200"/>
          </a:xfrm>
          <a:prstGeom prst="roundRect">
            <a:avLst>
              <a:gd name="adj" fmla="val 16000"/>
            </a:avLst>
          </a:prstGeom>
          <a:solidFill>
            <a:schemeClr val="accent1"/>
          </a:solidFill>
          <a:ln/>
        </p:spPr>
      </p:sp>
      <p:sp>
        <p:nvSpPr>
          <p:cNvPr id="13" name="Text 11"/>
          <p:cNvSpPr txBox="1"/>
          <p:nvPr/>
        </p:nvSpPr>
        <p:spPr>
          <a:xfrm>
            <a:off x="8001000" y="2103120"/>
            <a:ext cx="2377440" cy="457200"/>
          </a:xfrm>
          <a:prstGeom prst="rect">
            <a:avLst/>
          </a:prstGeom>
          <a:noFill/>
          <a:ln/>
        </p:spPr>
        <p:txBody>
          <a:bodyPr wrap="square" lIns="0" tIns="0" rIns="0" bIns="0" rtlCol="0" anchor="ctr"/>
          <a:lstStyle/>
          <a:p>
            <a:pPr indent="0" marL="0">
              <a:buNone/>
            </a:pPr>
            <a:r>
              <a:rPr lang="en-US" sz="1500" b="1" dirty="0">
                <a:solidFill>
                  <a:schemeClr val="bg1"/>
                </a:solidFill>
              </a:rPr>
              <a:t>skills</a:t>
            </a:r>
            <a:endParaRPr lang="en-US" sz="1500" dirty="0"/>
          </a:p>
        </p:txBody>
      </p:sp>
      <p:sp>
        <p:nvSpPr>
          <p:cNvPr id="14" name="Text 12"/>
          <p:cNvSpPr txBox="1"/>
          <p:nvPr/>
        </p:nvSpPr>
        <p:spPr>
          <a:xfrm>
            <a:off x="8028432" y="2670048"/>
            <a:ext cx="2377440" cy="731520"/>
          </a:xfrm>
          <a:prstGeom prst="rect">
            <a:avLst/>
          </a:prstGeom>
          <a:noFill/>
          <a:ln/>
        </p:spPr>
        <p:txBody>
          <a:bodyPr wrap="square" lIns="0" tIns="0" rIns="0" bIns="0" rtlCol="0" anchor="t"/>
          <a:lstStyle/>
          <a:p>
            <a:pPr indent="0" marL="0">
              <a:spcAft>
                <a:spcPts val="200"/>
              </a:spcAft>
              <a:buNone/>
            </a:pPr>
            <a:r>
              <a:rPr lang="en-US" sz="1200" b="1" dirty="0">
                <a:solidFill>
                  <a:schemeClr val="tx1"/>
                </a:solidFill>
              </a:rPr>
              <a:t>skill_id  (PK)</a:t>
            </a:r>
            <a:endParaRPr lang="en-US" sz="1200" dirty="0"/>
          </a:p>
          <a:p>
            <a:pPr indent="0" marL="0">
              <a:spcAft>
                <a:spcPts val="200"/>
              </a:spcAft>
              <a:buNone/>
            </a:pPr>
            <a:r>
              <a:rPr lang="en-US" sz="1200" dirty="0">
                <a:solidFill>
                  <a:schemeClr val="tx1"/>
                </a:solidFill>
              </a:rPr>
              <a:t>skill_name  (10 skills)</a:t>
            </a:r>
            <a:endParaRPr lang="en-US" sz="1200" dirty="0"/>
          </a:p>
        </p:txBody>
      </p:sp>
      <p:sp>
        <p:nvSpPr>
          <p:cNvPr id="15" name="predictions table"/>
          <p:cNvSpPr/>
          <p:nvPr/>
        </p:nvSpPr>
        <p:spPr>
          <a:xfrm>
            <a:off x="4434840" y="3977640"/>
            <a:ext cx="3566160" cy="1600200"/>
          </a:xfrm>
          <a:prstGeom prst="roundRect">
            <a:avLst>
              <a:gd name="adj" fmla="val 4571"/>
            </a:avLst>
          </a:prstGeom>
          <a:solidFill>
            <a:schemeClr val="bg1"/>
          </a:solidFill>
          <a:ln w="19050">
            <a:solidFill>
              <a:schemeClr val="accent6"/>
            </a:solidFill>
            <a:prstDash val="solid"/>
          </a:ln>
        </p:spPr>
      </p:sp>
      <p:sp>
        <p:nvSpPr>
          <p:cNvPr id="16" name="predictions header"/>
          <p:cNvSpPr/>
          <p:nvPr/>
        </p:nvSpPr>
        <p:spPr>
          <a:xfrm>
            <a:off x="4434840" y="3977640"/>
            <a:ext cx="3566160" cy="457200"/>
          </a:xfrm>
          <a:prstGeom prst="roundRect">
            <a:avLst>
              <a:gd name="adj" fmla="val 16000"/>
            </a:avLst>
          </a:prstGeom>
          <a:solidFill>
            <a:schemeClr val="accent6"/>
          </a:solidFill>
          <a:ln/>
        </p:spPr>
      </p:sp>
      <p:sp>
        <p:nvSpPr>
          <p:cNvPr id="17" name="Text 15"/>
          <p:cNvSpPr txBox="1"/>
          <p:nvPr/>
        </p:nvSpPr>
        <p:spPr>
          <a:xfrm>
            <a:off x="4572000" y="3977640"/>
            <a:ext cx="3291840" cy="457200"/>
          </a:xfrm>
          <a:prstGeom prst="rect">
            <a:avLst/>
          </a:prstGeom>
          <a:noFill/>
          <a:ln/>
        </p:spPr>
        <p:txBody>
          <a:bodyPr wrap="square" lIns="0" tIns="0" rIns="0" bIns="0" rtlCol="0" anchor="ctr"/>
          <a:lstStyle/>
          <a:p>
            <a:pPr indent="0" marL="0">
              <a:buNone/>
            </a:pPr>
            <a:r>
              <a:rPr lang="en-US" sz="1500" b="1" dirty="0">
                <a:solidFill>
                  <a:schemeClr val="bg1"/>
                </a:solidFill>
              </a:rPr>
              <a:t>predictions</a:t>
            </a:r>
            <a:endParaRPr lang="en-US" sz="1500" dirty="0"/>
          </a:p>
        </p:txBody>
      </p:sp>
      <p:sp>
        <p:nvSpPr>
          <p:cNvPr id="18" name="Text 16"/>
          <p:cNvSpPr txBox="1"/>
          <p:nvPr/>
        </p:nvSpPr>
        <p:spPr>
          <a:xfrm>
            <a:off x="4599432" y="4544568"/>
            <a:ext cx="3291840" cy="960120"/>
          </a:xfrm>
          <a:prstGeom prst="rect">
            <a:avLst/>
          </a:prstGeom>
          <a:noFill/>
          <a:ln/>
        </p:spPr>
        <p:txBody>
          <a:bodyPr wrap="square" lIns="0" tIns="0" rIns="0" bIns="0" rtlCol="0" anchor="t"/>
          <a:lstStyle/>
          <a:p>
            <a:pPr indent="0" marL="0">
              <a:spcAft>
                <a:spcPts val="200"/>
              </a:spcAft>
              <a:buNone/>
            </a:pPr>
            <a:r>
              <a:rPr lang="en-US" sz="1200" b="1" dirty="0">
                <a:solidFill>
                  <a:schemeClr val="tx1"/>
                </a:solidFill>
              </a:rPr>
              <a:t>prediction_id  (PK)</a:t>
            </a:r>
            <a:endParaRPr lang="en-US" sz="1200" dirty="0"/>
          </a:p>
          <a:p>
            <a:pPr indent="0" marL="0">
              <a:spcAft>
                <a:spcPts val="200"/>
              </a:spcAft>
              <a:buNone/>
            </a:pPr>
            <a:r>
              <a:rPr lang="en-US" sz="1200" dirty="0">
                <a:solidFill>
                  <a:schemeClr val="tx1"/>
                </a:solidFill>
              </a:rPr>
              <a:t>inputs + predicted_salary</a:t>
            </a:r>
            <a:endParaRPr lang="en-US" sz="1200" dirty="0"/>
          </a:p>
          <a:p>
            <a:pPr indent="0" marL="0">
              <a:spcAft>
                <a:spcPts val="200"/>
              </a:spcAft>
              <a:buNone/>
            </a:pPr>
            <a:r>
              <a:rPr lang="en-US" sz="1200" dirty="0">
                <a:solidFill>
                  <a:schemeClr val="tx1"/>
                </a:solidFill>
              </a:rPr>
              <a:t>lower / upper bound, model, time</a:t>
            </a:r>
            <a:endParaRPr lang="en-US" sz="1200" dirty="0"/>
          </a:p>
        </p:txBody>
      </p:sp>
      <p:sp>
        <p:nvSpPr>
          <p:cNvPr id="19" name="model_runs table"/>
          <p:cNvSpPr/>
          <p:nvPr/>
        </p:nvSpPr>
        <p:spPr>
          <a:xfrm>
            <a:off x="8229600" y="3977640"/>
            <a:ext cx="3410712" cy="1600200"/>
          </a:xfrm>
          <a:prstGeom prst="roundRect">
            <a:avLst>
              <a:gd name="adj" fmla="val 4571"/>
            </a:avLst>
          </a:prstGeom>
          <a:solidFill>
            <a:schemeClr val="bg1"/>
          </a:solidFill>
          <a:ln w="19050">
            <a:solidFill>
              <a:schemeClr val="accent6"/>
            </a:solidFill>
            <a:prstDash val="solid"/>
          </a:ln>
        </p:spPr>
      </p:sp>
      <p:sp>
        <p:nvSpPr>
          <p:cNvPr id="20" name="model_runs header"/>
          <p:cNvSpPr/>
          <p:nvPr/>
        </p:nvSpPr>
        <p:spPr>
          <a:xfrm>
            <a:off x="8229600" y="3977640"/>
            <a:ext cx="3410712" cy="457200"/>
          </a:xfrm>
          <a:prstGeom prst="roundRect">
            <a:avLst>
              <a:gd name="adj" fmla="val 16000"/>
            </a:avLst>
          </a:prstGeom>
          <a:solidFill>
            <a:schemeClr val="accent6"/>
          </a:solidFill>
          <a:ln/>
        </p:spPr>
      </p:sp>
      <p:sp>
        <p:nvSpPr>
          <p:cNvPr id="21" name="Text 19"/>
          <p:cNvSpPr txBox="1"/>
          <p:nvPr/>
        </p:nvSpPr>
        <p:spPr>
          <a:xfrm>
            <a:off x="8366760" y="3977640"/>
            <a:ext cx="3136392" cy="457200"/>
          </a:xfrm>
          <a:prstGeom prst="rect">
            <a:avLst/>
          </a:prstGeom>
          <a:noFill/>
          <a:ln/>
        </p:spPr>
        <p:txBody>
          <a:bodyPr wrap="square" lIns="0" tIns="0" rIns="0" bIns="0" rtlCol="0" anchor="ctr"/>
          <a:lstStyle/>
          <a:p>
            <a:pPr indent="0" marL="0">
              <a:buNone/>
            </a:pPr>
            <a:r>
              <a:rPr lang="en-US" sz="1500" b="1" dirty="0">
                <a:solidFill>
                  <a:schemeClr val="bg1"/>
                </a:solidFill>
              </a:rPr>
              <a:t>model_runs</a:t>
            </a:r>
            <a:endParaRPr lang="en-US" sz="1500" dirty="0"/>
          </a:p>
        </p:txBody>
      </p:sp>
      <p:sp>
        <p:nvSpPr>
          <p:cNvPr id="22" name="Text 20"/>
          <p:cNvSpPr txBox="1"/>
          <p:nvPr/>
        </p:nvSpPr>
        <p:spPr>
          <a:xfrm>
            <a:off x="8394192" y="4544568"/>
            <a:ext cx="3136392" cy="960120"/>
          </a:xfrm>
          <a:prstGeom prst="rect">
            <a:avLst/>
          </a:prstGeom>
          <a:noFill/>
          <a:ln/>
        </p:spPr>
        <p:txBody>
          <a:bodyPr wrap="square" lIns="0" tIns="0" rIns="0" bIns="0" rtlCol="0" anchor="t"/>
          <a:lstStyle/>
          <a:p>
            <a:pPr indent="0" marL="0">
              <a:spcAft>
                <a:spcPts val="200"/>
              </a:spcAft>
              <a:buNone/>
            </a:pPr>
            <a:r>
              <a:rPr lang="en-US" sz="1200" b="1" dirty="0">
                <a:solidFill>
                  <a:schemeClr val="tx1"/>
                </a:solidFill>
              </a:rPr>
              <a:t>run_id  (PK)</a:t>
            </a:r>
            <a:endParaRPr lang="en-US" sz="1200" dirty="0"/>
          </a:p>
          <a:p>
            <a:pPr indent="0" marL="0">
              <a:spcAft>
                <a:spcPts val="200"/>
              </a:spcAft>
              <a:buNone/>
            </a:pPr>
            <a:r>
              <a:rPr lang="en-US" sz="1200" dirty="0">
                <a:solidFill>
                  <a:schemeClr val="tx1"/>
                </a:solidFill>
              </a:rPr>
              <a:t>model_name, r2, mae, rmse</a:t>
            </a:r>
            <a:endParaRPr lang="en-US" sz="1200" dirty="0"/>
          </a:p>
          <a:p>
            <a:pPr indent="0" marL="0">
              <a:spcAft>
                <a:spcPts val="200"/>
              </a:spcAft>
              <a:buNone/>
            </a:pPr>
            <a:r>
              <a:rPr lang="en-US" sz="1200" dirty="0">
                <a:solidFill>
                  <a:schemeClr val="tx1"/>
                </a:solidFill>
              </a:rPr>
              <a:t>cv_r2, train_rows, time</a:t>
            </a:r>
            <a:endParaRPr lang="en-US" sz="1200" dirty="0"/>
          </a:p>
        </p:txBody>
      </p:sp>
      <p:sp>
        <p:nvSpPr>
          <p:cNvPr id="23" name="rel employees-skills"/>
          <p:cNvSpPr/>
          <p:nvPr/>
        </p:nvSpPr>
        <p:spPr>
          <a:xfrm>
            <a:off x="3657600" y="2788920"/>
            <a:ext cx="777240" cy="0"/>
          </a:xfrm>
          <a:prstGeom prst="line">
            <a:avLst/>
          </a:prstGeom>
          <a:noFill/>
          <a:ln w="25400">
            <a:solidFill>
              <a:schemeClr val="tx2"/>
            </a:solidFill>
            <a:prstDash val="solid"/>
          </a:ln>
        </p:spPr>
      </p:sp>
      <p:sp>
        <p:nvSpPr>
          <p:cNvPr id="24" name="rel skills"/>
          <p:cNvSpPr/>
          <p:nvPr/>
        </p:nvSpPr>
        <p:spPr>
          <a:xfrm>
            <a:off x="7086600" y="2788920"/>
            <a:ext cx="777240" cy="0"/>
          </a:xfrm>
          <a:prstGeom prst="line">
            <a:avLst/>
          </a:prstGeom>
          <a:noFill/>
          <a:ln w="25400">
            <a:solidFill>
              <a:schemeClr val="tx2"/>
            </a:solidFill>
            <a:prstDash val="solid"/>
          </a:ln>
        </p:spPr>
      </p:sp>
      <p:sp>
        <p:nvSpPr>
          <p:cNvPr id="25" name="Text 23"/>
          <p:cNvSpPr txBox="1"/>
          <p:nvPr/>
        </p:nvSpPr>
        <p:spPr>
          <a:xfrm>
            <a:off x="3657600" y="2423160"/>
            <a:ext cx="777240" cy="320040"/>
          </a:xfrm>
          <a:prstGeom prst="rect">
            <a:avLst/>
          </a:prstGeom>
          <a:noFill/>
          <a:ln/>
        </p:spPr>
        <p:txBody>
          <a:bodyPr wrap="square" lIns="0" tIns="0" rIns="0" bIns="0" rtlCol="0" anchor="t"/>
          <a:lstStyle/>
          <a:p>
            <a:pPr algn="ctr" indent="0" marL="0">
              <a:buNone/>
            </a:pPr>
            <a:r>
              <a:rPr lang="en-US" sz="1200" b="1" dirty="0">
                <a:solidFill>
                  <a:schemeClr val="tx2"/>
                </a:solidFill>
              </a:rPr>
              <a:t>1 : N</a:t>
            </a:r>
            <a:endParaRPr lang="en-US" sz="1200" dirty="0"/>
          </a:p>
        </p:txBody>
      </p:sp>
      <p:sp>
        <p:nvSpPr>
          <p:cNvPr id="26" name="Text 24"/>
          <p:cNvSpPr txBox="1"/>
          <p:nvPr/>
        </p:nvSpPr>
        <p:spPr>
          <a:xfrm>
            <a:off x="7086600" y="2423160"/>
            <a:ext cx="777240" cy="320040"/>
          </a:xfrm>
          <a:prstGeom prst="rect">
            <a:avLst/>
          </a:prstGeom>
          <a:noFill/>
          <a:ln/>
        </p:spPr>
        <p:txBody>
          <a:bodyPr wrap="square" lIns="0" tIns="0" rIns="0" bIns="0" rtlCol="0" anchor="t"/>
          <a:lstStyle/>
          <a:p>
            <a:pPr algn="ctr" indent="0" marL="0">
              <a:buNone/>
            </a:pPr>
            <a:r>
              <a:rPr lang="en-US" sz="1200" b="1" dirty="0">
                <a:solidFill>
                  <a:schemeClr val="tx2"/>
                </a:solidFill>
              </a:rPr>
              <a:t>N : 1</a:t>
            </a:r>
            <a:endParaRPr lang="en-US" sz="1200" dirty="0"/>
          </a:p>
        </p:txBody>
      </p:sp>
      <p:sp>
        <p:nvSpPr>
          <p:cNvPr id="27" name="Text 25"/>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400" b="1" dirty="0">
                <a:solidFill>
                  <a:schemeClr val="tx2"/>
                </a:solidFill>
              </a:rPr>
              <a:t>Many-to-many: </a:t>
            </a:r>
            <a:pPr indent="0" marL="0">
              <a:buNone/>
            </a:pPr>
            <a:r>
              <a:rPr lang="en-US" sz="1400" dirty="0">
                <a:solidFill>
                  <a:schemeClr val="accent6"/>
                </a:solidFill>
              </a:rPr>
              <a:t>one employee has many skills and one skill belongs to many employees, so skills live in their own table linked by employee_skills (3NF). All queries are parameterised to prevent SQL injection.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Dataset and features</a:t>
            </a:r>
            <a:endParaRPr lang="en-US" sz="3400" dirty="0"/>
          </a:p>
        </p:txBody>
      </p:sp>
      <p:sp>
        <p:nvSpPr>
          <p:cNvPr id="3" name="stat 1"/>
          <p:cNvSpPr/>
          <p:nvPr/>
        </p:nvSpPr>
        <p:spPr>
          <a:xfrm>
            <a:off x="548640" y="1417320"/>
            <a:ext cx="3749040" cy="1024128"/>
          </a:xfrm>
          <a:prstGeom prst="roundRect">
            <a:avLst>
              <a:gd name="adj" fmla="val 10714"/>
            </a:avLst>
          </a:prstGeom>
          <a:solidFill>
            <a:schemeClr val="bg2"/>
          </a:solidFill>
          <a:ln/>
        </p:spPr>
      </p:sp>
      <p:sp>
        <p:nvSpPr>
          <p:cNvPr id="4" name="Text 2"/>
          <p:cNvSpPr txBox="1"/>
          <p:nvPr/>
        </p:nvSpPr>
        <p:spPr>
          <a:xfrm>
            <a:off x="777240" y="1527048"/>
            <a:ext cx="33832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1,200</a:t>
            </a:r>
            <a:endParaRPr lang="en-US" sz="3200" dirty="0"/>
          </a:p>
        </p:txBody>
      </p:sp>
      <p:sp>
        <p:nvSpPr>
          <p:cNvPr id="5" name="Text 3"/>
          <p:cNvSpPr txBox="1"/>
          <p:nvPr/>
        </p:nvSpPr>
        <p:spPr>
          <a:xfrm>
            <a:off x="777240" y="2075688"/>
            <a:ext cx="3383280" cy="320040"/>
          </a:xfrm>
          <a:prstGeom prst="rect">
            <a:avLst/>
          </a:prstGeom>
          <a:noFill/>
          <a:ln/>
        </p:spPr>
        <p:txBody>
          <a:bodyPr wrap="square" lIns="0" tIns="0" rIns="0" bIns="0" rtlCol="0" anchor="t"/>
          <a:lstStyle/>
          <a:p>
            <a:pPr indent="0" marL="0">
              <a:buNone/>
            </a:pPr>
            <a:r>
              <a:rPr lang="en-US" sz="1400" dirty="0">
                <a:solidFill>
                  <a:schemeClr val="accent6"/>
                </a:solidFill>
              </a:rPr>
              <a:t>employee records</a:t>
            </a:r>
            <a:endParaRPr lang="en-US" sz="1400" dirty="0"/>
          </a:p>
        </p:txBody>
      </p:sp>
      <p:sp>
        <p:nvSpPr>
          <p:cNvPr id="6" name="stat 2"/>
          <p:cNvSpPr/>
          <p:nvPr/>
        </p:nvSpPr>
        <p:spPr>
          <a:xfrm>
            <a:off x="548640" y="2606040"/>
            <a:ext cx="3749040" cy="1024128"/>
          </a:xfrm>
          <a:prstGeom prst="roundRect">
            <a:avLst>
              <a:gd name="adj" fmla="val 10714"/>
            </a:avLst>
          </a:prstGeom>
          <a:solidFill>
            <a:schemeClr val="bg2"/>
          </a:solidFill>
          <a:ln/>
        </p:spPr>
      </p:sp>
      <p:sp>
        <p:nvSpPr>
          <p:cNvPr id="7" name="Text 5"/>
          <p:cNvSpPr txBox="1"/>
          <p:nvPr/>
        </p:nvSpPr>
        <p:spPr>
          <a:xfrm>
            <a:off x="777240" y="2715768"/>
            <a:ext cx="33832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12.03 L</a:t>
            </a:r>
            <a:endParaRPr lang="en-US" sz="3200" dirty="0"/>
          </a:p>
        </p:txBody>
      </p:sp>
      <p:sp>
        <p:nvSpPr>
          <p:cNvPr id="8" name="Text 6"/>
          <p:cNvSpPr txBox="1"/>
          <p:nvPr/>
        </p:nvSpPr>
        <p:spPr>
          <a:xfrm>
            <a:off x="777240" y="3264408"/>
            <a:ext cx="3383280" cy="320040"/>
          </a:xfrm>
          <a:prstGeom prst="rect">
            <a:avLst/>
          </a:prstGeom>
          <a:noFill/>
          <a:ln/>
        </p:spPr>
        <p:txBody>
          <a:bodyPr wrap="square" lIns="0" tIns="0" rIns="0" bIns="0" rtlCol="0" anchor="t"/>
          <a:lstStyle/>
          <a:p>
            <a:pPr indent="0" marL="0">
              <a:buNone/>
            </a:pPr>
            <a:r>
              <a:rPr lang="en-US" sz="1400" dirty="0">
                <a:solidFill>
                  <a:schemeClr val="accent6"/>
                </a:solidFill>
              </a:rPr>
              <a:t>average salary (₹/yr)</a:t>
            </a:r>
            <a:endParaRPr lang="en-US" sz="1400" dirty="0"/>
          </a:p>
        </p:txBody>
      </p:sp>
      <p:sp>
        <p:nvSpPr>
          <p:cNvPr id="9" name="stat 3"/>
          <p:cNvSpPr/>
          <p:nvPr/>
        </p:nvSpPr>
        <p:spPr>
          <a:xfrm>
            <a:off x="548640" y="3794760"/>
            <a:ext cx="3749040" cy="1024128"/>
          </a:xfrm>
          <a:prstGeom prst="roundRect">
            <a:avLst>
              <a:gd name="adj" fmla="val 10714"/>
            </a:avLst>
          </a:prstGeom>
          <a:solidFill>
            <a:schemeClr val="bg2"/>
          </a:solidFill>
          <a:ln/>
        </p:spPr>
      </p:sp>
      <p:sp>
        <p:nvSpPr>
          <p:cNvPr id="10" name="Text 8"/>
          <p:cNvSpPr txBox="1"/>
          <p:nvPr/>
        </p:nvSpPr>
        <p:spPr>
          <a:xfrm>
            <a:off x="777240" y="3904488"/>
            <a:ext cx="33832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14</a:t>
            </a:r>
            <a:endParaRPr lang="en-US" sz="3200" dirty="0"/>
          </a:p>
        </p:txBody>
      </p:sp>
      <p:sp>
        <p:nvSpPr>
          <p:cNvPr id="11" name="Text 9"/>
          <p:cNvSpPr txBox="1"/>
          <p:nvPr/>
        </p:nvSpPr>
        <p:spPr>
          <a:xfrm>
            <a:off x="777240" y="4453128"/>
            <a:ext cx="3383280" cy="320040"/>
          </a:xfrm>
          <a:prstGeom prst="rect">
            <a:avLst/>
          </a:prstGeom>
          <a:noFill/>
          <a:ln/>
        </p:spPr>
        <p:txBody>
          <a:bodyPr wrap="square" lIns="0" tIns="0" rIns="0" bIns="0" rtlCol="0" anchor="t"/>
          <a:lstStyle/>
          <a:p>
            <a:pPr indent="0" marL="0">
              <a:buNone/>
            </a:pPr>
            <a:r>
              <a:rPr lang="en-US" sz="1400" dirty="0">
                <a:solidFill>
                  <a:schemeClr val="accent6"/>
                </a:solidFill>
              </a:rPr>
              <a:t>input features</a:t>
            </a:r>
            <a:endParaRPr lang="en-US" sz="1400" dirty="0"/>
          </a:p>
        </p:txBody>
      </p:sp>
      <p:sp>
        <p:nvSpPr>
          <p:cNvPr id="12" name="stat 4"/>
          <p:cNvSpPr/>
          <p:nvPr/>
        </p:nvSpPr>
        <p:spPr>
          <a:xfrm>
            <a:off x="548640" y="4983480"/>
            <a:ext cx="3749040" cy="1024128"/>
          </a:xfrm>
          <a:prstGeom prst="roundRect">
            <a:avLst>
              <a:gd name="adj" fmla="val 10714"/>
            </a:avLst>
          </a:prstGeom>
          <a:solidFill>
            <a:schemeClr val="bg2"/>
          </a:solidFill>
          <a:ln/>
        </p:spPr>
      </p:sp>
      <p:sp>
        <p:nvSpPr>
          <p:cNvPr id="13" name="Text 11"/>
          <p:cNvSpPr txBox="1"/>
          <p:nvPr/>
        </p:nvSpPr>
        <p:spPr>
          <a:xfrm>
            <a:off x="777240" y="5093208"/>
            <a:ext cx="338328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8</a:t>
            </a:r>
            <a:endParaRPr lang="en-US" sz="3200" dirty="0"/>
          </a:p>
        </p:txBody>
      </p:sp>
      <p:sp>
        <p:nvSpPr>
          <p:cNvPr id="14" name="Text 12"/>
          <p:cNvSpPr txBox="1"/>
          <p:nvPr/>
        </p:nvSpPr>
        <p:spPr>
          <a:xfrm>
            <a:off x="777240" y="5641848"/>
            <a:ext cx="3383280" cy="320040"/>
          </a:xfrm>
          <a:prstGeom prst="rect">
            <a:avLst/>
          </a:prstGeom>
          <a:noFill/>
          <a:ln/>
        </p:spPr>
        <p:txBody>
          <a:bodyPr wrap="square" lIns="0" tIns="0" rIns="0" bIns="0" rtlCol="0" anchor="t"/>
          <a:lstStyle/>
          <a:p>
            <a:pPr indent="0" marL="0">
              <a:buNone/>
            </a:pPr>
            <a:r>
              <a:rPr lang="en-US" sz="1400" dirty="0">
                <a:solidFill>
                  <a:schemeClr val="accent6"/>
                </a:solidFill>
              </a:rPr>
              <a:t>job roles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663440" y="1417320"/>
          <a:ext cx="6976872" cy="914400"/>
        </p:xfrm>
        <a:graphic>
          <a:graphicData uri="http://schemas.openxmlformats.org/drawingml/2006/table">
            <a:tbl>
              <a:tblPr/>
              <a:tblGrid>
                <a:gridCol w="2743200"/>
                <a:gridCol w="2103120"/>
                <a:gridCol w="2130552"/>
              </a:tblGrid>
              <a:tr h="512064">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Encoding</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tx2"/>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Experience (years)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Number</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Standard scaling</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Certifications, rating</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Number</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Standard scaling</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Education</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Category (4)</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One-hot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Job role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Category (8)</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One-hot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Location, company type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Category (3 each)</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One-hot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 skills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 / No</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0 / 1 flags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Salary (target)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 per year</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log transform</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bl>
          </a:graphicData>
        </a:graphic>
      </p:graphicFrame>
      <p:sp>
        <p:nvSpPr>
          <p:cNvPr id="16" name="Text 13"/>
          <p:cNvSpPr txBox="1"/>
          <p:nvPr/>
        </p:nvSpPr>
        <p:spPr>
          <a:xfrm>
            <a:off x="4663440" y="5669280"/>
            <a:ext cx="6976872" cy="457200"/>
          </a:xfrm>
          <a:prstGeom prst="rect">
            <a:avLst/>
          </a:prstGeom>
          <a:noFill/>
          <a:ln/>
        </p:spPr>
        <p:txBody>
          <a:bodyPr wrap="square" lIns="0" tIns="0" rIns="0" bIns="0" rtlCol="0" anchor="t"/>
          <a:lstStyle/>
          <a:p>
            <a:pPr indent="0" marL="0">
              <a:buNone/>
            </a:pPr>
            <a:r>
              <a:rPr lang="en-US" sz="1300" i="1" dirty="0">
                <a:solidFill>
                  <a:schemeClr val="accent6"/>
                </a:solidFill>
              </a:rPr>
              <a:t>Realistic sample data for the Indian job market, stored in MySQL; the model learns the pattern only from these rows.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Experience and job role drive pay the most</a:t>
            </a:r>
            <a:endParaRPr lang="en-US" sz="3400" dirty="0"/>
          </a:p>
        </p:txBody>
      </p:sp>
      <p:graphicFrame>
        <p:nvGraphicFramePr>
          <p:cNvPr id="3" name="salary by role chart" descr="Bar chart of average salary by job role"/>
          <p:cNvGraphicFramePr/>
          <p:nvPr/>
        </p:nvGraphicFramePr>
        <p:xfrm>
          <a:off x="548640" y="1371600"/>
          <a:ext cx="566928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salary by experience chart" descr="Line chart of average salary rising with experience"/>
          <p:cNvGraphicFramePr/>
          <p:nvPr/>
        </p:nvGraphicFramePr>
        <p:xfrm>
          <a:off x="6492240" y="1371600"/>
          <a:ext cx="5148072" cy="47548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Machine-learning pipeline</a:t>
            </a:r>
            <a:endParaRPr lang="en-US" sz="3400" dirty="0"/>
          </a:p>
        </p:txBody>
      </p:sp>
      <p:sp>
        <p:nvSpPr>
          <p:cNvPr id="3" name="Load icon circle"/>
          <p:cNvSpPr/>
          <p:nvPr/>
        </p:nvSpPr>
        <p:spPr>
          <a:xfrm>
            <a:off x="960120" y="1463040"/>
            <a:ext cx="868680" cy="868680"/>
          </a:xfrm>
          <a:prstGeom prst="ellipse">
            <a:avLst/>
          </a:prstGeom>
          <a:solidFill>
            <a:schemeClr val="accent1"/>
          </a:solidFill>
          <a:ln/>
        </p:spPr>
      </p:sp>
      <p:pic>
        <p:nvPicPr>
          <p:cNvPr id="4" name="Load icon" descr="Load">    </p:cNvPr>
          <p:cNvPicPr>
            <a:picLocks noChangeAspect="1"/>
          </p:cNvPicPr>
          <p:nvPr/>
        </p:nvPicPr>
        <p:blipFill>
          <a:blip r:embed="rId1"/>
          <a:stretch>
            <a:fillRect/>
          </a:stretch>
        </p:blipFill>
        <p:spPr>
          <a:xfrm>
            <a:off x="1177290" y="1680210"/>
            <a:ext cx="434340" cy="434340"/>
          </a:xfrm>
          <a:prstGeom prst="rect">
            <a:avLst/>
          </a:prstGeom>
        </p:spPr>
      </p:pic>
      <p:sp>
        <p:nvSpPr>
          <p:cNvPr id="5" name="Text 2"/>
          <p:cNvSpPr txBox="1"/>
          <p:nvPr/>
        </p:nvSpPr>
        <p:spPr>
          <a:xfrm>
            <a:off x="548640" y="246888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1. Load</a:t>
            </a:r>
            <a:endParaRPr lang="en-US" sz="1700" dirty="0"/>
          </a:p>
        </p:txBody>
      </p:sp>
      <p:sp>
        <p:nvSpPr>
          <p:cNvPr id="6" name="Text 3"/>
          <p:cNvSpPr txBox="1"/>
          <p:nvPr/>
        </p:nvSpPr>
        <p:spPr>
          <a:xfrm>
            <a:off x="548640" y="2834640"/>
            <a:ext cx="1691640" cy="548640"/>
          </a:xfrm>
          <a:prstGeom prst="rect">
            <a:avLst/>
          </a:prstGeom>
          <a:noFill/>
          <a:ln/>
        </p:spPr>
        <p:txBody>
          <a:bodyPr wrap="square" lIns="0" tIns="0" rIns="0" bIns="0" rtlCol="0" anchor="t"/>
          <a:lstStyle/>
          <a:p>
            <a:pPr algn="ctr" indent="0" marL="0">
              <a:buNone/>
            </a:pPr>
            <a:r>
              <a:rPr lang="en-US" sz="1300" dirty="0">
                <a:solidFill>
                  <a:schemeClr val="accent6"/>
                </a:solidFill>
              </a:rPr>
              <a:t>JOIN tables from MySQL</a:t>
            </a:r>
            <a:endParaRPr lang="en-US" sz="1300" dirty="0"/>
          </a:p>
        </p:txBody>
      </p:sp>
      <p:sp>
        <p:nvSpPr>
          <p:cNvPr id="7" name="step arrow 1"/>
          <p:cNvSpPr/>
          <p:nvPr/>
        </p:nvSpPr>
        <p:spPr>
          <a:xfrm>
            <a:off x="2130552" y="1892808"/>
            <a:ext cx="402336" cy="0"/>
          </a:xfrm>
          <a:prstGeom prst="line">
            <a:avLst/>
          </a:prstGeom>
          <a:noFill/>
          <a:ln w="19050">
            <a:solidFill>
              <a:schemeClr val="accent6"/>
            </a:solidFill>
            <a:prstDash val="solid"/>
            <a:tailEnd type="triangle"/>
          </a:ln>
        </p:spPr>
      </p:sp>
      <p:sp>
        <p:nvSpPr>
          <p:cNvPr id="8" name="Prepare icon circle"/>
          <p:cNvSpPr/>
          <p:nvPr/>
        </p:nvSpPr>
        <p:spPr>
          <a:xfrm>
            <a:off x="2834640" y="1463040"/>
            <a:ext cx="868680" cy="868680"/>
          </a:xfrm>
          <a:prstGeom prst="ellipse">
            <a:avLst/>
          </a:prstGeom>
          <a:solidFill>
            <a:schemeClr val="accent1"/>
          </a:solidFill>
          <a:ln/>
        </p:spPr>
      </p:sp>
      <p:pic>
        <p:nvPicPr>
          <p:cNvPr id="9" name="Prepare icon" descr="Prepare">    </p:cNvPr>
          <p:cNvPicPr>
            <a:picLocks noChangeAspect="1"/>
          </p:cNvPicPr>
          <p:nvPr/>
        </p:nvPicPr>
        <p:blipFill>
          <a:blip r:embed="rId2"/>
          <a:stretch>
            <a:fillRect/>
          </a:stretch>
        </p:blipFill>
        <p:spPr>
          <a:xfrm>
            <a:off x="3051810" y="1680210"/>
            <a:ext cx="434340" cy="434340"/>
          </a:xfrm>
          <a:prstGeom prst="rect">
            <a:avLst/>
          </a:prstGeom>
        </p:spPr>
      </p:pic>
      <p:sp>
        <p:nvSpPr>
          <p:cNvPr id="10" name="Text 6"/>
          <p:cNvSpPr txBox="1"/>
          <p:nvPr/>
        </p:nvSpPr>
        <p:spPr>
          <a:xfrm>
            <a:off x="2423160" y="246888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2. Prepare</a:t>
            </a:r>
            <a:endParaRPr lang="en-US" sz="1700" dirty="0"/>
          </a:p>
        </p:txBody>
      </p:sp>
      <p:sp>
        <p:nvSpPr>
          <p:cNvPr id="11" name="Text 7"/>
          <p:cNvSpPr txBox="1"/>
          <p:nvPr/>
        </p:nvSpPr>
        <p:spPr>
          <a:xfrm>
            <a:off x="2423160" y="2834640"/>
            <a:ext cx="1691640" cy="548640"/>
          </a:xfrm>
          <a:prstGeom prst="rect">
            <a:avLst/>
          </a:prstGeom>
          <a:noFill/>
          <a:ln/>
        </p:spPr>
        <p:txBody>
          <a:bodyPr wrap="square" lIns="0" tIns="0" rIns="0" bIns="0" rtlCol="0" anchor="t"/>
          <a:lstStyle/>
          <a:p>
            <a:pPr algn="ctr" indent="0" marL="0">
              <a:buNone/>
            </a:pPr>
            <a:r>
              <a:rPr lang="en-US" sz="1300" dirty="0">
                <a:solidFill>
                  <a:schemeClr val="accent6"/>
                </a:solidFill>
              </a:rPr>
              <a:t>One-hot, scale, log(salary)</a:t>
            </a:r>
            <a:endParaRPr lang="en-US" sz="1300" dirty="0"/>
          </a:p>
        </p:txBody>
      </p:sp>
      <p:sp>
        <p:nvSpPr>
          <p:cNvPr id="12" name="step arrow 2"/>
          <p:cNvSpPr/>
          <p:nvPr/>
        </p:nvSpPr>
        <p:spPr>
          <a:xfrm>
            <a:off x="4005072" y="1892808"/>
            <a:ext cx="402336" cy="0"/>
          </a:xfrm>
          <a:prstGeom prst="line">
            <a:avLst/>
          </a:prstGeom>
          <a:noFill/>
          <a:ln w="19050">
            <a:solidFill>
              <a:schemeClr val="accent6"/>
            </a:solidFill>
            <a:prstDash val="solid"/>
            <a:tailEnd type="triangle"/>
          </a:ln>
        </p:spPr>
      </p:sp>
      <p:sp>
        <p:nvSpPr>
          <p:cNvPr id="13" name="Split icon circle"/>
          <p:cNvSpPr/>
          <p:nvPr/>
        </p:nvSpPr>
        <p:spPr>
          <a:xfrm>
            <a:off x="4709160" y="1463040"/>
            <a:ext cx="868680" cy="868680"/>
          </a:xfrm>
          <a:prstGeom prst="ellipse">
            <a:avLst/>
          </a:prstGeom>
          <a:solidFill>
            <a:schemeClr val="accent1"/>
          </a:solidFill>
          <a:ln/>
        </p:spPr>
      </p:sp>
      <p:pic>
        <p:nvPicPr>
          <p:cNvPr id="14" name="Split icon" descr="Split">    </p:cNvPr>
          <p:cNvPicPr>
            <a:picLocks noChangeAspect="1"/>
          </p:cNvPicPr>
          <p:nvPr/>
        </p:nvPicPr>
        <p:blipFill>
          <a:blip r:embed="rId3"/>
          <a:stretch>
            <a:fillRect/>
          </a:stretch>
        </p:blipFill>
        <p:spPr>
          <a:xfrm>
            <a:off x="4926330" y="1680210"/>
            <a:ext cx="434340" cy="434340"/>
          </a:xfrm>
          <a:prstGeom prst="rect">
            <a:avLst/>
          </a:prstGeom>
        </p:spPr>
      </p:pic>
      <p:sp>
        <p:nvSpPr>
          <p:cNvPr id="15" name="Text 10"/>
          <p:cNvSpPr txBox="1"/>
          <p:nvPr/>
        </p:nvSpPr>
        <p:spPr>
          <a:xfrm>
            <a:off x="4297680" y="246888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3. Split</a:t>
            </a:r>
            <a:endParaRPr lang="en-US" sz="1700" dirty="0"/>
          </a:p>
        </p:txBody>
      </p:sp>
      <p:sp>
        <p:nvSpPr>
          <p:cNvPr id="16" name="Text 11"/>
          <p:cNvSpPr txBox="1"/>
          <p:nvPr/>
        </p:nvSpPr>
        <p:spPr>
          <a:xfrm>
            <a:off x="4297680" y="2834640"/>
            <a:ext cx="1691640" cy="548640"/>
          </a:xfrm>
          <a:prstGeom prst="rect">
            <a:avLst/>
          </a:prstGeom>
          <a:noFill/>
          <a:ln/>
        </p:spPr>
        <p:txBody>
          <a:bodyPr wrap="square" lIns="0" tIns="0" rIns="0" bIns="0" rtlCol="0" anchor="t"/>
          <a:lstStyle/>
          <a:p>
            <a:pPr algn="ctr" indent="0" marL="0">
              <a:buNone/>
            </a:pPr>
            <a:r>
              <a:rPr lang="en-US" sz="1300" dirty="0">
                <a:solidFill>
                  <a:schemeClr val="accent6"/>
                </a:solidFill>
              </a:rPr>
              <a:t>80% train / 20% test</a:t>
            </a:r>
            <a:endParaRPr lang="en-US" sz="1300" dirty="0"/>
          </a:p>
        </p:txBody>
      </p:sp>
      <p:sp>
        <p:nvSpPr>
          <p:cNvPr id="17" name="step arrow 3"/>
          <p:cNvSpPr/>
          <p:nvPr/>
        </p:nvSpPr>
        <p:spPr>
          <a:xfrm>
            <a:off x="5879592" y="1892808"/>
            <a:ext cx="402336" cy="0"/>
          </a:xfrm>
          <a:prstGeom prst="line">
            <a:avLst/>
          </a:prstGeom>
          <a:noFill/>
          <a:ln w="19050">
            <a:solidFill>
              <a:schemeClr val="accent6"/>
            </a:solidFill>
            <a:prstDash val="solid"/>
            <a:tailEnd type="triangle"/>
          </a:ln>
        </p:spPr>
      </p:sp>
      <p:sp>
        <p:nvSpPr>
          <p:cNvPr id="18" name="Train icon circle"/>
          <p:cNvSpPr/>
          <p:nvPr/>
        </p:nvSpPr>
        <p:spPr>
          <a:xfrm>
            <a:off x="6583680" y="1463040"/>
            <a:ext cx="868680" cy="868680"/>
          </a:xfrm>
          <a:prstGeom prst="ellipse">
            <a:avLst/>
          </a:prstGeom>
          <a:solidFill>
            <a:schemeClr val="accent1"/>
          </a:solidFill>
          <a:ln/>
        </p:spPr>
      </p:sp>
      <p:pic>
        <p:nvPicPr>
          <p:cNvPr id="19" name="Train icon" descr="Train">    </p:cNvPr>
          <p:cNvPicPr>
            <a:picLocks noChangeAspect="1"/>
          </p:cNvPicPr>
          <p:nvPr/>
        </p:nvPicPr>
        <p:blipFill>
          <a:blip r:embed="rId4"/>
          <a:stretch>
            <a:fillRect/>
          </a:stretch>
        </p:blipFill>
        <p:spPr>
          <a:xfrm>
            <a:off x="6800850" y="1680210"/>
            <a:ext cx="434340" cy="434340"/>
          </a:xfrm>
          <a:prstGeom prst="rect">
            <a:avLst/>
          </a:prstGeom>
        </p:spPr>
      </p:pic>
      <p:sp>
        <p:nvSpPr>
          <p:cNvPr id="20" name="Text 14"/>
          <p:cNvSpPr txBox="1"/>
          <p:nvPr/>
        </p:nvSpPr>
        <p:spPr>
          <a:xfrm>
            <a:off x="6172200" y="246888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4. Train</a:t>
            </a:r>
            <a:endParaRPr lang="en-US" sz="1700" dirty="0"/>
          </a:p>
        </p:txBody>
      </p:sp>
      <p:sp>
        <p:nvSpPr>
          <p:cNvPr id="21" name="Text 15"/>
          <p:cNvSpPr txBox="1"/>
          <p:nvPr/>
        </p:nvSpPr>
        <p:spPr>
          <a:xfrm>
            <a:off x="6172200" y="2834640"/>
            <a:ext cx="1691640" cy="548640"/>
          </a:xfrm>
          <a:prstGeom prst="rect">
            <a:avLst/>
          </a:prstGeom>
          <a:noFill/>
          <a:ln/>
        </p:spPr>
        <p:txBody>
          <a:bodyPr wrap="square" lIns="0" tIns="0" rIns="0" bIns="0" rtlCol="0" anchor="t"/>
          <a:lstStyle/>
          <a:p>
            <a:pPr algn="ctr" indent="0" marL="0">
              <a:buNone/>
            </a:pPr>
            <a:r>
              <a:rPr lang="en-US" sz="1300" dirty="0">
                <a:solidFill>
                  <a:schemeClr val="accent6"/>
                </a:solidFill>
              </a:rPr>
              <a:t>5 models, 5-fold CV</a:t>
            </a:r>
            <a:endParaRPr lang="en-US" sz="1300" dirty="0"/>
          </a:p>
        </p:txBody>
      </p:sp>
      <p:sp>
        <p:nvSpPr>
          <p:cNvPr id="22" name="step arrow 4"/>
          <p:cNvSpPr/>
          <p:nvPr/>
        </p:nvSpPr>
        <p:spPr>
          <a:xfrm>
            <a:off x="7754112" y="1892808"/>
            <a:ext cx="402336" cy="0"/>
          </a:xfrm>
          <a:prstGeom prst="line">
            <a:avLst/>
          </a:prstGeom>
          <a:noFill/>
          <a:ln w="19050">
            <a:solidFill>
              <a:schemeClr val="accent6"/>
            </a:solidFill>
            <a:prstDash val="solid"/>
            <a:tailEnd type="triangle"/>
          </a:ln>
        </p:spPr>
      </p:sp>
      <p:sp>
        <p:nvSpPr>
          <p:cNvPr id="23" name="Select icon circle"/>
          <p:cNvSpPr/>
          <p:nvPr/>
        </p:nvSpPr>
        <p:spPr>
          <a:xfrm>
            <a:off x="8458200" y="1463040"/>
            <a:ext cx="868680" cy="868680"/>
          </a:xfrm>
          <a:prstGeom prst="ellipse">
            <a:avLst/>
          </a:prstGeom>
          <a:solidFill>
            <a:schemeClr val="accent2"/>
          </a:solidFill>
          <a:ln/>
        </p:spPr>
      </p:sp>
      <p:pic>
        <p:nvPicPr>
          <p:cNvPr id="24" name="Select icon" descr="Select">    </p:cNvPr>
          <p:cNvPicPr>
            <a:picLocks noChangeAspect="1"/>
          </p:cNvPicPr>
          <p:nvPr/>
        </p:nvPicPr>
        <p:blipFill>
          <a:blip r:embed="rId5"/>
          <a:stretch>
            <a:fillRect/>
          </a:stretch>
        </p:blipFill>
        <p:spPr>
          <a:xfrm>
            <a:off x="8675370" y="1680210"/>
            <a:ext cx="434340" cy="434340"/>
          </a:xfrm>
          <a:prstGeom prst="rect">
            <a:avLst/>
          </a:prstGeom>
        </p:spPr>
      </p:pic>
      <p:sp>
        <p:nvSpPr>
          <p:cNvPr id="25" name="Text 18"/>
          <p:cNvSpPr txBox="1"/>
          <p:nvPr/>
        </p:nvSpPr>
        <p:spPr>
          <a:xfrm>
            <a:off x="8046720" y="246888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5. Select</a:t>
            </a:r>
            <a:endParaRPr lang="en-US" sz="1700" dirty="0"/>
          </a:p>
        </p:txBody>
      </p:sp>
      <p:sp>
        <p:nvSpPr>
          <p:cNvPr id="26" name="Text 19"/>
          <p:cNvSpPr txBox="1"/>
          <p:nvPr/>
        </p:nvSpPr>
        <p:spPr>
          <a:xfrm>
            <a:off x="8046720" y="2834640"/>
            <a:ext cx="1691640" cy="548640"/>
          </a:xfrm>
          <a:prstGeom prst="rect">
            <a:avLst/>
          </a:prstGeom>
          <a:noFill/>
          <a:ln/>
        </p:spPr>
        <p:txBody>
          <a:bodyPr wrap="square" lIns="0" tIns="0" rIns="0" bIns="0" rtlCol="0" anchor="t"/>
          <a:lstStyle/>
          <a:p>
            <a:pPr algn="ctr" indent="0" marL="0">
              <a:buNone/>
            </a:pPr>
            <a:r>
              <a:rPr lang="en-US" sz="1300" dirty="0">
                <a:solidFill>
                  <a:schemeClr val="accent6"/>
                </a:solidFill>
              </a:rPr>
              <a:t>Best cross-validated R²</a:t>
            </a:r>
            <a:endParaRPr lang="en-US" sz="1300" dirty="0"/>
          </a:p>
        </p:txBody>
      </p:sp>
      <p:sp>
        <p:nvSpPr>
          <p:cNvPr id="27" name="step arrow 5"/>
          <p:cNvSpPr/>
          <p:nvPr/>
        </p:nvSpPr>
        <p:spPr>
          <a:xfrm>
            <a:off x="9628632" y="1892808"/>
            <a:ext cx="402336" cy="0"/>
          </a:xfrm>
          <a:prstGeom prst="line">
            <a:avLst/>
          </a:prstGeom>
          <a:noFill/>
          <a:ln w="19050">
            <a:solidFill>
              <a:schemeClr val="accent6"/>
            </a:solidFill>
            <a:prstDash val="solid"/>
            <a:tailEnd type="triangle"/>
          </a:ln>
        </p:spPr>
      </p:sp>
      <p:sp>
        <p:nvSpPr>
          <p:cNvPr id="28" name="Serve icon circle"/>
          <p:cNvSpPr/>
          <p:nvPr/>
        </p:nvSpPr>
        <p:spPr>
          <a:xfrm>
            <a:off x="10332720" y="1463040"/>
            <a:ext cx="868680" cy="868680"/>
          </a:xfrm>
          <a:prstGeom prst="ellipse">
            <a:avLst/>
          </a:prstGeom>
          <a:solidFill>
            <a:schemeClr val="accent1"/>
          </a:solidFill>
          <a:ln/>
        </p:spPr>
      </p:sp>
      <p:pic>
        <p:nvPicPr>
          <p:cNvPr id="29" name="Serve icon" descr="Serve">    </p:cNvPr>
          <p:cNvPicPr>
            <a:picLocks noChangeAspect="1"/>
          </p:cNvPicPr>
          <p:nvPr/>
        </p:nvPicPr>
        <p:blipFill>
          <a:blip r:embed="rId6"/>
          <a:stretch>
            <a:fillRect/>
          </a:stretch>
        </p:blipFill>
        <p:spPr>
          <a:xfrm>
            <a:off x="10549890" y="1680210"/>
            <a:ext cx="434340" cy="434340"/>
          </a:xfrm>
          <a:prstGeom prst="rect">
            <a:avLst/>
          </a:prstGeom>
        </p:spPr>
      </p:pic>
      <p:sp>
        <p:nvSpPr>
          <p:cNvPr id="30" name="Text 22"/>
          <p:cNvSpPr txBox="1"/>
          <p:nvPr/>
        </p:nvSpPr>
        <p:spPr>
          <a:xfrm>
            <a:off x="9921240" y="2468880"/>
            <a:ext cx="1691640" cy="365760"/>
          </a:xfrm>
          <a:prstGeom prst="rect">
            <a:avLst/>
          </a:prstGeom>
          <a:noFill/>
          <a:ln/>
        </p:spPr>
        <p:txBody>
          <a:bodyPr wrap="square" lIns="0" tIns="0" rIns="0" bIns="0" rtlCol="0" anchor="t"/>
          <a:lstStyle/>
          <a:p>
            <a:pPr algn="ctr" indent="0" marL="0">
              <a:buNone/>
            </a:pPr>
            <a:r>
              <a:rPr lang="en-US" sz="1700" b="1" dirty="0">
                <a:solidFill>
                  <a:schemeClr val="tx2"/>
                </a:solidFill>
              </a:rPr>
              <a:t>6. Serve</a:t>
            </a:r>
            <a:endParaRPr lang="en-US" sz="1700" dirty="0"/>
          </a:p>
        </p:txBody>
      </p:sp>
      <p:sp>
        <p:nvSpPr>
          <p:cNvPr id="31" name="Text 23"/>
          <p:cNvSpPr txBox="1"/>
          <p:nvPr/>
        </p:nvSpPr>
        <p:spPr>
          <a:xfrm>
            <a:off x="9921240" y="2834640"/>
            <a:ext cx="1691640" cy="548640"/>
          </a:xfrm>
          <a:prstGeom prst="rect">
            <a:avLst/>
          </a:prstGeom>
          <a:noFill/>
          <a:ln/>
        </p:spPr>
        <p:txBody>
          <a:bodyPr wrap="square" lIns="0" tIns="0" rIns="0" bIns="0" rtlCol="0" anchor="t"/>
          <a:lstStyle/>
          <a:p>
            <a:pPr algn="ctr" indent="0" marL="0">
              <a:buNone/>
            </a:pPr>
            <a:r>
              <a:rPr lang="en-US" sz="1300" dirty="0">
                <a:solidFill>
                  <a:schemeClr val="accent6"/>
                </a:solidFill>
              </a:rPr>
              <a:t>Save model, predict on web</a:t>
            </a:r>
            <a:endParaRPr lang="en-US" sz="1300" dirty="0"/>
          </a:p>
        </p:txBody>
      </p:sp>
      <p:sp>
        <p:nvSpPr>
          <p:cNvPr id="32" name="why 1"/>
          <p:cNvSpPr/>
          <p:nvPr/>
        </p:nvSpPr>
        <p:spPr>
          <a:xfrm>
            <a:off x="548640" y="3794760"/>
            <a:ext cx="3520440" cy="2286000"/>
          </a:xfrm>
          <a:prstGeom prst="roundRect">
            <a:avLst>
              <a:gd name="adj" fmla="val 4800"/>
            </a:avLst>
          </a:prstGeom>
          <a:solidFill>
            <a:schemeClr val="bg2"/>
          </a:solidFill>
          <a:ln/>
        </p:spPr>
      </p:sp>
      <p:sp>
        <p:nvSpPr>
          <p:cNvPr id="33" name="Text 25"/>
          <p:cNvSpPr txBox="1"/>
          <p:nvPr/>
        </p:nvSpPr>
        <p:spPr>
          <a:xfrm>
            <a:off x="822960" y="4023360"/>
            <a:ext cx="2971800" cy="365760"/>
          </a:xfrm>
          <a:prstGeom prst="rect">
            <a:avLst/>
          </a:prstGeom>
          <a:noFill/>
          <a:ln/>
        </p:spPr>
        <p:txBody>
          <a:bodyPr wrap="square" lIns="0" tIns="0" rIns="0" bIns="0" rtlCol="0" anchor="t"/>
          <a:lstStyle/>
          <a:p>
            <a:pPr indent="0" marL="0">
              <a:buNone/>
            </a:pPr>
            <a:r>
              <a:rPr lang="en-US" sz="1700" b="1" dirty="0">
                <a:solidFill>
                  <a:schemeClr val="tx2"/>
                </a:solidFill>
              </a:rPr>
              <a:t>Why log(salary)?</a:t>
            </a:r>
            <a:endParaRPr lang="en-US" sz="1700" dirty="0"/>
          </a:p>
        </p:txBody>
      </p:sp>
      <p:sp>
        <p:nvSpPr>
          <p:cNvPr id="34" name="Text 26"/>
          <p:cNvSpPr txBox="1"/>
          <p:nvPr/>
        </p:nvSpPr>
        <p:spPr>
          <a:xfrm>
            <a:off x="822960" y="4434840"/>
            <a:ext cx="2971800" cy="1554480"/>
          </a:xfrm>
          <a:prstGeom prst="rect">
            <a:avLst/>
          </a:prstGeom>
          <a:noFill/>
          <a:ln/>
        </p:spPr>
        <p:txBody>
          <a:bodyPr wrap="square" lIns="0" tIns="0" rIns="0" bIns="0" rtlCol="0" anchor="t"/>
          <a:lstStyle/>
          <a:p>
            <a:pPr indent="0" marL="0">
              <a:buNone/>
            </a:pPr>
            <a:r>
              <a:rPr lang="en-US" sz="1400" dirty="0">
                <a:solidFill>
                  <a:schemeClr val="tx1"/>
                </a:solidFill>
              </a:rPr>
              <a:t>Pay grows in percentages (a Master's adds about 18%). In log space these effects add up, and errors are fair for low and high salaries.</a:t>
            </a:r>
            <a:endParaRPr lang="en-US" sz="1400" dirty="0"/>
          </a:p>
        </p:txBody>
      </p:sp>
      <p:sp>
        <p:nvSpPr>
          <p:cNvPr id="35" name="why 2"/>
          <p:cNvSpPr/>
          <p:nvPr/>
        </p:nvSpPr>
        <p:spPr>
          <a:xfrm>
            <a:off x="4297680" y="3794760"/>
            <a:ext cx="3520440" cy="2286000"/>
          </a:xfrm>
          <a:prstGeom prst="roundRect">
            <a:avLst>
              <a:gd name="adj" fmla="val 4800"/>
            </a:avLst>
          </a:prstGeom>
          <a:solidFill>
            <a:schemeClr val="bg2"/>
          </a:solidFill>
          <a:ln/>
        </p:spPr>
      </p:sp>
      <p:sp>
        <p:nvSpPr>
          <p:cNvPr id="36" name="Text 28"/>
          <p:cNvSpPr txBox="1"/>
          <p:nvPr/>
        </p:nvSpPr>
        <p:spPr>
          <a:xfrm>
            <a:off x="4572000" y="4023360"/>
            <a:ext cx="2971800" cy="365760"/>
          </a:xfrm>
          <a:prstGeom prst="rect">
            <a:avLst/>
          </a:prstGeom>
          <a:noFill/>
          <a:ln/>
        </p:spPr>
        <p:txBody>
          <a:bodyPr wrap="square" lIns="0" tIns="0" rIns="0" bIns="0" rtlCol="0" anchor="t"/>
          <a:lstStyle/>
          <a:p>
            <a:pPr indent="0" marL="0">
              <a:buNone/>
            </a:pPr>
            <a:r>
              <a:rPr lang="en-US" sz="1700" b="1" dirty="0">
                <a:solidFill>
                  <a:schemeClr val="tx2"/>
                </a:solidFill>
              </a:rPr>
              <a:t>Why cross-validation?</a:t>
            </a:r>
            <a:endParaRPr lang="en-US" sz="1700" dirty="0"/>
          </a:p>
        </p:txBody>
      </p:sp>
      <p:sp>
        <p:nvSpPr>
          <p:cNvPr id="37" name="Text 29"/>
          <p:cNvSpPr txBox="1"/>
          <p:nvPr/>
        </p:nvSpPr>
        <p:spPr>
          <a:xfrm>
            <a:off x="4572000" y="4434840"/>
            <a:ext cx="2971800" cy="1554480"/>
          </a:xfrm>
          <a:prstGeom prst="rect">
            <a:avLst/>
          </a:prstGeom>
          <a:noFill/>
          <a:ln/>
        </p:spPr>
        <p:txBody>
          <a:bodyPr wrap="square" lIns="0" tIns="0" rIns="0" bIns="0" rtlCol="0" anchor="t"/>
          <a:lstStyle/>
          <a:p>
            <a:pPr indent="0" marL="0">
              <a:buNone/>
            </a:pPr>
            <a:r>
              <a:rPr lang="en-US" sz="1400" dirty="0">
                <a:solidFill>
                  <a:schemeClr val="tx1"/>
                </a:solidFill>
              </a:rPr>
              <a:t>Each model is trained and checked 5 times on different parts of the data, so the winner doesn't depend on one lucky split.</a:t>
            </a:r>
            <a:endParaRPr lang="en-US" sz="1400" dirty="0"/>
          </a:p>
        </p:txBody>
      </p:sp>
      <p:sp>
        <p:nvSpPr>
          <p:cNvPr id="38" name="why 3"/>
          <p:cNvSpPr/>
          <p:nvPr/>
        </p:nvSpPr>
        <p:spPr>
          <a:xfrm>
            <a:off x="8046720" y="3794760"/>
            <a:ext cx="3520440" cy="2286000"/>
          </a:xfrm>
          <a:prstGeom prst="roundRect">
            <a:avLst>
              <a:gd name="adj" fmla="val 4800"/>
            </a:avLst>
          </a:prstGeom>
          <a:solidFill>
            <a:schemeClr val="bg2"/>
          </a:solidFill>
          <a:ln/>
        </p:spPr>
      </p:sp>
      <p:sp>
        <p:nvSpPr>
          <p:cNvPr id="39" name="Text 31"/>
          <p:cNvSpPr txBox="1"/>
          <p:nvPr/>
        </p:nvSpPr>
        <p:spPr>
          <a:xfrm>
            <a:off x="8321040" y="4023360"/>
            <a:ext cx="2971800" cy="365760"/>
          </a:xfrm>
          <a:prstGeom prst="rect">
            <a:avLst/>
          </a:prstGeom>
          <a:noFill/>
          <a:ln/>
        </p:spPr>
        <p:txBody>
          <a:bodyPr wrap="square" lIns="0" tIns="0" rIns="0" bIns="0" rtlCol="0" anchor="t"/>
          <a:lstStyle/>
          <a:p>
            <a:pPr indent="0" marL="0">
              <a:buNone/>
            </a:pPr>
            <a:r>
              <a:rPr lang="en-US" sz="1700" b="1" dirty="0">
                <a:solidFill>
                  <a:schemeClr val="tx2"/>
                </a:solidFill>
              </a:rPr>
              <a:t>Prediction range</a:t>
            </a:r>
            <a:endParaRPr lang="en-US" sz="1700" dirty="0"/>
          </a:p>
        </p:txBody>
      </p:sp>
      <p:sp>
        <p:nvSpPr>
          <p:cNvPr id="40" name="Text 32"/>
          <p:cNvSpPr txBox="1"/>
          <p:nvPr/>
        </p:nvSpPr>
        <p:spPr>
          <a:xfrm>
            <a:off x="8321040" y="4434840"/>
            <a:ext cx="2971800" cy="1554480"/>
          </a:xfrm>
          <a:prstGeom prst="rect">
            <a:avLst/>
          </a:prstGeom>
          <a:noFill/>
          <a:ln/>
        </p:spPr>
        <p:txBody>
          <a:bodyPr wrap="square" lIns="0" tIns="0" rIns="0" bIns="0" rtlCol="0" anchor="t"/>
          <a:lstStyle/>
          <a:p>
            <a:pPr indent="0" marL="0">
              <a:buNone/>
            </a:pPr>
            <a:r>
              <a:rPr lang="en-US" sz="1400" dirty="0">
                <a:solidFill>
                  <a:schemeClr val="tx1"/>
                </a:solidFill>
              </a:rPr>
              <a:t>From test errors we know 80% of real salaries lie between 0.88× and 1.16× the prediction, so the app shows a range.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Gradient Boosting wins among 5 models</a:t>
            </a:r>
            <a:endParaRPr lang="en-US" sz="3400" dirty="0"/>
          </a:p>
        </p:txBody>
      </p:sp>
      <p:graphicFrame>
        <p:nvGraphicFramePr>
          <p:cNvPr id="3" name="model comparison chart" descr="Clustered column chart of test and CV R² for five models"/>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winner card"/>
          <p:cNvSpPr/>
          <p:nvPr/>
        </p:nvSpPr>
        <p:spPr>
          <a:xfrm>
            <a:off x="7818120" y="1371600"/>
            <a:ext cx="3822192" cy="4754880"/>
          </a:xfrm>
          <a:prstGeom prst="roundRect">
            <a:avLst>
              <a:gd name="adj" fmla="val 2871"/>
            </a:avLst>
          </a:prstGeom>
          <a:solidFill>
            <a:schemeClr val="tx2"/>
          </a:solidFill>
          <a:ln/>
        </p:spPr>
      </p:sp>
      <p:sp>
        <p:nvSpPr>
          <p:cNvPr id="5" name="Text 2"/>
          <p:cNvSpPr txBox="1"/>
          <p:nvPr/>
        </p:nvSpPr>
        <p:spPr>
          <a:xfrm>
            <a:off x="8138160" y="1645920"/>
            <a:ext cx="32004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SELECTED MODEL</a:t>
            </a:r>
            <a:endParaRPr lang="en-US" sz="1200" dirty="0"/>
          </a:p>
        </p:txBody>
      </p:sp>
      <p:sp>
        <p:nvSpPr>
          <p:cNvPr id="6" name="Text 3"/>
          <p:cNvSpPr txBox="1"/>
          <p:nvPr/>
        </p:nvSpPr>
        <p:spPr>
          <a:xfrm>
            <a:off x="8138160" y="1965960"/>
            <a:ext cx="3200400" cy="54864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Gradient Boosting</a:t>
            </a:r>
            <a:endParaRPr lang="en-US" sz="2600" dirty="0"/>
          </a:p>
        </p:txBody>
      </p:sp>
      <p:sp>
        <p:nvSpPr>
          <p:cNvPr id="7" name="Text 4"/>
          <p:cNvSpPr txBox="1"/>
          <p:nvPr/>
        </p:nvSpPr>
        <p:spPr>
          <a:xfrm>
            <a:off x="8138160" y="2697480"/>
            <a:ext cx="32461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400 small trees built one after another; each new tree fixes the errors of the previous ones.</a:t>
            </a:r>
            <a:endParaRPr lang="en-US" sz="1500" dirty="0"/>
          </a:p>
          <a:p>
            <a:pPr marL="342900" indent="-342900">
              <a:spcAft>
                <a:spcPts val="1000"/>
              </a:spcAft>
              <a:buSzPct val="100000"/>
              <a:buChar char="•"/>
            </a:pPr>
            <a:r>
              <a:rPr lang="en-US" sz="1500" dirty="0">
                <a:solidFill>
                  <a:schemeClr val="bg1"/>
                </a:solidFill>
              </a:rPr>
              <a:t>Captures curves (experience) and interactions (role × experience).</a:t>
            </a:r>
            <a:endParaRPr lang="en-US" sz="1500" dirty="0"/>
          </a:p>
          <a:p>
            <a:pPr marL="342900" indent="-342900">
              <a:spcAft>
                <a:spcPts val="1000"/>
              </a:spcAft>
              <a:buSzPct val="100000"/>
              <a:buChar char="•"/>
            </a:pPr>
            <a:r>
              <a:rPr lang="en-US" sz="1500" dirty="0">
                <a:solidFill>
                  <a:schemeClr val="bg1"/>
                </a:solidFill>
              </a:rPr>
              <a:t>Most accurate and most stable (CV ± 0.008).</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Results: about 9% error on new data</a:t>
            </a:r>
            <a:endParaRPr lang="en-US" sz="3400" dirty="0"/>
          </a:p>
        </p:txBody>
      </p:sp>
      <p:sp>
        <p:nvSpPr>
          <p:cNvPr id="3" name="Text 1"/>
          <p:cNvSpPr txBox="1"/>
          <p:nvPr/>
        </p:nvSpPr>
        <p:spPr>
          <a:xfrm>
            <a:off x="548640" y="1325880"/>
            <a:ext cx="260604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0.957</a:t>
            </a:r>
            <a:endParaRPr lang="en-US" sz="4800" dirty="0"/>
          </a:p>
        </p:txBody>
      </p:sp>
      <p:sp>
        <p:nvSpPr>
          <p:cNvPr id="4" name="Text 2"/>
          <p:cNvSpPr txBox="1"/>
          <p:nvPr/>
        </p:nvSpPr>
        <p:spPr>
          <a:xfrm>
            <a:off x="548640" y="2194560"/>
            <a:ext cx="2514600" cy="548640"/>
          </a:xfrm>
          <a:prstGeom prst="rect">
            <a:avLst/>
          </a:prstGeom>
          <a:noFill/>
          <a:ln/>
        </p:spPr>
        <p:txBody>
          <a:bodyPr wrap="square" lIns="0" tIns="0" rIns="0" bIns="0" rtlCol="0" anchor="t"/>
          <a:lstStyle/>
          <a:p>
            <a:pPr indent="0" marL="0">
              <a:buNone/>
            </a:pPr>
            <a:r>
              <a:rPr lang="en-US" sz="1300" dirty="0">
                <a:solidFill>
                  <a:schemeClr val="accent6"/>
                </a:solidFill>
              </a:rPr>
              <a:t>R² score: explains 95.7% of salary variation</a:t>
            </a:r>
            <a:endParaRPr lang="en-US" sz="1300" dirty="0"/>
          </a:p>
        </p:txBody>
      </p:sp>
      <p:sp>
        <p:nvSpPr>
          <p:cNvPr id="5" name="Text 3"/>
          <p:cNvSpPr txBox="1"/>
          <p:nvPr/>
        </p:nvSpPr>
        <p:spPr>
          <a:xfrm>
            <a:off x="3355848" y="1325880"/>
            <a:ext cx="260604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8.9%</a:t>
            </a:r>
            <a:endParaRPr lang="en-US" sz="4800" dirty="0"/>
          </a:p>
        </p:txBody>
      </p:sp>
      <p:sp>
        <p:nvSpPr>
          <p:cNvPr id="6" name="Text 4"/>
          <p:cNvSpPr txBox="1"/>
          <p:nvPr/>
        </p:nvSpPr>
        <p:spPr>
          <a:xfrm>
            <a:off x="3355848" y="2194560"/>
            <a:ext cx="2514600" cy="548640"/>
          </a:xfrm>
          <a:prstGeom prst="rect">
            <a:avLst/>
          </a:prstGeom>
          <a:noFill/>
          <a:ln/>
        </p:spPr>
        <p:txBody>
          <a:bodyPr wrap="square" lIns="0" tIns="0" rIns="0" bIns="0" rtlCol="0" anchor="t"/>
          <a:lstStyle/>
          <a:p>
            <a:pPr indent="0" marL="0">
              <a:buNone/>
            </a:pPr>
            <a:r>
              <a:rPr lang="en-US" sz="1300" dirty="0">
                <a:solidFill>
                  <a:schemeClr val="accent6"/>
                </a:solidFill>
              </a:rPr>
              <a:t>Mean absolute percentage error</a:t>
            </a:r>
            <a:endParaRPr lang="en-US" sz="1300" dirty="0"/>
          </a:p>
        </p:txBody>
      </p:sp>
      <p:sp>
        <p:nvSpPr>
          <p:cNvPr id="7" name="Text 5"/>
          <p:cNvSpPr txBox="1"/>
          <p:nvPr/>
        </p:nvSpPr>
        <p:spPr>
          <a:xfrm>
            <a:off x="6163056" y="1325880"/>
            <a:ext cx="2606040" cy="86868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₹1.06 L</a:t>
            </a:r>
            <a:endParaRPr lang="en-US" sz="4800" dirty="0"/>
          </a:p>
        </p:txBody>
      </p:sp>
      <p:sp>
        <p:nvSpPr>
          <p:cNvPr id="8" name="Text 6"/>
          <p:cNvSpPr txBox="1"/>
          <p:nvPr/>
        </p:nvSpPr>
        <p:spPr>
          <a:xfrm>
            <a:off x="6163056" y="2194560"/>
            <a:ext cx="2514600" cy="548640"/>
          </a:xfrm>
          <a:prstGeom prst="rect">
            <a:avLst/>
          </a:prstGeom>
          <a:noFill/>
          <a:ln/>
        </p:spPr>
        <p:txBody>
          <a:bodyPr wrap="square" lIns="0" tIns="0" rIns="0" bIns="0" rtlCol="0" anchor="t"/>
          <a:lstStyle/>
          <a:p>
            <a:pPr indent="0" marL="0">
              <a:buNone/>
            </a:pPr>
            <a:r>
              <a:rPr lang="en-US" sz="1300" dirty="0">
                <a:solidFill>
                  <a:schemeClr val="accent6"/>
                </a:solidFill>
              </a:rPr>
              <a:t>Mean absolute error per year</a:t>
            </a:r>
            <a:endParaRPr lang="en-US" sz="1300" dirty="0"/>
          </a:p>
        </p:txBody>
      </p:sp>
      <p:sp>
        <p:nvSpPr>
          <p:cNvPr id="9" name="Text 7"/>
          <p:cNvSpPr txBox="1"/>
          <p:nvPr/>
        </p:nvSpPr>
        <p:spPr>
          <a:xfrm>
            <a:off x="8970264" y="1325880"/>
            <a:ext cx="2606040" cy="868680"/>
          </a:xfrm>
          <a:prstGeom prst="rect">
            <a:avLst/>
          </a:prstGeom>
          <a:noFill/>
          <a:ln/>
        </p:spPr>
        <p:txBody>
          <a:bodyPr wrap="square" lIns="0" tIns="0" rIns="0" bIns="0" rtlCol="0" anchor="t"/>
          <a:lstStyle/>
          <a:p>
            <a:pPr indent="0" marL="0">
              <a:buNone/>
            </a:pPr>
            <a:r>
              <a:rPr lang="en-US" sz="4800" b="1" dirty="0">
                <a:solidFill>
                  <a:schemeClr val="accent4"/>
                </a:solidFill>
                <a:latin typeface="Cambria" pitchFamily="34" charset="0"/>
                <a:ea typeface="Cambria" pitchFamily="34" charset="-122"/>
                <a:cs typeface="Cambria" pitchFamily="34" charset="-120"/>
              </a:rPr>
              <a:t>62%</a:t>
            </a:r>
            <a:endParaRPr lang="en-US" sz="4800" dirty="0"/>
          </a:p>
        </p:txBody>
      </p:sp>
      <p:sp>
        <p:nvSpPr>
          <p:cNvPr id="10" name="Text 8"/>
          <p:cNvSpPr txBox="1"/>
          <p:nvPr/>
        </p:nvSpPr>
        <p:spPr>
          <a:xfrm>
            <a:off x="8970264" y="2194560"/>
            <a:ext cx="2514600" cy="548640"/>
          </a:xfrm>
          <a:prstGeom prst="rect">
            <a:avLst/>
          </a:prstGeom>
          <a:noFill/>
          <a:ln/>
        </p:spPr>
        <p:txBody>
          <a:bodyPr wrap="square" lIns="0" tIns="0" rIns="0" bIns="0" rtlCol="0" anchor="t"/>
          <a:lstStyle/>
          <a:p>
            <a:pPr indent="0" marL="0">
              <a:buNone/>
            </a:pPr>
            <a:r>
              <a:rPr lang="en-US" sz="1300" dirty="0">
                <a:solidFill>
                  <a:schemeClr val="accent6"/>
                </a:solidFill>
              </a:rPr>
              <a:t>of predictions within ±10%</a:t>
            </a:r>
            <a:endParaRPr lang="en-US" sz="1300" dirty="0"/>
          </a:p>
        </p:txBody>
      </p:sp>
      <p:sp>
        <p:nvSpPr>
          <p:cNvPr id="11" name="model_card7 frame"/>
          <p:cNvSpPr/>
          <p:nvPr/>
        </p:nvSpPr>
        <p:spPr>
          <a:xfrm>
            <a:off x="1209815" y="2944368"/>
            <a:ext cx="3432529" cy="3255264"/>
          </a:xfrm>
          <a:prstGeom prst="roundRect">
            <a:avLst>
              <a:gd name="adj" fmla="val 2809"/>
            </a:avLst>
          </a:prstGeom>
          <a:solidFill>
            <a:schemeClr val="bg2"/>
          </a:solidFill>
          <a:ln/>
          <a:effectLst>
            <a:outerShdw sx="100000" sy="100000" kx="0" ky="0" algn="bl" rotWithShape="0" blurRad="127000" dist="38100" dir="5400000">
              <a:srgbClr val="0F2A4A">
                <a:alpha val="14000"/>
              </a:srgbClr>
            </a:outerShdw>
          </a:effectLst>
        </p:spPr>
      </p:sp>
      <p:pic>
        <p:nvPicPr>
          <p:cNvPr id="12" name="model_card7" descr="Actual vs predicted salary scatter plot">    </p:cNvPr>
          <p:cNvPicPr>
            <a:picLocks noChangeAspect="1"/>
          </p:cNvPicPr>
          <p:nvPr/>
        </p:nvPicPr>
        <p:blipFill>
          <a:blip r:embed="rId1"/>
          <a:stretch>
            <a:fillRect/>
          </a:stretch>
        </p:blipFill>
        <p:spPr>
          <a:xfrm>
            <a:off x="1282967" y="3017520"/>
            <a:ext cx="3286225" cy="3108960"/>
          </a:xfrm>
          <a:prstGeom prst="rect">
            <a:avLst/>
          </a:prstGeom>
        </p:spPr>
      </p:pic>
      <p:graphicFrame>
        <p:nvGraphicFramePr>
          <p:cNvPr id="13" name="feature importance chart" descr="Bar chart of permutation feature importance"/>
          <p:cNvGraphicFramePr/>
          <p:nvPr/>
        </p:nvGraphicFramePr>
        <p:xfrm>
          <a:off x="5760720" y="2926080"/>
          <a:ext cx="5879592" cy="32461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The web application: five pages</a:t>
            </a:r>
            <a:endParaRPr lang="en-US" sz="3400" dirty="0"/>
          </a:p>
        </p:txBody>
      </p:sp>
      <p:sp>
        <p:nvSpPr>
          <p:cNvPr id="3" name="Dashboard icon circle"/>
          <p:cNvSpPr/>
          <p:nvPr/>
        </p:nvSpPr>
        <p:spPr>
          <a:xfrm>
            <a:off x="548640" y="1417320"/>
            <a:ext cx="658368" cy="658368"/>
          </a:xfrm>
          <a:prstGeom prst="ellipse">
            <a:avLst/>
          </a:prstGeom>
          <a:solidFill>
            <a:schemeClr val="accent1"/>
          </a:solidFill>
          <a:ln/>
        </p:spPr>
      </p:sp>
      <p:pic>
        <p:nvPicPr>
          <p:cNvPr id="4" name="Dashboard icon" descr="Dashboard">    </p:cNvPr>
          <p:cNvPicPr>
            <a:picLocks noChangeAspect="1"/>
          </p:cNvPicPr>
          <p:nvPr/>
        </p:nvPicPr>
        <p:blipFill>
          <a:blip r:embed="rId1"/>
          <a:stretch>
            <a:fillRect/>
          </a:stretch>
        </p:blipFill>
        <p:spPr>
          <a:xfrm>
            <a:off x="713232" y="1581912"/>
            <a:ext cx="329184" cy="329184"/>
          </a:xfrm>
          <a:prstGeom prst="rect">
            <a:avLst/>
          </a:prstGeom>
        </p:spPr>
      </p:pic>
      <p:sp>
        <p:nvSpPr>
          <p:cNvPr id="5" name="Text 2"/>
          <p:cNvSpPr txBox="1"/>
          <p:nvPr/>
        </p:nvSpPr>
        <p:spPr>
          <a:xfrm>
            <a:off x="1417320" y="1399032"/>
            <a:ext cx="3108960" cy="365760"/>
          </a:xfrm>
          <a:prstGeom prst="rect">
            <a:avLst/>
          </a:prstGeom>
          <a:noFill/>
          <a:ln/>
        </p:spPr>
        <p:txBody>
          <a:bodyPr wrap="square" lIns="0" tIns="0" rIns="0" bIns="0" rtlCol="0" anchor="t"/>
          <a:lstStyle/>
          <a:p>
            <a:pPr indent="0" marL="0">
              <a:buNone/>
            </a:pPr>
            <a:r>
              <a:rPr lang="en-US" sz="1800" b="1" dirty="0">
                <a:solidFill>
                  <a:schemeClr val="tx2"/>
                </a:solidFill>
              </a:rPr>
              <a:t>Dashboard</a:t>
            </a:r>
            <a:endParaRPr lang="en-US" sz="1800" dirty="0"/>
          </a:p>
        </p:txBody>
      </p:sp>
      <p:sp>
        <p:nvSpPr>
          <p:cNvPr id="6" name="Text 3"/>
          <p:cNvSpPr txBox="1"/>
          <p:nvPr/>
        </p:nvSpPr>
        <p:spPr>
          <a:xfrm>
            <a:off x="1417320" y="1764792"/>
            <a:ext cx="3108960" cy="365760"/>
          </a:xfrm>
          <a:prstGeom prst="rect">
            <a:avLst/>
          </a:prstGeom>
          <a:noFill/>
          <a:ln/>
        </p:spPr>
        <p:txBody>
          <a:bodyPr wrap="square" lIns="0" tIns="0" rIns="0" bIns="0" rtlCol="0" anchor="t"/>
          <a:lstStyle/>
          <a:p>
            <a:pPr indent="0" marL="0">
              <a:buNone/>
            </a:pPr>
            <a:r>
              <a:rPr lang="en-US" sz="1400" dirty="0">
                <a:solidFill>
                  <a:schemeClr val="accent6"/>
                </a:solidFill>
              </a:rPr>
              <a:t>Insights from all employee data</a:t>
            </a:r>
            <a:endParaRPr lang="en-US" sz="1400" dirty="0"/>
          </a:p>
        </p:txBody>
      </p:sp>
      <p:sp>
        <p:nvSpPr>
          <p:cNvPr id="7" name="Predict Salary icon circle"/>
          <p:cNvSpPr/>
          <p:nvPr/>
        </p:nvSpPr>
        <p:spPr>
          <a:xfrm>
            <a:off x="548640" y="2359152"/>
            <a:ext cx="658368" cy="658368"/>
          </a:xfrm>
          <a:prstGeom prst="ellipse">
            <a:avLst/>
          </a:prstGeom>
          <a:solidFill>
            <a:schemeClr val="accent2"/>
          </a:solidFill>
          <a:ln/>
        </p:spPr>
      </p:sp>
      <p:pic>
        <p:nvPicPr>
          <p:cNvPr id="8" name="Predict Salary icon" descr="Predict Salary">    </p:cNvPr>
          <p:cNvPicPr>
            <a:picLocks noChangeAspect="1"/>
          </p:cNvPicPr>
          <p:nvPr/>
        </p:nvPicPr>
        <p:blipFill>
          <a:blip r:embed="rId2"/>
          <a:stretch>
            <a:fillRect/>
          </a:stretch>
        </p:blipFill>
        <p:spPr>
          <a:xfrm>
            <a:off x="713232" y="2523744"/>
            <a:ext cx="329184" cy="329184"/>
          </a:xfrm>
          <a:prstGeom prst="rect">
            <a:avLst/>
          </a:prstGeom>
        </p:spPr>
      </p:pic>
      <p:sp>
        <p:nvSpPr>
          <p:cNvPr id="9" name="Text 5"/>
          <p:cNvSpPr txBox="1"/>
          <p:nvPr/>
        </p:nvSpPr>
        <p:spPr>
          <a:xfrm>
            <a:off x="1417320" y="2340864"/>
            <a:ext cx="3108960" cy="365760"/>
          </a:xfrm>
          <a:prstGeom prst="rect">
            <a:avLst/>
          </a:prstGeom>
          <a:noFill/>
          <a:ln/>
        </p:spPr>
        <p:txBody>
          <a:bodyPr wrap="square" lIns="0" tIns="0" rIns="0" bIns="0" rtlCol="0" anchor="t"/>
          <a:lstStyle/>
          <a:p>
            <a:pPr indent="0" marL="0">
              <a:buNone/>
            </a:pPr>
            <a:r>
              <a:rPr lang="en-US" sz="1800" b="1" dirty="0">
                <a:solidFill>
                  <a:schemeClr val="tx2"/>
                </a:solidFill>
              </a:rPr>
              <a:t>Predict Salary</a:t>
            </a:r>
            <a:endParaRPr lang="en-US" sz="1800" dirty="0"/>
          </a:p>
        </p:txBody>
      </p:sp>
      <p:sp>
        <p:nvSpPr>
          <p:cNvPr id="10" name="Text 6"/>
          <p:cNvSpPr txBox="1"/>
          <p:nvPr/>
        </p:nvSpPr>
        <p:spPr>
          <a:xfrm>
            <a:off x="1417320" y="2706624"/>
            <a:ext cx="3108960" cy="365760"/>
          </a:xfrm>
          <a:prstGeom prst="rect">
            <a:avLst/>
          </a:prstGeom>
          <a:noFill/>
          <a:ln/>
        </p:spPr>
        <p:txBody>
          <a:bodyPr wrap="square" lIns="0" tIns="0" rIns="0" bIns="0" rtlCol="0" anchor="t"/>
          <a:lstStyle/>
          <a:p>
            <a:pPr indent="0" marL="0">
              <a:buNone/>
            </a:pPr>
            <a:r>
              <a:rPr lang="en-US" sz="1400" dirty="0">
                <a:solidFill>
                  <a:schemeClr val="accent6"/>
                </a:solidFill>
              </a:rPr>
              <a:t>Input form and in-depth result</a:t>
            </a:r>
            <a:endParaRPr lang="en-US" sz="1400" dirty="0"/>
          </a:p>
        </p:txBody>
      </p:sp>
      <p:sp>
        <p:nvSpPr>
          <p:cNvPr id="11" name="Model Insights icon circle"/>
          <p:cNvSpPr/>
          <p:nvPr/>
        </p:nvSpPr>
        <p:spPr>
          <a:xfrm>
            <a:off x="548640" y="3300984"/>
            <a:ext cx="658368" cy="658368"/>
          </a:xfrm>
          <a:prstGeom prst="ellipse">
            <a:avLst/>
          </a:prstGeom>
          <a:solidFill>
            <a:schemeClr val="accent1"/>
          </a:solidFill>
          <a:ln/>
        </p:spPr>
      </p:sp>
      <p:pic>
        <p:nvPicPr>
          <p:cNvPr id="12" name="Model Insights icon" descr="Model Insights">    </p:cNvPr>
          <p:cNvPicPr>
            <a:picLocks noChangeAspect="1"/>
          </p:cNvPicPr>
          <p:nvPr/>
        </p:nvPicPr>
        <p:blipFill>
          <a:blip r:embed="rId3"/>
          <a:stretch>
            <a:fillRect/>
          </a:stretch>
        </p:blipFill>
        <p:spPr>
          <a:xfrm>
            <a:off x="713232" y="3465576"/>
            <a:ext cx="329184" cy="329184"/>
          </a:xfrm>
          <a:prstGeom prst="rect">
            <a:avLst/>
          </a:prstGeom>
        </p:spPr>
      </p:pic>
      <p:sp>
        <p:nvSpPr>
          <p:cNvPr id="13" name="Text 8"/>
          <p:cNvSpPr txBox="1"/>
          <p:nvPr/>
        </p:nvSpPr>
        <p:spPr>
          <a:xfrm>
            <a:off x="1417320" y="3282696"/>
            <a:ext cx="3108960" cy="365760"/>
          </a:xfrm>
          <a:prstGeom prst="rect">
            <a:avLst/>
          </a:prstGeom>
          <a:noFill/>
          <a:ln/>
        </p:spPr>
        <p:txBody>
          <a:bodyPr wrap="square" lIns="0" tIns="0" rIns="0" bIns="0" rtlCol="0" anchor="t"/>
          <a:lstStyle/>
          <a:p>
            <a:pPr indent="0" marL="0">
              <a:buNone/>
            </a:pPr>
            <a:r>
              <a:rPr lang="en-US" sz="1800" b="1" dirty="0">
                <a:solidFill>
                  <a:schemeClr val="tx2"/>
                </a:solidFill>
              </a:rPr>
              <a:t>Model Insights</a:t>
            </a:r>
            <a:endParaRPr lang="en-US" sz="1800" dirty="0"/>
          </a:p>
        </p:txBody>
      </p:sp>
      <p:sp>
        <p:nvSpPr>
          <p:cNvPr id="14" name="Text 9"/>
          <p:cNvSpPr txBox="1"/>
          <p:nvPr/>
        </p:nvSpPr>
        <p:spPr>
          <a:xfrm>
            <a:off x="1417320" y="3648456"/>
            <a:ext cx="3108960" cy="365760"/>
          </a:xfrm>
          <a:prstGeom prst="rect">
            <a:avLst/>
          </a:prstGeom>
          <a:noFill/>
          <a:ln/>
        </p:spPr>
        <p:txBody>
          <a:bodyPr wrap="square" lIns="0" tIns="0" rIns="0" bIns="0" rtlCol="0" anchor="t"/>
          <a:lstStyle/>
          <a:p>
            <a:pPr indent="0" marL="0">
              <a:buNone/>
            </a:pPr>
            <a:r>
              <a:rPr lang="en-US" sz="1400" dirty="0">
                <a:solidFill>
                  <a:schemeClr val="accent6"/>
                </a:solidFill>
              </a:rPr>
              <a:t>Accuracy, comparison, retrain</a:t>
            </a:r>
            <a:endParaRPr lang="en-US" sz="1400" dirty="0"/>
          </a:p>
        </p:txBody>
      </p:sp>
      <p:sp>
        <p:nvSpPr>
          <p:cNvPr id="15" name="Employee Data icon circle"/>
          <p:cNvSpPr/>
          <p:nvPr/>
        </p:nvSpPr>
        <p:spPr>
          <a:xfrm>
            <a:off x="548640" y="4242816"/>
            <a:ext cx="658368" cy="658368"/>
          </a:xfrm>
          <a:prstGeom prst="ellipse">
            <a:avLst/>
          </a:prstGeom>
          <a:solidFill>
            <a:schemeClr val="accent1"/>
          </a:solidFill>
          <a:ln/>
        </p:spPr>
      </p:sp>
      <p:pic>
        <p:nvPicPr>
          <p:cNvPr id="16" name="Employee Data icon" descr="Employee Data">    </p:cNvPr>
          <p:cNvPicPr>
            <a:picLocks noChangeAspect="1"/>
          </p:cNvPicPr>
          <p:nvPr/>
        </p:nvPicPr>
        <p:blipFill>
          <a:blip r:embed="rId4"/>
          <a:stretch>
            <a:fillRect/>
          </a:stretch>
        </p:blipFill>
        <p:spPr>
          <a:xfrm>
            <a:off x="713232" y="4407408"/>
            <a:ext cx="329184" cy="329184"/>
          </a:xfrm>
          <a:prstGeom prst="rect">
            <a:avLst/>
          </a:prstGeom>
        </p:spPr>
      </p:pic>
      <p:sp>
        <p:nvSpPr>
          <p:cNvPr id="17" name="Text 11"/>
          <p:cNvSpPr txBox="1"/>
          <p:nvPr/>
        </p:nvSpPr>
        <p:spPr>
          <a:xfrm>
            <a:off x="1417320" y="4224528"/>
            <a:ext cx="3108960" cy="365760"/>
          </a:xfrm>
          <a:prstGeom prst="rect">
            <a:avLst/>
          </a:prstGeom>
          <a:noFill/>
          <a:ln/>
        </p:spPr>
        <p:txBody>
          <a:bodyPr wrap="square" lIns="0" tIns="0" rIns="0" bIns="0" rtlCol="0" anchor="t"/>
          <a:lstStyle/>
          <a:p>
            <a:pPr indent="0" marL="0">
              <a:buNone/>
            </a:pPr>
            <a:r>
              <a:rPr lang="en-US" sz="1800" b="1" dirty="0">
                <a:solidFill>
                  <a:schemeClr val="tx2"/>
                </a:solidFill>
              </a:rPr>
              <a:t>Employee Data</a:t>
            </a:r>
            <a:endParaRPr lang="en-US" sz="1800" dirty="0"/>
          </a:p>
        </p:txBody>
      </p:sp>
      <p:sp>
        <p:nvSpPr>
          <p:cNvPr id="18" name="Text 12"/>
          <p:cNvSpPr txBox="1"/>
          <p:nvPr/>
        </p:nvSpPr>
        <p:spPr>
          <a:xfrm>
            <a:off x="1417320" y="4590288"/>
            <a:ext cx="3108960" cy="365760"/>
          </a:xfrm>
          <a:prstGeom prst="rect">
            <a:avLst/>
          </a:prstGeom>
          <a:noFill/>
          <a:ln/>
        </p:spPr>
        <p:txBody>
          <a:bodyPr wrap="square" lIns="0" tIns="0" rIns="0" bIns="0" rtlCol="0" anchor="t"/>
          <a:lstStyle/>
          <a:p>
            <a:pPr indent="0" marL="0">
              <a:buNone/>
            </a:pPr>
            <a:r>
              <a:rPr lang="en-US" sz="1400" dirty="0">
                <a:solidFill>
                  <a:schemeClr val="accent6"/>
                </a:solidFill>
              </a:rPr>
              <a:t>Search, add, delete, export CSV</a:t>
            </a:r>
            <a:endParaRPr lang="en-US" sz="1400" dirty="0"/>
          </a:p>
        </p:txBody>
      </p:sp>
      <p:sp>
        <p:nvSpPr>
          <p:cNvPr id="19" name="History icon circle"/>
          <p:cNvSpPr/>
          <p:nvPr/>
        </p:nvSpPr>
        <p:spPr>
          <a:xfrm>
            <a:off x="548640" y="5184648"/>
            <a:ext cx="658368" cy="658368"/>
          </a:xfrm>
          <a:prstGeom prst="ellipse">
            <a:avLst/>
          </a:prstGeom>
          <a:solidFill>
            <a:schemeClr val="accent1"/>
          </a:solidFill>
          <a:ln/>
        </p:spPr>
      </p:sp>
      <p:pic>
        <p:nvPicPr>
          <p:cNvPr id="20" name="History icon" descr="History">    </p:cNvPr>
          <p:cNvPicPr>
            <a:picLocks noChangeAspect="1"/>
          </p:cNvPicPr>
          <p:nvPr/>
        </p:nvPicPr>
        <p:blipFill>
          <a:blip r:embed="rId5"/>
          <a:stretch>
            <a:fillRect/>
          </a:stretch>
        </p:blipFill>
        <p:spPr>
          <a:xfrm>
            <a:off x="713232" y="5349240"/>
            <a:ext cx="329184" cy="329184"/>
          </a:xfrm>
          <a:prstGeom prst="rect">
            <a:avLst/>
          </a:prstGeom>
        </p:spPr>
      </p:pic>
      <p:sp>
        <p:nvSpPr>
          <p:cNvPr id="21" name="Text 14"/>
          <p:cNvSpPr txBox="1"/>
          <p:nvPr/>
        </p:nvSpPr>
        <p:spPr>
          <a:xfrm>
            <a:off x="1417320" y="5166360"/>
            <a:ext cx="3108960" cy="365760"/>
          </a:xfrm>
          <a:prstGeom prst="rect">
            <a:avLst/>
          </a:prstGeom>
          <a:noFill/>
          <a:ln/>
        </p:spPr>
        <p:txBody>
          <a:bodyPr wrap="square" lIns="0" tIns="0" rIns="0" bIns="0" rtlCol="0" anchor="t"/>
          <a:lstStyle/>
          <a:p>
            <a:pPr indent="0" marL="0">
              <a:buNone/>
            </a:pPr>
            <a:r>
              <a:rPr lang="en-US" sz="1800" b="1" dirty="0">
                <a:solidFill>
                  <a:schemeClr val="tx2"/>
                </a:solidFill>
              </a:rPr>
              <a:t>History</a:t>
            </a:r>
            <a:endParaRPr lang="en-US" sz="1800" dirty="0"/>
          </a:p>
        </p:txBody>
      </p:sp>
      <p:sp>
        <p:nvSpPr>
          <p:cNvPr id="22" name="Text 15"/>
          <p:cNvSpPr txBox="1"/>
          <p:nvPr/>
        </p:nvSpPr>
        <p:spPr>
          <a:xfrm>
            <a:off x="1417320" y="5532120"/>
            <a:ext cx="3108960" cy="365760"/>
          </a:xfrm>
          <a:prstGeom prst="rect">
            <a:avLst/>
          </a:prstGeom>
          <a:noFill/>
          <a:ln/>
        </p:spPr>
        <p:txBody>
          <a:bodyPr wrap="square" lIns="0" tIns="0" rIns="0" bIns="0" rtlCol="0" anchor="t"/>
          <a:lstStyle/>
          <a:p>
            <a:pPr indent="0" marL="0">
              <a:buNone/>
            </a:pPr>
            <a:r>
              <a:rPr lang="en-US" sz="1400" dirty="0">
                <a:solidFill>
                  <a:schemeClr val="accent6"/>
                </a:solidFill>
              </a:rPr>
              <a:t>Every prediction saved in MySQL</a:t>
            </a:r>
            <a:endParaRPr lang="en-US" sz="1400" dirty="0"/>
          </a:p>
        </p:txBody>
      </p:sp>
      <p:sp>
        <p:nvSpPr>
          <p:cNvPr id="23" name="dash_top frame"/>
          <p:cNvSpPr/>
          <p:nvPr/>
        </p:nvSpPr>
        <p:spPr>
          <a:xfrm>
            <a:off x="4773168" y="1575626"/>
            <a:ext cx="6940296" cy="4392549"/>
          </a:xfrm>
          <a:prstGeom prst="roundRect">
            <a:avLst>
              <a:gd name="adj" fmla="val 2082"/>
            </a:avLst>
          </a:prstGeom>
          <a:solidFill>
            <a:schemeClr val="bg2"/>
          </a:solidFill>
          <a:ln/>
          <a:effectLst>
            <a:outerShdw sx="100000" sy="100000" kx="0" ky="0" algn="bl" rotWithShape="0" blurRad="127000" dist="38100" dir="5400000">
              <a:srgbClr val="0F2A4A">
                <a:alpha val="14000"/>
              </a:srgbClr>
            </a:outerShdw>
          </a:effectLst>
        </p:spPr>
      </p:sp>
      <p:pic>
        <p:nvPicPr>
          <p:cNvPr id="24" name="dash_top" descr="Dashboard page">    </p:cNvPr>
          <p:cNvPicPr>
            <a:picLocks noChangeAspect="1"/>
          </p:cNvPicPr>
          <p:nvPr/>
        </p:nvPicPr>
        <p:blipFill>
          <a:blip r:embed="rId6"/>
          <a:stretch>
            <a:fillRect/>
          </a:stretch>
        </p:blipFill>
        <p:spPr>
          <a:xfrm>
            <a:off x="4846320" y="1648778"/>
            <a:ext cx="6793992" cy="4246245"/>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Predict Salary: input to output</a:t>
            </a:r>
            <a:endParaRPr lang="en-US" sz="3400" dirty="0"/>
          </a:p>
        </p:txBody>
      </p:sp>
      <p:sp>
        <p:nvSpPr>
          <p:cNvPr id="3" name="predict_card0 frame"/>
          <p:cNvSpPr/>
          <p:nvPr/>
        </p:nvSpPr>
        <p:spPr>
          <a:xfrm>
            <a:off x="1017597" y="1298448"/>
            <a:ext cx="2628247" cy="4946904"/>
          </a:xfrm>
          <a:prstGeom prst="roundRect">
            <a:avLst>
              <a:gd name="adj" fmla="val 3479"/>
            </a:avLst>
          </a:prstGeom>
          <a:solidFill>
            <a:schemeClr val="bg2"/>
          </a:solidFill>
          <a:ln/>
          <a:effectLst>
            <a:outerShdw sx="100000" sy="100000" kx="0" ky="0" algn="bl" rotWithShape="0" blurRad="127000" dist="38100" dir="5400000">
              <a:srgbClr val="0F2A4A">
                <a:alpha val="14000"/>
              </a:srgbClr>
            </a:outerShdw>
          </a:effectLst>
        </p:spPr>
      </p:sp>
      <p:pic>
        <p:nvPicPr>
          <p:cNvPr id="4" name="predict_card0" descr="Prediction input form">    </p:cNvPr>
          <p:cNvPicPr>
            <a:picLocks noChangeAspect="1"/>
          </p:cNvPicPr>
          <p:nvPr/>
        </p:nvPicPr>
        <p:blipFill>
          <a:blip r:embed="rId1"/>
          <a:stretch>
            <a:fillRect/>
          </a:stretch>
        </p:blipFill>
        <p:spPr>
          <a:xfrm>
            <a:off x="1090749" y="1371600"/>
            <a:ext cx="2481943" cy="4800600"/>
          </a:xfrm>
          <a:prstGeom prst="rect">
            <a:avLst/>
          </a:prstGeom>
        </p:spPr>
      </p:pic>
      <p:sp>
        <p:nvSpPr>
          <p:cNvPr id="5" name="input to output arrow"/>
          <p:cNvSpPr/>
          <p:nvPr/>
        </p:nvSpPr>
        <p:spPr>
          <a:xfrm>
            <a:off x="4343400" y="3383280"/>
            <a:ext cx="548640" cy="457200"/>
          </a:xfrm>
          <a:prstGeom prst="rightArrow">
            <a:avLst/>
          </a:prstGeom>
          <a:solidFill>
            <a:schemeClr val="accent3"/>
          </a:solidFill>
          <a:ln/>
        </p:spPr>
      </p:sp>
      <p:sp>
        <p:nvSpPr>
          <p:cNvPr id="6" name="predict_card1 frame"/>
          <p:cNvSpPr/>
          <p:nvPr/>
        </p:nvSpPr>
        <p:spPr>
          <a:xfrm>
            <a:off x="5047488" y="1322420"/>
            <a:ext cx="6665976" cy="3115881"/>
          </a:xfrm>
          <a:prstGeom prst="roundRect">
            <a:avLst>
              <a:gd name="adj" fmla="val 2935"/>
            </a:avLst>
          </a:prstGeom>
          <a:solidFill>
            <a:schemeClr val="bg2"/>
          </a:solidFill>
          <a:ln/>
          <a:effectLst>
            <a:outerShdw sx="100000" sy="100000" kx="0" ky="0" algn="bl" rotWithShape="0" blurRad="127000" dist="38100" dir="5400000">
              <a:srgbClr val="0F2A4A">
                <a:alpha val="14000"/>
              </a:srgbClr>
            </a:outerShdw>
          </a:effectLst>
        </p:spPr>
      </p:sp>
      <p:pic>
        <p:nvPicPr>
          <p:cNvPr id="7" name="predict_card1" descr="Prediction result card">    </p:cNvPr>
          <p:cNvPicPr>
            <a:picLocks noChangeAspect="1"/>
          </p:cNvPicPr>
          <p:nvPr/>
        </p:nvPicPr>
        <p:blipFill>
          <a:blip r:embed="rId2"/>
          <a:stretch>
            <a:fillRect/>
          </a:stretch>
        </p:blipFill>
        <p:spPr>
          <a:xfrm>
            <a:off x="5120640" y="1395572"/>
            <a:ext cx="6519672" cy="2969577"/>
          </a:xfrm>
          <a:prstGeom prst="rect">
            <a:avLst/>
          </a:prstGeom>
        </p:spPr>
      </p:pic>
      <p:sp>
        <p:nvSpPr>
          <p:cNvPr id="8" name="Text 4"/>
          <p:cNvSpPr txBox="1"/>
          <p:nvPr/>
        </p:nvSpPr>
        <p:spPr>
          <a:xfrm>
            <a:off x="5120640" y="4685188"/>
            <a:ext cx="6519672" cy="137160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Input: </a:t>
            </a:r>
            <a:pPr indent="0" marL="0">
              <a:spcAft>
                <a:spcPts val="800"/>
              </a:spcAft>
              <a:buNone/>
            </a:pPr>
            <a:r>
              <a:rPr lang="en-US" sz="1500" dirty="0">
                <a:solidFill>
                  <a:schemeClr val="tx1"/>
                </a:solidFill>
              </a:rPr>
              <a:t>experience slider, role, education, location, company, certifications, star rating, skill chips.</a:t>
            </a:r>
            <a:endParaRPr lang="en-US" sz="1500" dirty="0"/>
          </a:p>
          <a:p>
            <a:pPr indent="0" marL="0">
              <a:spcAft>
                <a:spcPts val="800"/>
              </a:spcAft>
              <a:buNone/>
            </a:pPr>
            <a:r>
              <a:rPr lang="en-US" sz="1500" b="1" dirty="0">
                <a:solidFill>
                  <a:schemeClr val="tx2"/>
                </a:solidFill>
              </a:rPr>
              <a:t>Output: </a:t>
            </a:r>
            <a:pPr indent="0" marL="0">
              <a:spcAft>
                <a:spcPts val="800"/>
              </a:spcAft>
              <a:buNone/>
            </a:pPr>
            <a:r>
              <a:rPr lang="en-US" sz="1500" dirty="0">
                <a:solidFill>
                  <a:schemeClr val="tx1"/>
                </a:solidFill>
              </a:rPr>
              <a:t>₹23.12 lakh a year (₹1.93 lakh a month), likely range 20.3–26.8 lakh, 66th percentile among Data Scientists.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Every prediction is explained</a:t>
            </a:r>
            <a:endParaRPr lang="en-US" sz="3400" dirty="0"/>
          </a:p>
        </p:txBody>
      </p:sp>
      <p:sp>
        <p:nvSpPr>
          <p:cNvPr id="3" name="predict_card2 frame"/>
          <p:cNvSpPr/>
          <p:nvPr/>
        </p:nvSpPr>
        <p:spPr>
          <a:xfrm>
            <a:off x="1242427" y="1298448"/>
            <a:ext cx="5013227" cy="3438144"/>
          </a:xfrm>
          <a:prstGeom prst="roundRect">
            <a:avLst>
              <a:gd name="adj" fmla="val 2660"/>
            </a:avLst>
          </a:prstGeom>
          <a:solidFill>
            <a:schemeClr val="bg2"/>
          </a:solidFill>
          <a:ln/>
          <a:effectLst>
            <a:outerShdw sx="100000" sy="100000" kx="0" ky="0" algn="bl" rotWithShape="0" blurRad="127000" dist="38100" dir="5400000">
              <a:srgbClr val="0F2A4A">
                <a:alpha val="14000"/>
              </a:srgbClr>
            </a:outerShdw>
          </a:effectLst>
        </p:spPr>
      </p:sp>
      <p:pic>
        <p:nvPicPr>
          <p:cNvPr id="4" name="predict_card2" descr="Salary growth projection chart">    </p:cNvPr>
          <p:cNvPicPr>
            <a:picLocks noChangeAspect="1"/>
          </p:cNvPicPr>
          <p:nvPr/>
        </p:nvPicPr>
        <p:blipFill>
          <a:blip r:embed="rId1"/>
          <a:stretch>
            <a:fillRect/>
          </a:stretch>
        </p:blipFill>
        <p:spPr>
          <a:xfrm>
            <a:off x="1315579" y="1371600"/>
            <a:ext cx="4866923" cy="3291840"/>
          </a:xfrm>
          <a:prstGeom prst="rect">
            <a:avLst/>
          </a:prstGeom>
        </p:spPr>
      </p:pic>
      <p:sp>
        <p:nvSpPr>
          <p:cNvPr id="5" name="predict_card5 frame"/>
          <p:cNvSpPr/>
          <p:nvPr/>
        </p:nvSpPr>
        <p:spPr>
          <a:xfrm>
            <a:off x="8042480" y="1298448"/>
            <a:ext cx="2824831" cy="4946904"/>
          </a:xfrm>
          <a:prstGeom prst="roundRect">
            <a:avLst>
              <a:gd name="adj" fmla="val 3237"/>
            </a:avLst>
          </a:prstGeom>
          <a:solidFill>
            <a:schemeClr val="bg2"/>
          </a:solidFill>
          <a:ln/>
          <a:effectLst>
            <a:outerShdw sx="100000" sy="100000" kx="0" ky="0" algn="bl" rotWithShape="0" blurRad="127000" dist="38100" dir="5400000">
              <a:srgbClr val="0F2A4A">
                <a:alpha val="14000"/>
              </a:srgbClr>
            </a:outerShdw>
          </a:effectLst>
        </p:spPr>
      </p:sp>
      <p:pic>
        <p:nvPicPr>
          <p:cNvPr id="6" name="predict_card5" descr="Skill impact chart">    </p:cNvPr>
          <p:cNvPicPr>
            <a:picLocks noChangeAspect="1"/>
          </p:cNvPicPr>
          <p:nvPr/>
        </p:nvPicPr>
        <p:blipFill>
          <a:blip r:embed="rId2"/>
          <a:stretch>
            <a:fillRect/>
          </a:stretch>
        </p:blipFill>
        <p:spPr>
          <a:xfrm>
            <a:off x="8115632" y="1371600"/>
            <a:ext cx="2678527" cy="4800600"/>
          </a:xfrm>
          <a:prstGeom prst="rect">
            <a:avLst/>
          </a:prstGeom>
        </p:spPr>
      </p:pic>
      <p:sp>
        <p:nvSpPr>
          <p:cNvPr id="7" name="Text 3"/>
          <p:cNvSpPr txBox="1"/>
          <p:nvPr/>
        </p:nvSpPr>
        <p:spPr>
          <a:xfrm>
            <a:off x="548640" y="4937760"/>
            <a:ext cx="6400800" cy="118872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Growth projection: </a:t>
            </a:r>
            <a:pPr indent="0" marL="0">
              <a:spcAft>
                <a:spcPts val="800"/>
              </a:spcAft>
              <a:buNone/>
            </a:pPr>
            <a:r>
              <a:rPr lang="en-US" sz="1500" dirty="0">
                <a:solidFill>
                  <a:schemeClr val="tx1"/>
                </a:solidFill>
              </a:rPr>
              <a:t>the same profile from 0 to 25 years of experience.</a:t>
            </a:r>
            <a:endParaRPr lang="en-US" sz="1500" dirty="0"/>
          </a:p>
          <a:p>
            <a:pPr indent="0" marL="0">
              <a:spcAft>
                <a:spcPts val="800"/>
              </a:spcAft>
              <a:buNone/>
            </a:pPr>
            <a:r>
              <a:rPr lang="en-US" sz="1500" b="1" dirty="0">
                <a:solidFill>
                  <a:schemeClr val="tx2"/>
                </a:solidFill>
              </a:rPr>
              <a:t>Skill impact: </a:t>
            </a:r>
            <a:pPr indent="0" marL="0">
              <a:spcAft>
                <a:spcPts val="800"/>
              </a:spcAft>
              <a:buNone/>
            </a:pPr>
            <a:r>
              <a:rPr lang="en-US" sz="1500" dirty="0">
                <a:solidFill>
                  <a:schemeClr val="tx1"/>
                </a:solidFill>
              </a:rPr>
              <a:t>what each skill is worth for this person. Blue = has it, green = gain from learning it.</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What-if analysis and peer comparison</a:t>
            </a:r>
            <a:endParaRPr lang="en-US" sz="3400" dirty="0"/>
          </a:p>
        </p:txBody>
      </p:sp>
      <p:sp>
        <p:nvSpPr>
          <p:cNvPr id="3" name="predict_card7 frame"/>
          <p:cNvSpPr/>
          <p:nvPr/>
        </p:nvSpPr>
        <p:spPr>
          <a:xfrm>
            <a:off x="1133117" y="1298448"/>
            <a:ext cx="4866086" cy="4946904"/>
          </a:xfrm>
          <a:prstGeom prst="roundRect">
            <a:avLst>
              <a:gd name="adj" fmla="val 1879"/>
            </a:avLst>
          </a:prstGeom>
          <a:solidFill>
            <a:schemeClr val="bg2"/>
          </a:solidFill>
          <a:ln/>
          <a:effectLst>
            <a:outerShdw sx="100000" sy="100000" kx="0" ky="0" algn="bl" rotWithShape="0" blurRad="127000" dist="38100" dir="5400000">
              <a:srgbClr val="0F2A4A">
                <a:alpha val="14000"/>
              </a:srgbClr>
            </a:outerShdw>
          </a:effectLst>
        </p:spPr>
      </p:sp>
      <p:pic>
        <p:nvPicPr>
          <p:cNvPr id="4" name="predict_card7" descr="What-if analysis charts">    </p:cNvPr>
          <p:cNvPicPr>
            <a:picLocks noChangeAspect="1"/>
          </p:cNvPicPr>
          <p:nvPr/>
        </p:nvPicPr>
        <p:blipFill>
          <a:blip r:embed="rId1"/>
          <a:stretch>
            <a:fillRect/>
          </a:stretch>
        </p:blipFill>
        <p:spPr>
          <a:xfrm>
            <a:off x="1206269" y="1371600"/>
            <a:ext cx="4719782" cy="4800600"/>
          </a:xfrm>
          <a:prstGeom prst="rect">
            <a:avLst/>
          </a:prstGeom>
        </p:spPr>
      </p:pic>
      <p:sp>
        <p:nvSpPr>
          <p:cNvPr id="5" name="predict_card3 frame"/>
          <p:cNvSpPr/>
          <p:nvPr/>
        </p:nvSpPr>
        <p:spPr>
          <a:xfrm>
            <a:off x="8083252" y="1298448"/>
            <a:ext cx="2377527" cy="3438144"/>
          </a:xfrm>
          <a:prstGeom prst="roundRect">
            <a:avLst>
              <a:gd name="adj" fmla="val 3846"/>
            </a:avLst>
          </a:prstGeom>
          <a:solidFill>
            <a:schemeClr val="bg2"/>
          </a:solidFill>
          <a:ln/>
          <a:effectLst>
            <a:outerShdw sx="100000" sy="100000" kx="0" ky="0" algn="bl" rotWithShape="0" blurRad="127000" dist="38100" dir="5400000">
              <a:srgbClr val="0F2A4A">
                <a:alpha val="14000"/>
              </a:srgbClr>
            </a:outerShdw>
          </a:effectLst>
        </p:spPr>
      </p:sp>
      <p:pic>
        <p:nvPicPr>
          <p:cNvPr id="6" name="predict_card3" descr="Peer salary distribution">    </p:cNvPr>
          <p:cNvPicPr>
            <a:picLocks noChangeAspect="1"/>
          </p:cNvPicPr>
          <p:nvPr/>
        </p:nvPicPr>
        <p:blipFill>
          <a:blip r:embed="rId2"/>
          <a:stretch>
            <a:fillRect/>
          </a:stretch>
        </p:blipFill>
        <p:spPr>
          <a:xfrm>
            <a:off x="8156404" y="1371600"/>
            <a:ext cx="2231223" cy="3291840"/>
          </a:xfrm>
          <a:prstGeom prst="rect">
            <a:avLst/>
          </a:prstGeom>
        </p:spPr>
      </p:pic>
      <p:sp>
        <p:nvSpPr>
          <p:cNvPr id="7" name="Text 3"/>
          <p:cNvSpPr txBox="1"/>
          <p:nvPr/>
        </p:nvSpPr>
        <p:spPr>
          <a:xfrm>
            <a:off x="6903720" y="4892040"/>
            <a:ext cx="4736592" cy="128016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What-if: </a:t>
            </a:r>
            <a:pPr indent="0" marL="0">
              <a:spcAft>
                <a:spcPts val="800"/>
              </a:spcAft>
              <a:buNone/>
            </a:pPr>
            <a:r>
              <a:rPr lang="en-US" sz="1500" dirty="0">
                <a:solidFill>
                  <a:schemeClr val="tx1"/>
                </a:solidFill>
              </a:rPr>
              <a:t>change one factor (degree, city, company, rating) and see the new salary.</a:t>
            </a:r>
            <a:endParaRPr lang="en-US" sz="1500" dirty="0"/>
          </a:p>
          <a:p>
            <a:pPr indent="0" marL="0">
              <a:spcAft>
                <a:spcPts val="800"/>
              </a:spcAft>
              <a:buNone/>
            </a:pPr>
            <a:r>
              <a:rPr lang="en-US" sz="1500" b="1" dirty="0">
                <a:solidFill>
                  <a:schemeClr val="tx2"/>
                </a:solidFill>
              </a:rPr>
              <a:t>Peers: </a:t>
            </a:r>
            <a:pPr indent="0" marL="0">
              <a:spcAft>
                <a:spcPts val="800"/>
              </a:spcAft>
              <a:buNone/>
            </a:pPr>
            <a:r>
              <a:rPr lang="en-US" sz="1500" dirty="0">
                <a:solidFill>
                  <a:schemeClr val="tx1"/>
                </a:solidFill>
              </a:rPr>
              <a:t>where this salary falls among all employees in the same role.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Model insights, data and history</a:t>
            </a:r>
            <a:endParaRPr lang="en-US" sz="3400" dirty="0"/>
          </a:p>
        </p:txBody>
      </p:sp>
      <p:sp>
        <p:nvSpPr>
          <p:cNvPr id="3" name="model_top frame"/>
          <p:cNvSpPr/>
          <p:nvPr/>
        </p:nvSpPr>
        <p:spPr>
          <a:xfrm>
            <a:off x="886968" y="1298448"/>
            <a:ext cx="4901184" cy="3118104"/>
          </a:xfrm>
          <a:prstGeom prst="roundRect">
            <a:avLst>
              <a:gd name="adj" fmla="val 2933"/>
            </a:avLst>
          </a:prstGeom>
          <a:solidFill>
            <a:schemeClr val="bg2"/>
          </a:solidFill>
          <a:ln/>
          <a:effectLst>
            <a:outerShdw sx="100000" sy="100000" kx="0" ky="0" algn="bl" rotWithShape="0" blurRad="127000" dist="38100" dir="5400000">
              <a:srgbClr val="0F2A4A">
                <a:alpha val="14000"/>
              </a:srgbClr>
            </a:outerShdw>
          </a:effectLst>
        </p:spPr>
      </p:sp>
      <p:pic>
        <p:nvPicPr>
          <p:cNvPr id="4" name="model_top" descr="Model insights page">    </p:cNvPr>
          <p:cNvPicPr>
            <a:picLocks noChangeAspect="1"/>
          </p:cNvPicPr>
          <p:nvPr/>
        </p:nvPicPr>
        <p:blipFill>
          <a:blip r:embed="rId1"/>
          <a:stretch>
            <a:fillRect/>
          </a:stretch>
        </p:blipFill>
        <p:spPr>
          <a:xfrm>
            <a:off x="960120" y="1371600"/>
            <a:ext cx="4754880" cy="2971800"/>
          </a:xfrm>
          <a:prstGeom prst="rect">
            <a:avLst/>
          </a:prstGeom>
        </p:spPr>
      </p:pic>
      <p:sp>
        <p:nvSpPr>
          <p:cNvPr id="5" name="emp_top frame"/>
          <p:cNvSpPr/>
          <p:nvPr/>
        </p:nvSpPr>
        <p:spPr>
          <a:xfrm>
            <a:off x="6569964" y="1298448"/>
            <a:ext cx="4901184" cy="3118104"/>
          </a:xfrm>
          <a:prstGeom prst="roundRect">
            <a:avLst>
              <a:gd name="adj" fmla="val 2933"/>
            </a:avLst>
          </a:prstGeom>
          <a:solidFill>
            <a:schemeClr val="bg2"/>
          </a:solidFill>
          <a:ln/>
          <a:effectLst>
            <a:outerShdw sx="100000" sy="100000" kx="0" ky="0" algn="bl" rotWithShape="0" blurRad="127000" dist="38100" dir="5400000">
              <a:srgbClr val="0F2A4A">
                <a:alpha val="14000"/>
              </a:srgbClr>
            </a:outerShdw>
          </a:effectLst>
        </p:spPr>
      </p:sp>
      <p:pic>
        <p:nvPicPr>
          <p:cNvPr id="6" name="emp_top" descr="Employee data page">    </p:cNvPr>
          <p:cNvPicPr>
            <a:picLocks noChangeAspect="1"/>
          </p:cNvPicPr>
          <p:nvPr/>
        </p:nvPicPr>
        <p:blipFill>
          <a:blip r:embed="rId2"/>
          <a:stretch>
            <a:fillRect/>
          </a:stretch>
        </p:blipFill>
        <p:spPr>
          <a:xfrm>
            <a:off x="6643116" y="1371600"/>
            <a:ext cx="4754880" cy="2971800"/>
          </a:xfrm>
          <a:prstGeom prst="rect">
            <a:avLst/>
          </a:prstGeom>
        </p:spPr>
      </p:pic>
      <p:sp>
        <p:nvSpPr>
          <p:cNvPr id="7" name="hist_card1 frame"/>
          <p:cNvSpPr/>
          <p:nvPr/>
        </p:nvSpPr>
        <p:spPr>
          <a:xfrm>
            <a:off x="475488" y="4684808"/>
            <a:ext cx="5724144" cy="1557464"/>
          </a:xfrm>
          <a:prstGeom prst="roundRect">
            <a:avLst>
              <a:gd name="adj" fmla="val 5871"/>
            </a:avLst>
          </a:prstGeom>
          <a:solidFill>
            <a:schemeClr val="bg2"/>
          </a:solidFill>
          <a:ln/>
          <a:effectLst>
            <a:outerShdw sx="100000" sy="100000" kx="0" ky="0" algn="bl" rotWithShape="0" blurRad="127000" dist="38100" dir="5400000">
              <a:srgbClr val="0F2A4A">
                <a:alpha val="14000"/>
              </a:srgbClr>
            </a:outerShdw>
          </a:effectLst>
        </p:spPr>
      </p:sp>
      <p:pic>
        <p:nvPicPr>
          <p:cNvPr id="8" name="hist_card1" descr="Prediction history table">    </p:cNvPr>
          <p:cNvPicPr>
            <a:picLocks noChangeAspect="1"/>
          </p:cNvPicPr>
          <p:nvPr/>
        </p:nvPicPr>
        <p:blipFill>
          <a:blip r:embed="rId3"/>
          <a:stretch>
            <a:fillRect/>
          </a:stretch>
        </p:blipFill>
        <p:spPr>
          <a:xfrm>
            <a:off x="548640" y="4757960"/>
            <a:ext cx="5577840" cy="1411160"/>
          </a:xfrm>
          <a:prstGeom prst="rect">
            <a:avLst/>
          </a:prstGeom>
        </p:spPr>
      </p:pic>
      <p:sp>
        <p:nvSpPr>
          <p:cNvPr id="9" name="Text 4"/>
          <p:cNvSpPr txBox="1"/>
          <p:nvPr/>
        </p:nvSpPr>
        <p:spPr>
          <a:xfrm>
            <a:off x="6400800" y="4754880"/>
            <a:ext cx="5239512" cy="1417320"/>
          </a:xfrm>
          <a:prstGeom prst="rect">
            <a:avLst/>
          </a:prstGeom>
          <a:noFill/>
          <a:ln/>
        </p:spPr>
        <p:txBody>
          <a:bodyPr wrap="square" lIns="0" tIns="0" rIns="0" bIns="0" rtlCol="0" anchor="ctr"/>
          <a:lstStyle/>
          <a:p>
            <a:pPr indent="0" marL="0">
              <a:buNone/>
            </a:pPr>
            <a:r>
              <a:rPr lang="en-US" sz="1600" b="1" dirty="0">
                <a:solidFill>
                  <a:schemeClr val="tx2"/>
                </a:solidFill>
              </a:rPr>
              <a:t>Retrain</a:t>
            </a:r>
            <a:pPr indent="0" marL="0">
              <a:buNone/>
            </a:pPr>
            <a:r>
              <a:rPr lang="en-US" sz="1600" dirty="0">
                <a:solidFill>
                  <a:schemeClr val="tx1"/>
                </a:solidFill>
              </a:rPr>
              <a:t> the model from the browser, </a:t>
            </a:r>
            <a:pPr indent="0" marL="0">
              <a:buNone/>
            </a:pPr>
            <a:r>
              <a:rPr lang="en-US" sz="1600" b="1" dirty="0">
                <a:solidFill>
                  <a:schemeClr val="tx2"/>
                </a:solidFill>
              </a:rPr>
              <a:t>add or delete</a:t>
            </a:r>
            <a:pPr indent="0" marL="0">
              <a:buNone/>
            </a:pPr>
            <a:r>
              <a:rPr lang="en-US" sz="1600" dirty="0">
                <a:solidFill>
                  <a:schemeClr val="tx1"/>
                </a:solidFill>
              </a:rPr>
              <a:t> employee records, </a:t>
            </a:r>
            <a:pPr indent="0" marL="0">
              <a:buNone/>
            </a:pPr>
            <a:r>
              <a:rPr lang="en-US" sz="1600" b="1" dirty="0">
                <a:solidFill>
                  <a:schemeClr val="tx2"/>
                </a:solidFill>
              </a:rPr>
              <a:t>export CSV</a:t>
            </a:r>
            <a:pPr indent="0" marL="0">
              <a:buNone/>
            </a:pPr>
            <a:r>
              <a:rPr lang="en-US" sz="1600" dirty="0">
                <a:solidFill>
                  <a:schemeClr val="tx1"/>
                </a:solidFill>
              </a:rPr>
              <a:t>, and review every saved prediction.</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Testing</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77440"/>
                <a:gridCol w="3108960"/>
                <a:gridCol w="4416552"/>
                <a:gridCol w="1188720"/>
              </a:tblGrid>
              <a:tr h="512064">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Test case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Expected result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tx2"/>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Valid prediction</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 yrs, Master's, Data Scientist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Salary, range and charts shown; saved to DB</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Invalid number</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Experience = "abc"</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Clear error message, no crash</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Out of range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Rating = 9</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Range error message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employee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Name, details, salary</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New rows in employees + employee_skills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Retrain model</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Click Retrain</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New row in model_runs, metrics refreshed</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SQL injection</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Search: ' OR 1=1 --</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Treated as plain text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MySQL offline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Server stopped</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Falls back safely, app still works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All pages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Desktop, phone, dark mode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Every page loads, no errors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Advantages and limitations</a:t>
            </a:r>
            <a:endParaRPr lang="en-US" sz="3400" dirty="0"/>
          </a:p>
        </p:txBody>
      </p:sp>
      <p:sp>
        <p:nvSpPr>
          <p:cNvPr id="3" name="Advantages icon circle"/>
          <p:cNvSpPr/>
          <p:nvPr/>
        </p:nvSpPr>
        <p:spPr>
          <a:xfrm>
            <a:off x="548640" y="1417320"/>
            <a:ext cx="640080" cy="640080"/>
          </a:xfrm>
          <a:prstGeom prst="ellipse">
            <a:avLst/>
          </a:prstGeom>
          <a:solidFill>
            <a:schemeClr val="accent2"/>
          </a:solidFill>
          <a:ln/>
        </p:spPr>
      </p:sp>
      <p:pic>
        <p:nvPicPr>
          <p:cNvPr id="4" name="Advantages icon" descr="Advantages">    </p:cNvPr>
          <p:cNvPicPr>
            <a:picLocks noChangeAspect="1"/>
          </p:cNvPicPr>
          <p:nvPr/>
        </p:nvPicPr>
        <p:blipFill>
          <a:blip r:embed="rId1"/>
          <a:stretch>
            <a:fillRect/>
          </a:stretch>
        </p:blipFill>
        <p:spPr>
          <a:xfrm>
            <a:off x="708660" y="1577340"/>
            <a:ext cx="320040" cy="320040"/>
          </a:xfrm>
          <a:prstGeom prst="rect">
            <a:avLst/>
          </a:prstGeom>
        </p:spPr>
      </p:pic>
      <p:sp>
        <p:nvSpPr>
          <p:cNvPr id="5" name="Text 2"/>
          <p:cNvSpPr txBox="1"/>
          <p:nvPr/>
        </p:nvSpPr>
        <p:spPr>
          <a:xfrm>
            <a:off x="1371600" y="1463040"/>
            <a:ext cx="4114800" cy="548640"/>
          </a:xfrm>
          <a:prstGeom prst="rect">
            <a:avLst/>
          </a:prstGeom>
          <a:noFill/>
          <a:ln/>
        </p:spPr>
        <p:txBody>
          <a:bodyPr wrap="square" lIns="0" tIns="0" rIns="0" bIns="0" rtlCol="0" anchor="ctr"/>
          <a:lstStyle/>
          <a:p>
            <a:pPr indent="0" marL="0">
              <a:buNone/>
            </a:pPr>
            <a:r>
              <a:rPr lang="en-US" sz="2200" b="1" dirty="0">
                <a:solidFill>
                  <a:schemeClr val="tx2"/>
                </a:solidFill>
              </a:rPr>
              <a:t>Advantages</a:t>
            </a:r>
            <a:endParaRPr lang="en-US" sz="2200" dirty="0"/>
          </a:p>
        </p:txBody>
      </p:sp>
      <p:sp>
        <p:nvSpPr>
          <p:cNvPr id="6" name="Limitations icon circle"/>
          <p:cNvSpPr/>
          <p:nvPr/>
        </p:nvSpPr>
        <p:spPr>
          <a:xfrm>
            <a:off x="6291072" y="1417320"/>
            <a:ext cx="640080" cy="640080"/>
          </a:xfrm>
          <a:prstGeom prst="ellipse">
            <a:avLst/>
          </a:prstGeom>
          <a:solidFill>
            <a:schemeClr val="accent4"/>
          </a:solidFill>
          <a:ln/>
        </p:spPr>
      </p:sp>
      <p:pic>
        <p:nvPicPr>
          <p:cNvPr id="7" name="Limitations icon" descr="Limitations">    </p:cNvPr>
          <p:cNvPicPr>
            <a:picLocks noChangeAspect="1"/>
          </p:cNvPicPr>
          <p:nvPr/>
        </p:nvPicPr>
        <p:blipFill>
          <a:blip r:embed="rId2"/>
          <a:stretch>
            <a:fillRect/>
          </a:stretch>
        </p:blipFill>
        <p:spPr>
          <a:xfrm>
            <a:off x="6451092" y="1577340"/>
            <a:ext cx="320040" cy="320040"/>
          </a:xfrm>
          <a:prstGeom prst="rect">
            <a:avLst/>
          </a:prstGeom>
        </p:spPr>
      </p:pic>
      <p:sp>
        <p:nvSpPr>
          <p:cNvPr id="8" name="Text 4"/>
          <p:cNvSpPr txBox="1"/>
          <p:nvPr/>
        </p:nvSpPr>
        <p:spPr>
          <a:xfrm>
            <a:off x="7114032" y="1463040"/>
            <a:ext cx="4114800" cy="548640"/>
          </a:xfrm>
          <a:prstGeom prst="rect">
            <a:avLst/>
          </a:prstGeom>
          <a:noFill/>
          <a:ln/>
        </p:spPr>
        <p:txBody>
          <a:bodyPr wrap="square" lIns="0" tIns="0" rIns="0" bIns="0" rtlCol="0" anchor="ctr"/>
          <a:lstStyle/>
          <a:p>
            <a:pPr indent="0" marL="0">
              <a:buNone/>
            </a:pPr>
            <a:r>
              <a:rPr lang="en-US" sz="2200" b="1" dirty="0">
                <a:solidFill>
                  <a:schemeClr val="tx2"/>
                </a:solidFill>
              </a:rPr>
              <a:t>Limitations</a:t>
            </a:r>
            <a:endParaRPr lang="en-US" sz="2200" dirty="0"/>
          </a:p>
        </p:txBody>
      </p:sp>
      <p:sp>
        <p:nvSpPr>
          <p:cNvPr id="9" name="advantages card"/>
          <p:cNvSpPr/>
          <p:nvPr/>
        </p:nvSpPr>
        <p:spPr>
          <a:xfrm>
            <a:off x="548640" y="2286000"/>
            <a:ext cx="5349240" cy="3840480"/>
          </a:xfrm>
          <a:prstGeom prst="roundRect">
            <a:avLst>
              <a:gd name="adj" fmla="val 2857"/>
            </a:avLst>
          </a:prstGeom>
          <a:solidFill>
            <a:schemeClr val="bg2"/>
          </a:solidFill>
          <a:ln/>
        </p:spPr>
      </p:sp>
      <p:sp>
        <p:nvSpPr>
          <p:cNvPr id="10" name="limitations card"/>
          <p:cNvSpPr/>
          <p:nvPr/>
        </p:nvSpPr>
        <p:spPr>
          <a:xfrm>
            <a:off x="6291072" y="2286000"/>
            <a:ext cx="5349240" cy="3840480"/>
          </a:xfrm>
          <a:prstGeom prst="roundRect">
            <a:avLst>
              <a:gd name="adj" fmla="val 2857"/>
            </a:avLst>
          </a:prstGeom>
          <a:solidFill>
            <a:schemeClr val="bg2"/>
          </a:solidFill>
          <a:ln/>
        </p:spPr>
      </p:sp>
      <p:sp>
        <p:nvSpPr>
          <p:cNvPr id="11" name="Text 7"/>
          <p:cNvSpPr txBox="1"/>
          <p:nvPr/>
        </p:nvSpPr>
        <p:spPr>
          <a:xfrm>
            <a:off x="868680" y="2606040"/>
            <a:ext cx="4754880" cy="3383280"/>
          </a:xfrm>
          <a:prstGeom prst="rect">
            <a:avLst/>
          </a:prstGeom>
          <a:noFill/>
          <a:ln/>
        </p:spPr>
        <p:txBody>
          <a:bodyPr wrap="square" lIns="0" tIns="0" rIns="0" bIns="0" rtlCol="0" anchor="t"/>
          <a:lstStyle/>
          <a:p>
            <a:pPr marL="342900" indent="-342900">
              <a:spcAft>
                <a:spcPts val="1800"/>
              </a:spcAft>
              <a:buSzPct val="100000"/>
              <a:buChar char="•"/>
            </a:pPr>
            <a:r>
              <a:rPr lang="en-US" sz="1800" dirty="0">
                <a:solidFill>
                  <a:schemeClr val="tx1"/>
                </a:solidFill>
              </a:rPr>
              <a:t>High accuracy: R² 0.957, chosen by cross-validation</a:t>
            </a:r>
            <a:endParaRPr lang="en-US" sz="1800" dirty="0"/>
          </a:p>
          <a:p>
            <a:pPr marL="342900" indent="-342900">
              <a:spcAft>
                <a:spcPts val="1800"/>
              </a:spcAft>
              <a:buSzPct val="100000"/>
              <a:buChar char="•"/>
            </a:pPr>
            <a:r>
              <a:rPr lang="en-US" sz="1800" dirty="0">
                <a:solidFill>
                  <a:schemeClr val="tx1"/>
                </a:solidFill>
              </a:rPr>
              <a:t>Explains every prediction, not just a number</a:t>
            </a:r>
            <a:endParaRPr lang="en-US" sz="1800" dirty="0"/>
          </a:p>
          <a:p>
            <a:pPr marL="342900" indent="-342900">
              <a:spcAft>
                <a:spcPts val="1800"/>
              </a:spcAft>
              <a:buSzPct val="100000"/>
              <a:buChar char="•"/>
            </a:pPr>
            <a:r>
              <a:rPr lang="en-US" sz="1800" dirty="0">
                <a:solidFill>
                  <a:schemeClr val="tx1"/>
                </a:solidFill>
              </a:rPr>
              <a:t>Clean web interface with interactive charts</a:t>
            </a:r>
            <a:endParaRPr lang="en-US" sz="1800" dirty="0"/>
          </a:p>
          <a:p>
            <a:pPr marL="342900" indent="-342900">
              <a:spcAft>
                <a:spcPts val="1800"/>
              </a:spcAft>
              <a:buSzPct val="100000"/>
              <a:buChar char="•"/>
            </a:pPr>
            <a:r>
              <a:rPr lang="en-US" sz="1800" dirty="0">
                <a:solidFill>
                  <a:schemeClr val="tx1"/>
                </a:solidFill>
              </a:rPr>
              <a:t>Normalised MySQL design with full history</a:t>
            </a:r>
            <a:endParaRPr lang="en-US" sz="1800" dirty="0"/>
          </a:p>
          <a:p>
            <a:pPr marL="342900" indent="-342900">
              <a:spcAft>
                <a:spcPts val="1800"/>
              </a:spcAft>
              <a:buSzPct val="100000"/>
              <a:buChar char="•"/>
            </a:pPr>
            <a:r>
              <a:rPr lang="en-US" sz="1800" dirty="0">
                <a:solidFill>
                  <a:schemeClr val="tx1"/>
                </a:solidFill>
              </a:rPr>
              <a:t>Improves over time: add data and retrain</a:t>
            </a:r>
            <a:endParaRPr lang="en-US" sz="1800" dirty="0"/>
          </a:p>
        </p:txBody>
      </p:sp>
      <p:sp>
        <p:nvSpPr>
          <p:cNvPr id="12" name="Text 8"/>
          <p:cNvSpPr txBox="1"/>
          <p:nvPr/>
        </p:nvSpPr>
        <p:spPr>
          <a:xfrm>
            <a:off x="6611112" y="2606040"/>
            <a:ext cx="4754880" cy="3383280"/>
          </a:xfrm>
          <a:prstGeom prst="rect">
            <a:avLst/>
          </a:prstGeom>
          <a:noFill/>
          <a:ln/>
        </p:spPr>
        <p:txBody>
          <a:bodyPr wrap="square" lIns="0" tIns="0" rIns="0" bIns="0" rtlCol="0" anchor="t"/>
          <a:lstStyle/>
          <a:p>
            <a:pPr marL="342900" indent="-342900">
              <a:spcAft>
                <a:spcPts val="1800"/>
              </a:spcAft>
              <a:buSzPct val="100000"/>
              <a:buChar char="•"/>
            </a:pPr>
            <a:r>
              <a:rPr lang="en-US" sz="1800" dirty="0">
                <a:solidFill>
                  <a:schemeClr val="tx1"/>
                </a:solidFill>
              </a:rPr>
              <a:t>Sample data is synthetic; must retrain on real data</a:t>
            </a:r>
            <a:endParaRPr lang="en-US" sz="1800" dirty="0"/>
          </a:p>
          <a:p>
            <a:pPr marL="342900" indent="-342900">
              <a:spcAft>
                <a:spcPts val="1800"/>
              </a:spcAft>
              <a:buSzPct val="100000"/>
              <a:buChar char="•"/>
            </a:pPr>
            <a:r>
              <a:rPr lang="en-US" sz="1800" dirty="0">
                <a:solidFill>
                  <a:schemeClr val="tx1"/>
                </a:solidFill>
              </a:rPr>
              <a:t>Knows only the trained roles and skills</a:t>
            </a:r>
            <a:endParaRPr lang="en-US" sz="1800" dirty="0"/>
          </a:p>
          <a:p>
            <a:pPr marL="342900" indent="-342900">
              <a:spcAft>
                <a:spcPts val="1800"/>
              </a:spcAft>
              <a:buSzPct val="100000"/>
              <a:buChar char="•"/>
            </a:pPr>
            <a:r>
              <a:rPr lang="en-US" sz="1800" dirty="0">
                <a:solidFill>
                  <a:schemeClr val="tx1"/>
                </a:solidFill>
              </a:rPr>
              <a:t>Can't see negotiation, company brand or market changes</a:t>
            </a:r>
            <a:endParaRPr lang="en-US" sz="1800" dirty="0"/>
          </a:p>
          <a:p>
            <a:pPr marL="342900" indent="-342900">
              <a:spcAft>
                <a:spcPts val="1800"/>
              </a:spcAft>
              <a:buSzPct val="100000"/>
              <a:buChar char="•"/>
            </a:pPr>
            <a:r>
              <a:rPr lang="en-US" sz="1800" dirty="0">
                <a:solidFill>
                  <a:schemeClr val="tx1"/>
                </a:solidFill>
              </a:rPr>
              <a:t>Fewer very senior profiles, so less sure above 20 years</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400" b="1" dirty="0">
                <a:solidFill>
                  <a:schemeClr val="tx2"/>
                </a:solidFill>
              </a:rPr>
              <a:t>Future scope</a:t>
            </a:r>
            <a:endParaRPr lang="en-US" sz="3400" dirty="0"/>
          </a:p>
        </p:txBody>
      </p:sp>
      <p:sp>
        <p:nvSpPr>
          <p:cNvPr id="3" name="Real company data icon circle"/>
          <p:cNvSpPr/>
          <p:nvPr/>
        </p:nvSpPr>
        <p:spPr>
          <a:xfrm>
            <a:off x="548640" y="1463040"/>
            <a:ext cx="777240" cy="777240"/>
          </a:xfrm>
          <a:prstGeom prst="ellipse">
            <a:avLst/>
          </a:prstGeom>
          <a:solidFill>
            <a:schemeClr val="accent1"/>
          </a:solidFill>
          <a:ln/>
        </p:spPr>
      </p:sp>
      <p:pic>
        <p:nvPicPr>
          <p:cNvPr id="4" name="Real company data icon" descr="Real company data">    </p:cNvPr>
          <p:cNvPicPr>
            <a:picLocks noChangeAspect="1"/>
          </p:cNvPicPr>
          <p:nvPr/>
        </p:nvPicPr>
        <p:blipFill>
          <a:blip r:embed="rId1"/>
          <a:stretch>
            <a:fillRect/>
          </a:stretch>
        </p:blipFill>
        <p:spPr>
          <a:xfrm>
            <a:off x="742950" y="1657350"/>
            <a:ext cx="388620" cy="388620"/>
          </a:xfrm>
          <a:prstGeom prst="rect">
            <a:avLst/>
          </a:prstGeom>
        </p:spPr>
      </p:pic>
      <p:sp>
        <p:nvSpPr>
          <p:cNvPr id="5" name="Text 2"/>
          <p:cNvSpPr txBox="1"/>
          <p:nvPr/>
        </p:nvSpPr>
        <p:spPr>
          <a:xfrm>
            <a:off x="1554480" y="1444752"/>
            <a:ext cx="4389120" cy="411480"/>
          </a:xfrm>
          <a:prstGeom prst="rect">
            <a:avLst/>
          </a:prstGeom>
          <a:noFill/>
          <a:ln/>
        </p:spPr>
        <p:txBody>
          <a:bodyPr wrap="square" lIns="0" tIns="0" rIns="0" bIns="0" rtlCol="0" anchor="t"/>
          <a:lstStyle/>
          <a:p>
            <a:pPr indent="0" marL="0">
              <a:buNone/>
            </a:pPr>
            <a:r>
              <a:rPr lang="en-US" sz="2000" b="1" dirty="0">
                <a:solidFill>
                  <a:schemeClr val="tx2"/>
                </a:solidFill>
              </a:rPr>
              <a:t>Real company data</a:t>
            </a:r>
            <a:endParaRPr lang="en-US" sz="2000" dirty="0"/>
          </a:p>
        </p:txBody>
      </p:sp>
      <p:sp>
        <p:nvSpPr>
          <p:cNvPr id="6" name="Text 3"/>
          <p:cNvSpPr txBox="1"/>
          <p:nvPr/>
        </p:nvSpPr>
        <p:spPr>
          <a:xfrm>
            <a:off x="1554480" y="1874520"/>
            <a:ext cx="4389120" cy="457200"/>
          </a:xfrm>
          <a:prstGeom prst="rect">
            <a:avLst/>
          </a:prstGeom>
          <a:noFill/>
          <a:ln/>
        </p:spPr>
        <p:txBody>
          <a:bodyPr wrap="square" lIns="0" tIns="0" rIns="0" bIns="0" rtlCol="0" anchor="t"/>
          <a:lstStyle/>
          <a:p>
            <a:pPr indent="0" marL="0">
              <a:buNone/>
            </a:pPr>
            <a:r>
              <a:rPr lang="en-US" sz="1500" dirty="0">
                <a:solidFill>
                  <a:schemeClr val="accent6"/>
                </a:solidFill>
              </a:rPr>
              <a:t>Train on HR records and public salary surveys</a:t>
            </a:r>
            <a:endParaRPr lang="en-US" sz="1500" dirty="0"/>
          </a:p>
        </p:txBody>
      </p:sp>
      <p:sp>
        <p:nvSpPr>
          <p:cNvPr id="7" name="Stronger models icon circle"/>
          <p:cNvSpPr/>
          <p:nvPr/>
        </p:nvSpPr>
        <p:spPr>
          <a:xfrm>
            <a:off x="6217920" y="1463040"/>
            <a:ext cx="777240" cy="777240"/>
          </a:xfrm>
          <a:prstGeom prst="ellipse">
            <a:avLst/>
          </a:prstGeom>
          <a:solidFill>
            <a:schemeClr val="accent1"/>
          </a:solidFill>
          <a:ln/>
        </p:spPr>
      </p:sp>
      <p:pic>
        <p:nvPicPr>
          <p:cNvPr id="8" name="Stronger models icon" descr="Stronger models">    </p:cNvPr>
          <p:cNvPicPr>
            <a:picLocks noChangeAspect="1"/>
          </p:cNvPicPr>
          <p:nvPr/>
        </p:nvPicPr>
        <p:blipFill>
          <a:blip r:embed="rId2"/>
          <a:stretch>
            <a:fillRect/>
          </a:stretch>
        </p:blipFill>
        <p:spPr>
          <a:xfrm>
            <a:off x="6412230" y="1657350"/>
            <a:ext cx="388620" cy="388620"/>
          </a:xfrm>
          <a:prstGeom prst="rect">
            <a:avLst/>
          </a:prstGeom>
        </p:spPr>
      </p:pic>
      <p:sp>
        <p:nvSpPr>
          <p:cNvPr id="9" name="Text 5"/>
          <p:cNvSpPr txBox="1"/>
          <p:nvPr/>
        </p:nvSpPr>
        <p:spPr>
          <a:xfrm>
            <a:off x="7223760" y="1444752"/>
            <a:ext cx="4389120" cy="411480"/>
          </a:xfrm>
          <a:prstGeom prst="rect">
            <a:avLst/>
          </a:prstGeom>
          <a:noFill/>
          <a:ln/>
        </p:spPr>
        <p:txBody>
          <a:bodyPr wrap="square" lIns="0" tIns="0" rIns="0" bIns="0" rtlCol="0" anchor="t"/>
          <a:lstStyle/>
          <a:p>
            <a:pPr indent="0" marL="0">
              <a:buNone/>
            </a:pPr>
            <a:r>
              <a:rPr lang="en-US" sz="2000" b="1" dirty="0">
                <a:solidFill>
                  <a:schemeClr val="tx2"/>
                </a:solidFill>
              </a:rPr>
              <a:t>Stronger models</a:t>
            </a:r>
            <a:endParaRPr lang="en-US" sz="2000" dirty="0"/>
          </a:p>
        </p:txBody>
      </p:sp>
      <p:sp>
        <p:nvSpPr>
          <p:cNvPr id="10" name="Text 6"/>
          <p:cNvSpPr txBox="1"/>
          <p:nvPr/>
        </p:nvSpPr>
        <p:spPr>
          <a:xfrm>
            <a:off x="7223760" y="1874520"/>
            <a:ext cx="4389120" cy="457200"/>
          </a:xfrm>
          <a:prstGeom prst="rect">
            <a:avLst/>
          </a:prstGeom>
          <a:noFill/>
          <a:ln/>
        </p:spPr>
        <p:txBody>
          <a:bodyPr wrap="square" lIns="0" tIns="0" rIns="0" bIns="0" rtlCol="0" anchor="t"/>
          <a:lstStyle/>
          <a:p>
            <a:pPr indent="0" marL="0">
              <a:buNone/>
            </a:pPr>
            <a:r>
              <a:rPr lang="en-US" sz="1500" dirty="0">
                <a:solidFill>
                  <a:schemeClr val="accent6"/>
                </a:solidFill>
              </a:rPr>
              <a:t>XGBoost / LightGBM with hyperparameter tuning</a:t>
            </a:r>
            <a:endParaRPr lang="en-US" sz="1500" dirty="0"/>
          </a:p>
        </p:txBody>
      </p:sp>
      <p:sp>
        <p:nvSpPr>
          <p:cNvPr id="11" name="User login icon circle"/>
          <p:cNvSpPr/>
          <p:nvPr/>
        </p:nvSpPr>
        <p:spPr>
          <a:xfrm>
            <a:off x="548640" y="3017520"/>
            <a:ext cx="777240" cy="777240"/>
          </a:xfrm>
          <a:prstGeom prst="ellipse">
            <a:avLst/>
          </a:prstGeom>
          <a:solidFill>
            <a:schemeClr val="accent2"/>
          </a:solidFill>
          <a:ln/>
        </p:spPr>
      </p:sp>
      <p:pic>
        <p:nvPicPr>
          <p:cNvPr id="12" name="User login icon" descr="User login">    </p:cNvPr>
          <p:cNvPicPr>
            <a:picLocks noChangeAspect="1"/>
          </p:cNvPicPr>
          <p:nvPr/>
        </p:nvPicPr>
        <p:blipFill>
          <a:blip r:embed="rId3"/>
          <a:stretch>
            <a:fillRect/>
          </a:stretch>
        </p:blipFill>
        <p:spPr>
          <a:xfrm>
            <a:off x="742950" y="3211830"/>
            <a:ext cx="388620" cy="388620"/>
          </a:xfrm>
          <a:prstGeom prst="rect">
            <a:avLst/>
          </a:prstGeom>
        </p:spPr>
      </p:pic>
      <p:sp>
        <p:nvSpPr>
          <p:cNvPr id="13" name="Text 8"/>
          <p:cNvSpPr txBox="1"/>
          <p:nvPr/>
        </p:nvSpPr>
        <p:spPr>
          <a:xfrm>
            <a:off x="1554480" y="2999232"/>
            <a:ext cx="4389120" cy="411480"/>
          </a:xfrm>
          <a:prstGeom prst="rect">
            <a:avLst/>
          </a:prstGeom>
          <a:noFill/>
          <a:ln/>
        </p:spPr>
        <p:txBody>
          <a:bodyPr wrap="square" lIns="0" tIns="0" rIns="0" bIns="0" rtlCol="0" anchor="t"/>
          <a:lstStyle/>
          <a:p>
            <a:pPr indent="0" marL="0">
              <a:buNone/>
            </a:pPr>
            <a:r>
              <a:rPr lang="en-US" sz="2000" b="1" dirty="0">
                <a:solidFill>
                  <a:schemeClr val="tx2"/>
                </a:solidFill>
              </a:rPr>
              <a:t>User login</a:t>
            </a:r>
            <a:endParaRPr lang="en-US" sz="2000" dirty="0"/>
          </a:p>
        </p:txBody>
      </p:sp>
      <p:sp>
        <p:nvSpPr>
          <p:cNvPr id="14" name="Text 9"/>
          <p:cNvSpPr txBox="1"/>
          <p:nvPr/>
        </p:nvSpPr>
        <p:spPr>
          <a:xfrm>
            <a:off x="1554480" y="3429000"/>
            <a:ext cx="4389120" cy="457200"/>
          </a:xfrm>
          <a:prstGeom prst="rect">
            <a:avLst/>
          </a:prstGeom>
          <a:noFill/>
          <a:ln/>
        </p:spPr>
        <p:txBody>
          <a:bodyPr wrap="square" lIns="0" tIns="0" rIns="0" bIns="0" rtlCol="0" anchor="t"/>
          <a:lstStyle/>
          <a:p>
            <a:pPr indent="0" marL="0">
              <a:buNone/>
            </a:pPr>
            <a:r>
              <a:rPr lang="en-US" sz="1500" dirty="0">
                <a:solidFill>
                  <a:schemeClr val="accent6"/>
                </a:solidFill>
              </a:rPr>
              <a:t>Admin and employee roles with secure access</a:t>
            </a:r>
            <a:endParaRPr lang="en-US" sz="1500" dirty="0"/>
          </a:p>
        </p:txBody>
      </p:sp>
      <p:sp>
        <p:nvSpPr>
          <p:cNvPr id="15" name="Deploy online icon circle"/>
          <p:cNvSpPr/>
          <p:nvPr/>
        </p:nvSpPr>
        <p:spPr>
          <a:xfrm>
            <a:off x="6217920" y="3017520"/>
            <a:ext cx="777240" cy="777240"/>
          </a:xfrm>
          <a:prstGeom prst="ellipse">
            <a:avLst/>
          </a:prstGeom>
          <a:solidFill>
            <a:schemeClr val="accent2"/>
          </a:solidFill>
          <a:ln/>
        </p:spPr>
      </p:sp>
      <p:pic>
        <p:nvPicPr>
          <p:cNvPr id="16" name="Deploy online icon" descr="Deploy online">    </p:cNvPr>
          <p:cNvPicPr>
            <a:picLocks noChangeAspect="1"/>
          </p:cNvPicPr>
          <p:nvPr/>
        </p:nvPicPr>
        <p:blipFill>
          <a:blip r:embed="rId4"/>
          <a:stretch>
            <a:fillRect/>
          </a:stretch>
        </p:blipFill>
        <p:spPr>
          <a:xfrm>
            <a:off x="6412230" y="3211830"/>
            <a:ext cx="388620" cy="388620"/>
          </a:xfrm>
          <a:prstGeom prst="rect">
            <a:avLst/>
          </a:prstGeom>
        </p:spPr>
      </p:pic>
      <p:sp>
        <p:nvSpPr>
          <p:cNvPr id="17" name="Text 11"/>
          <p:cNvSpPr txBox="1"/>
          <p:nvPr/>
        </p:nvSpPr>
        <p:spPr>
          <a:xfrm>
            <a:off x="7223760" y="2999232"/>
            <a:ext cx="4389120" cy="411480"/>
          </a:xfrm>
          <a:prstGeom prst="rect">
            <a:avLst/>
          </a:prstGeom>
          <a:noFill/>
          <a:ln/>
        </p:spPr>
        <p:txBody>
          <a:bodyPr wrap="square" lIns="0" tIns="0" rIns="0" bIns="0" rtlCol="0" anchor="t"/>
          <a:lstStyle/>
          <a:p>
            <a:pPr indent="0" marL="0">
              <a:buNone/>
            </a:pPr>
            <a:r>
              <a:rPr lang="en-US" sz="2000" b="1" dirty="0">
                <a:solidFill>
                  <a:schemeClr val="tx2"/>
                </a:solidFill>
              </a:rPr>
              <a:t>Deploy online</a:t>
            </a:r>
            <a:endParaRPr lang="en-US" sz="2000" dirty="0"/>
          </a:p>
        </p:txBody>
      </p:sp>
      <p:sp>
        <p:nvSpPr>
          <p:cNvPr id="18" name="Text 12"/>
          <p:cNvSpPr txBox="1"/>
          <p:nvPr/>
        </p:nvSpPr>
        <p:spPr>
          <a:xfrm>
            <a:off x="7223760" y="3429000"/>
            <a:ext cx="4389120" cy="457200"/>
          </a:xfrm>
          <a:prstGeom prst="rect">
            <a:avLst/>
          </a:prstGeom>
          <a:noFill/>
          <a:ln/>
        </p:spPr>
        <p:txBody>
          <a:bodyPr wrap="square" lIns="0" tIns="0" rIns="0" bIns="0" rtlCol="0" anchor="t"/>
          <a:lstStyle/>
          <a:p>
            <a:pPr indent="0" marL="0">
              <a:buNone/>
            </a:pPr>
            <a:r>
              <a:rPr lang="en-US" sz="1500" dirty="0">
                <a:solidFill>
                  <a:schemeClr val="accent6"/>
                </a:solidFill>
              </a:rPr>
              <a:t>Host on the cloud with a managed MySQL database</a:t>
            </a:r>
            <a:endParaRPr lang="en-US" sz="1500" dirty="0"/>
          </a:p>
        </p:txBody>
      </p:sp>
      <p:sp>
        <p:nvSpPr>
          <p:cNvPr id="19" name="Resume upload icon circle"/>
          <p:cNvSpPr/>
          <p:nvPr/>
        </p:nvSpPr>
        <p:spPr>
          <a:xfrm>
            <a:off x="548640" y="4572000"/>
            <a:ext cx="777240" cy="777240"/>
          </a:xfrm>
          <a:prstGeom prst="ellipse">
            <a:avLst/>
          </a:prstGeom>
          <a:solidFill>
            <a:schemeClr val="accent5"/>
          </a:solidFill>
          <a:ln/>
        </p:spPr>
      </p:sp>
      <p:pic>
        <p:nvPicPr>
          <p:cNvPr id="20" name="Resume upload icon" descr="Resume upload">    </p:cNvPr>
          <p:cNvPicPr>
            <a:picLocks noChangeAspect="1"/>
          </p:cNvPicPr>
          <p:nvPr/>
        </p:nvPicPr>
        <p:blipFill>
          <a:blip r:embed="rId5"/>
          <a:stretch>
            <a:fillRect/>
          </a:stretch>
        </p:blipFill>
        <p:spPr>
          <a:xfrm>
            <a:off x="742950" y="4766310"/>
            <a:ext cx="388620" cy="388620"/>
          </a:xfrm>
          <a:prstGeom prst="rect">
            <a:avLst/>
          </a:prstGeom>
        </p:spPr>
      </p:pic>
      <p:sp>
        <p:nvSpPr>
          <p:cNvPr id="21" name="Text 14"/>
          <p:cNvSpPr txBox="1"/>
          <p:nvPr/>
        </p:nvSpPr>
        <p:spPr>
          <a:xfrm>
            <a:off x="1554480" y="4553712"/>
            <a:ext cx="4389120" cy="411480"/>
          </a:xfrm>
          <a:prstGeom prst="rect">
            <a:avLst/>
          </a:prstGeom>
          <a:noFill/>
          <a:ln/>
        </p:spPr>
        <p:txBody>
          <a:bodyPr wrap="square" lIns="0" tIns="0" rIns="0" bIns="0" rtlCol="0" anchor="t"/>
          <a:lstStyle/>
          <a:p>
            <a:pPr indent="0" marL="0">
              <a:buNone/>
            </a:pPr>
            <a:r>
              <a:rPr lang="en-US" sz="2000" b="1" dirty="0">
                <a:solidFill>
                  <a:schemeClr val="tx2"/>
                </a:solidFill>
              </a:rPr>
              <a:t>Resume upload</a:t>
            </a:r>
            <a:endParaRPr lang="en-US" sz="2000" dirty="0"/>
          </a:p>
        </p:txBody>
      </p:sp>
      <p:sp>
        <p:nvSpPr>
          <p:cNvPr id="22" name="Text 15"/>
          <p:cNvSpPr txBox="1"/>
          <p:nvPr/>
        </p:nvSpPr>
        <p:spPr>
          <a:xfrm>
            <a:off x="1554480" y="4983480"/>
            <a:ext cx="4389120" cy="457200"/>
          </a:xfrm>
          <a:prstGeom prst="rect">
            <a:avLst/>
          </a:prstGeom>
          <a:noFill/>
          <a:ln/>
        </p:spPr>
        <p:txBody>
          <a:bodyPr wrap="square" lIns="0" tIns="0" rIns="0" bIns="0" rtlCol="0" anchor="t"/>
          <a:lstStyle/>
          <a:p>
            <a:pPr indent="0" marL="0">
              <a:buNone/>
            </a:pPr>
            <a:r>
              <a:rPr lang="en-US" sz="1500" dirty="0">
                <a:solidFill>
                  <a:schemeClr val="accent6"/>
                </a:solidFill>
              </a:rPr>
              <a:t>Read skills from a CV automatically (NLP)</a:t>
            </a:r>
            <a:endParaRPr lang="en-US" sz="1500" dirty="0"/>
          </a:p>
        </p:txBody>
      </p:sp>
      <p:sp>
        <p:nvSpPr>
          <p:cNvPr id="23" name="Fairness audit icon circle"/>
          <p:cNvSpPr/>
          <p:nvPr/>
        </p:nvSpPr>
        <p:spPr>
          <a:xfrm>
            <a:off x="6217920" y="4572000"/>
            <a:ext cx="777240" cy="777240"/>
          </a:xfrm>
          <a:prstGeom prst="ellipse">
            <a:avLst/>
          </a:prstGeom>
          <a:solidFill>
            <a:schemeClr val="accent5"/>
          </a:solidFill>
          <a:ln/>
        </p:spPr>
      </p:sp>
      <p:pic>
        <p:nvPicPr>
          <p:cNvPr id="24" name="Fairness audit icon" descr="Fairness audit">    </p:cNvPr>
          <p:cNvPicPr>
            <a:picLocks noChangeAspect="1"/>
          </p:cNvPicPr>
          <p:nvPr/>
        </p:nvPicPr>
        <p:blipFill>
          <a:blip r:embed="rId6"/>
          <a:stretch>
            <a:fillRect/>
          </a:stretch>
        </p:blipFill>
        <p:spPr>
          <a:xfrm>
            <a:off x="6412230" y="4766310"/>
            <a:ext cx="388620" cy="388620"/>
          </a:xfrm>
          <a:prstGeom prst="rect">
            <a:avLst/>
          </a:prstGeom>
        </p:spPr>
      </p:pic>
      <p:sp>
        <p:nvSpPr>
          <p:cNvPr id="25" name="Text 17"/>
          <p:cNvSpPr txBox="1"/>
          <p:nvPr/>
        </p:nvSpPr>
        <p:spPr>
          <a:xfrm>
            <a:off x="7223760" y="4553712"/>
            <a:ext cx="4389120" cy="411480"/>
          </a:xfrm>
          <a:prstGeom prst="rect">
            <a:avLst/>
          </a:prstGeom>
          <a:noFill/>
          <a:ln/>
        </p:spPr>
        <p:txBody>
          <a:bodyPr wrap="square" lIns="0" tIns="0" rIns="0" bIns="0" rtlCol="0" anchor="t"/>
          <a:lstStyle/>
          <a:p>
            <a:pPr indent="0" marL="0">
              <a:buNone/>
            </a:pPr>
            <a:r>
              <a:rPr lang="en-US" sz="2000" b="1" dirty="0">
                <a:solidFill>
                  <a:schemeClr val="tx2"/>
                </a:solidFill>
              </a:rPr>
              <a:t>Fairness audit</a:t>
            </a:r>
            <a:endParaRPr lang="en-US" sz="2000" dirty="0"/>
          </a:p>
        </p:txBody>
      </p:sp>
      <p:sp>
        <p:nvSpPr>
          <p:cNvPr id="26" name="Text 18"/>
          <p:cNvSpPr txBox="1"/>
          <p:nvPr/>
        </p:nvSpPr>
        <p:spPr>
          <a:xfrm>
            <a:off x="7223760" y="4983480"/>
            <a:ext cx="4389120" cy="457200"/>
          </a:xfrm>
          <a:prstGeom prst="rect">
            <a:avLst/>
          </a:prstGeom>
          <a:noFill/>
          <a:ln/>
        </p:spPr>
        <p:txBody>
          <a:bodyPr wrap="square" lIns="0" tIns="0" rIns="0" bIns="0" rtlCol="0" anchor="t"/>
          <a:lstStyle/>
          <a:p>
            <a:pPr indent="0" marL="0">
              <a:buNone/>
            </a:pPr>
            <a:r>
              <a:rPr lang="en-US" sz="1500" dirty="0">
                <a:solidFill>
                  <a:schemeClr val="accent6"/>
                </a:solidFill>
              </a:rPr>
              <a:t>Check predictions for pay bias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868680"/>
          </a:xfrm>
          <a:prstGeom prst="rect">
            <a:avLst/>
          </a:prstGeom>
          <a:noFill/>
          <a:ln/>
        </p:spPr>
        <p:txBody>
          <a:bodyPr wrap="square" lIns="0" tIns="0" rIns="0" bIns="0" rtlCol="0" anchor="ctr"/>
          <a:lstStyle/>
          <a:p>
            <a:pPr indent="0" marL="0">
              <a:buNone/>
            </a:pPr>
            <a:r>
              <a:rPr lang="en-US" sz="3800" b="1" dirty="0">
                <a:solidFill>
                  <a:schemeClr val="bg1"/>
                </a:solidFill>
              </a:rPr>
              <a:t>Conclusion</a:t>
            </a:r>
            <a:endParaRPr lang="en-US" sz="3800" dirty="0"/>
          </a:p>
        </p:txBody>
      </p:sp>
      <p:sp>
        <p:nvSpPr>
          <p:cNvPr id="3" name="conclusion 1 card"/>
          <p:cNvSpPr/>
          <p:nvPr/>
        </p:nvSpPr>
        <p:spPr>
          <a:xfrm>
            <a:off x="640080" y="1828800"/>
            <a:ext cx="3429000" cy="3291840"/>
          </a:xfrm>
          <a:prstGeom prst="roundRect">
            <a:avLst>
              <a:gd name="adj" fmla="val 3889"/>
            </a:avLst>
          </a:prstGeom>
          <a:solidFill>
            <a:schemeClr val="bg1">
              <a:alpha val="10000"/>
            </a:schemeClr>
          </a:solidFill>
          <a:ln/>
        </p:spPr>
      </p:sp>
      <p:sp>
        <p:nvSpPr>
          <p:cNvPr id="4" name="Text 2"/>
          <p:cNvSpPr txBox="1"/>
          <p:nvPr/>
        </p:nvSpPr>
        <p:spPr>
          <a:xfrm>
            <a:off x="960120" y="2194560"/>
            <a:ext cx="2834640" cy="9144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0.957</a:t>
            </a:r>
            <a:endParaRPr lang="en-US" sz="4000" dirty="0"/>
          </a:p>
        </p:txBody>
      </p:sp>
      <p:sp>
        <p:nvSpPr>
          <p:cNvPr id="5" name="Text 3"/>
          <p:cNvSpPr txBox="1"/>
          <p:nvPr/>
        </p:nvSpPr>
        <p:spPr>
          <a:xfrm>
            <a:off x="960120" y="3246120"/>
            <a:ext cx="2834640" cy="1645920"/>
          </a:xfrm>
          <a:prstGeom prst="rect">
            <a:avLst/>
          </a:prstGeom>
          <a:noFill/>
          <a:ln/>
        </p:spPr>
        <p:txBody>
          <a:bodyPr wrap="square" lIns="0" tIns="0" rIns="0" bIns="0" rtlCol="0" anchor="t"/>
          <a:lstStyle/>
          <a:p>
            <a:pPr indent="0" marL="0">
              <a:buNone/>
            </a:pPr>
            <a:r>
              <a:rPr lang="en-US" sz="1700" dirty="0">
                <a:solidFill>
                  <a:schemeClr val="bg1"/>
                </a:solidFill>
              </a:rPr>
              <a:t>R² with Gradient Boosting, selected automatically from 5 models</a:t>
            </a:r>
            <a:endParaRPr lang="en-US" sz="1700" dirty="0"/>
          </a:p>
        </p:txBody>
      </p:sp>
      <p:sp>
        <p:nvSpPr>
          <p:cNvPr id="6" name="conclusion 2 card"/>
          <p:cNvSpPr/>
          <p:nvPr/>
        </p:nvSpPr>
        <p:spPr>
          <a:xfrm>
            <a:off x="4389120" y="1828800"/>
            <a:ext cx="3429000" cy="3291840"/>
          </a:xfrm>
          <a:prstGeom prst="roundRect">
            <a:avLst>
              <a:gd name="adj" fmla="val 3889"/>
            </a:avLst>
          </a:prstGeom>
          <a:solidFill>
            <a:schemeClr val="bg1">
              <a:alpha val="10000"/>
            </a:schemeClr>
          </a:solidFill>
          <a:ln/>
        </p:spPr>
      </p:sp>
      <p:sp>
        <p:nvSpPr>
          <p:cNvPr id="7" name="Text 5"/>
          <p:cNvSpPr txBox="1"/>
          <p:nvPr/>
        </p:nvSpPr>
        <p:spPr>
          <a:xfrm>
            <a:off x="4709160" y="2194560"/>
            <a:ext cx="2834640" cy="9144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5 pages</a:t>
            </a:r>
            <a:endParaRPr lang="en-US" sz="4000" dirty="0"/>
          </a:p>
        </p:txBody>
      </p:sp>
      <p:sp>
        <p:nvSpPr>
          <p:cNvPr id="8" name="Text 6"/>
          <p:cNvSpPr txBox="1"/>
          <p:nvPr/>
        </p:nvSpPr>
        <p:spPr>
          <a:xfrm>
            <a:off x="4709160" y="3246120"/>
            <a:ext cx="2834640" cy="1645920"/>
          </a:xfrm>
          <a:prstGeom prst="rect">
            <a:avLst/>
          </a:prstGeom>
          <a:noFill/>
          <a:ln/>
        </p:spPr>
        <p:txBody>
          <a:bodyPr wrap="square" lIns="0" tIns="0" rIns="0" bIns="0" rtlCol="0" anchor="t"/>
          <a:lstStyle/>
          <a:p>
            <a:pPr indent="0" marL="0">
              <a:buNone/>
            </a:pPr>
            <a:r>
              <a:rPr lang="en-US" sz="1700" dirty="0">
                <a:solidFill>
                  <a:schemeClr val="bg1"/>
                </a:solidFill>
              </a:rPr>
              <a:t>A complete web app: dashboard, prediction, insights, data, history</a:t>
            </a:r>
            <a:endParaRPr lang="en-US" sz="1700" dirty="0"/>
          </a:p>
        </p:txBody>
      </p:sp>
      <p:sp>
        <p:nvSpPr>
          <p:cNvPr id="9" name="conclusion 3 card"/>
          <p:cNvSpPr/>
          <p:nvPr/>
        </p:nvSpPr>
        <p:spPr>
          <a:xfrm>
            <a:off x="8138160" y="1828800"/>
            <a:ext cx="3429000" cy="3291840"/>
          </a:xfrm>
          <a:prstGeom prst="roundRect">
            <a:avLst>
              <a:gd name="adj" fmla="val 3889"/>
            </a:avLst>
          </a:prstGeom>
          <a:solidFill>
            <a:schemeClr val="bg1">
              <a:alpha val="10000"/>
            </a:schemeClr>
          </a:solidFill>
          <a:ln/>
        </p:spPr>
      </p:sp>
      <p:sp>
        <p:nvSpPr>
          <p:cNvPr id="10" name="Text 8"/>
          <p:cNvSpPr txBox="1"/>
          <p:nvPr/>
        </p:nvSpPr>
        <p:spPr>
          <a:xfrm>
            <a:off x="8458200" y="2194560"/>
            <a:ext cx="2834640" cy="9144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Explained</a:t>
            </a:r>
            <a:endParaRPr lang="en-US" sz="4000" dirty="0"/>
          </a:p>
        </p:txBody>
      </p:sp>
      <p:sp>
        <p:nvSpPr>
          <p:cNvPr id="11" name="Text 9"/>
          <p:cNvSpPr txBox="1"/>
          <p:nvPr/>
        </p:nvSpPr>
        <p:spPr>
          <a:xfrm>
            <a:off x="8458200" y="3246120"/>
            <a:ext cx="2834640" cy="1645920"/>
          </a:xfrm>
          <a:prstGeom prst="rect">
            <a:avLst/>
          </a:prstGeom>
          <a:noFill/>
          <a:ln/>
        </p:spPr>
        <p:txBody>
          <a:bodyPr wrap="square" lIns="0" tIns="0" rIns="0" bIns="0" rtlCol="0" anchor="t"/>
          <a:lstStyle/>
          <a:p>
            <a:pPr indent="0" marL="0">
              <a:buNone/>
            </a:pPr>
            <a:r>
              <a:rPr lang="en-US" sz="1700" dirty="0">
                <a:solidFill>
                  <a:schemeClr val="bg1"/>
                </a:solidFill>
              </a:rPr>
              <a:t>Range, percentile, growth and what-if for every prediction</a:t>
            </a:r>
            <a:endParaRPr lang="en-US" sz="1700" dirty="0"/>
          </a:p>
        </p:txBody>
      </p:sp>
      <p:sp>
        <p:nvSpPr>
          <p:cNvPr id="12" name="Text 10"/>
          <p:cNvSpPr txBox="1"/>
          <p:nvPr/>
        </p:nvSpPr>
        <p:spPr>
          <a:xfrm>
            <a:off x="640080" y="5486400"/>
            <a:ext cx="10881360" cy="548640"/>
          </a:xfrm>
          <a:prstGeom prst="rect">
            <a:avLst/>
          </a:prstGeom>
          <a:noFill/>
          <a:ln/>
        </p:spPr>
        <p:txBody>
          <a:bodyPr wrap="square" lIns="0" tIns="0" rIns="0" bIns="0" rtlCol="0" anchor="t"/>
          <a:lstStyle/>
          <a:p>
            <a:pPr indent="0" marL="0">
              <a:buNone/>
            </a:pPr>
            <a:r>
              <a:rPr lang="en-US" sz="1800" i="1" dirty="0">
                <a:solidFill>
                  <a:schemeClr val="bg2"/>
                </a:solidFill>
              </a:rPr>
              <a:t>A working Python + MySQL + ML system that makes salary decisions faster, consistent and explainable.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5852160" cy="1828800"/>
          </a:xfrm>
          <a:prstGeom prst="rect">
            <a:avLst/>
          </a:prstGeom>
          <a:noFill/>
          <a:ln/>
        </p:spPr>
        <p:txBody>
          <a:bodyPr wrap="square" lIns="0" tIns="0" rIns="0" bIns="0" rtlCol="0" anchor="t"/>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640080" y="3794760"/>
            <a:ext cx="5669280" cy="914400"/>
          </a:xfrm>
          <a:prstGeom prst="rect">
            <a:avLst/>
          </a:prstGeom>
          <a:noFill/>
          <a:ln/>
        </p:spPr>
        <p:txBody>
          <a:bodyPr wrap="square" lIns="0" tIns="0" rIns="0" bIns="0" rtlCol="0" anchor="t"/>
          <a:lstStyle/>
          <a:p>
            <a:pPr algn="l" indent="0" marL="0">
              <a:buNone/>
            </a:pPr>
            <a:r>
              <a:rPr lang="en-US" sz="1800" dirty="0">
                <a:solidFill>
                  <a:schemeClr val="bg2"/>
                </a:solidFill>
              </a:rPr>
              <a:t>Questions are welcome</a:t>
            </a:r>
            <a:endParaRPr lang="en-US" sz="1800" dirty="0"/>
          </a:p>
        </p:txBody>
      </p:sp>
      <p:sp>
        <p:nvSpPr>
          <p:cNvPr id="4" name="Questions icon circle"/>
          <p:cNvSpPr/>
          <p:nvPr/>
        </p:nvSpPr>
        <p:spPr>
          <a:xfrm>
            <a:off x="8412480" y="2011680"/>
            <a:ext cx="2194560" cy="2194560"/>
          </a:xfrm>
          <a:prstGeom prst="ellipse">
            <a:avLst/>
          </a:prstGeom>
          <a:solidFill>
            <a:schemeClr val="accent1"/>
          </a:solidFill>
          <a:ln/>
        </p:spPr>
      </p:sp>
      <p:pic>
        <p:nvPicPr>
          <p:cNvPr id="5" name="Questions icon" descr="Questions">    </p:cNvPr>
          <p:cNvPicPr>
            <a:picLocks noChangeAspect="1"/>
          </p:cNvPicPr>
          <p:nvPr/>
        </p:nvPicPr>
        <p:blipFill>
          <a:blip r:embed="rId1"/>
          <a:stretch>
            <a:fillRect/>
          </a:stretch>
        </p:blipFill>
        <p:spPr>
          <a:xfrm>
            <a:off x="8961120" y="2560320"/>
            <a:ext cx="1097280" cy="1097280"/>
          </a:xfrm>
          <a:prstGeom prst="rect">
            <a:avLst/>
          </a:prstGeom>
        </p:spPr>
      </p:pic>
    </p:spTree>
  </p:cSld>
  <p:clrMapOvr>
    <a:masterClrMapping/>
  </p:clrMapOvr>
</p:sld>
</file>

<file path=ppt/theme/theme1.xml><?xml version="1.0" encoding="utf-8"?>
<a:theme xmlns:a="http://schemas.openxmlformats.org/drawingml/2006/main" name="Salary Predictor">
  <a:themeElements>
    <a:clrScheme name="Salary Predictor">
      <a:dk1>
        <a:srgbClr val="1B2230"/>
      </a:dk1>
      <a:lt1>
        <a:srgbClr val="FFFFFF"/>
      </a:lt1>
      <a:dk2>
        <a:srgbClr val="0F2A4A"/>
      </a:dk2>
      <a:lt2>
        <a:srgbClr val="EEF3F9"/>
      </a:lt2>
      <a:accent1>
        <a:srgbClr val="2A78D6"/>
      </a:accent1>
      <a:accent2>
        <a:srgbClr val="1A9E6B"/>
      </a:accent2>
      <a:accent3>
        <a:srgbClr val="F2A93B"/>
      </a:accent3>
      <a:accent4>
        <a:srgbClr val="E0663A"/>
      </a:accent4>
      <a:accent5>
        <a:srgbClr val="7B61D9"/>
      </a:accent5>
      <a:accent6>
        <a:srgbClr val="5B6B82"/>
      </a:accent6>
      <a:hlink>
        <a:srgbClr val="2A78D6"/>
      </a:hlink>
      <a:folHlink>
        <a:srgbClr val="7B61D9"/>
      </a:folHlink>
    </a:clrScheme>
    <a:fontScheme name="Salary Predic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Salary Prediction System</dc:title>
  <dc:subject>AIML mini project presentation</dc:subject>
  <dc:creator>Project team</dc:creator>
  <cp:lastModifiedBy>Project team</cp:lastModifiedBy>
  <cp:revision>1</cp:revision>
  <dcterms:created xsi:type="dcterms:W3CDTF">2026-10-12T14:47:15Z</dcterms:created>
  <dcterms:modified xsi:type="dcterms:W3CDTF">2026-10-12T14:47:15Z</dcterms:modified>
</cp:coreProperties>
</file>